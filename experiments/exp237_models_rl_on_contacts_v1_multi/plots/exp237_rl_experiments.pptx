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exp237: does RL improve the contacts-v1.multi model from #230? Ten reward designs, 56 scored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#208's reward acted on one rollout while the metric votes over 100 independent ones. The multi format puts the candidate set inside a single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is 0.5896, plain sampling at matched budget. Consensus beats oracle-best in both regimes, so candidates are complementary.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GRPO with an inert clip. Nothing bounds the step, which is why distance moved orders every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arms. Amber marks the two that produced gains: M-K and M-KS2.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M-K step-36 is the best consensus at 0.5806. M-KS2 sets the best oracle-best at 0.5677.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accuracy picture. Nothing crosses the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tracks KL from the warm start, not steps or learning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optimiser-side interventions, all failing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4x cleaner gradient is 0.03 worse at matched distance. Noise was damping.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M-C's per-section marginal diverges as the count falls: 366x. M-K's base has the correct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M-KS stop-early, M-KS3 fragment, M-KS2 in between and it is the one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M-KS2's gain is in candidate quality, not aggregation. Best oracle-best in the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 node utilisation. The trainer is the bottleneck because the policy cannot be sharded.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portable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M-KP sharpened, confirming #208 transfers. The peak is the open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D"/>
        </a:solidFill>
      </p:bgPr>
    </p:bg>
    <p:spTree>
      <p:nvGrpSpPr>
        <p:cNvPr id="1" name=""/>
        <p:cNvGrpSpPr/>
        <p:nvPr/>
      </p:nvGrpSpPr>
      <p:grpSpPr>
        <a:xfrm>
          <a:off x="0" y="0"/>
          <a:ext cx="0" cy="0"/>
          <a:chOff x="0" y="0"/>
          <a:chExt cx="0" cy="0"/>
        </a:xfrm>
      </p:grpSpPr>
      <p:sp>
        <p:nvSpPr>
          <p:cNvPr id="2" name="Text 0"/>
          <p:cNvSpPr/>
          <p:nvPr/>
        </p:nvSpPr>
        <p:spPr>
          <a:xfrm>
            <a:off x="822960" y="2057400"/>
            <a:ext cx="1051560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Can RL improve contacts-v1?</a:t>
            </a:r>
            <a:endParaRPr lang="en-US" sz="4600" dirty="0"/>
          </a:p>
        </p:txBody>
      </p:sp>
      <p:sp>
        <p:nvSpPr>
          <p:cNvPr id="3" name="Text 1"/>
          <p:cNvSpPr/>
          <p:nvPr/>
        </p:nvSpPr>
        <p:spPr>
          <a:xfrm>
            <a:off x="822960" y="2999232"/>
            <a:ext cx="10515600" cy="457200"/>
          </a:xfrm>
          <a:prstGeom prst="rect">
            <a:avLst/>
          </a:prstGeom>
          <a:noFill/>
          <a:ln/>
        </p:spPr>
        <p:txBody>
          <a:bodyPr wrap="square" lIns="0" tIns="0" rIns="0" bIns="0" rtlCol="0" anchor="ctr"/>
          <a:lstStyle/>
          <a:p>
            <a:pPr indent="0" marL="0">
              <a:buNone/>
            </a:pPr>
            <a:r>
              <a:rPr lang="en-US" sz="1700" dirty="0">
                <a:solidFill>
                  <a:srgbClr val="CBD8E8"/>
                </a:solidFill>
                <a:latin typeface="Calibri" pitchFamily="34" charset="0"/>
                <a:ea typeface="Calibri" pitchFamily="34" charset="-122"/>
                <a:cs typeface="Calibri" pitchFamily="34" charset="-120"/>
              </a:rPr>
              <a:t>MarinFold experiment 237 — reinforcement learning on the &lt;contacts-v1.multi&gt; model</a:t>
            </a:r>
            <a:endParaRPr lang="en-US" sz="1700" dirty="0"/>
          </a:p>
        </p:txBody>
      </p:sp>
      <p:sp>
        <p:nvSpPr>
          <p:cNvPr id="4" name="Text 2"/>
          <p:cNvSpPr/>
          <p:nvPr/>
        </p:nvSpPr>
        <p:spPr>
          <a:xfrm>
            <a:off x="822960" y="3566160"/>
            <a:ext cx="10515600" cy="365760"/>
          </a:xfrm>
          <a:prstGeom prst="rect">
            <a:avLst/>
          </a:prstGeom>
          <a:noFill/>
          <a:ln/>
        </p:spPr>
        <p:txBody>
          <a:bodyPr wrap="square" lIns="0" tIns="0" rIns="0" bIns="0" rtlCol="0" anchor="ctr"/>
          <a:lstStyle/>
          <a:p>
            <a:pPr indent="0" marL="0">
              <a:buNone/>
            </a:pPr>
            <a:r>
              <a:rPr lang="en-US" sz="1300" b="1" dirty="0">
                <a:solidFill>
                  <a:srgbClr val="2A9D8F"/>
                </a:solidFill>
                <a:latin typeface="Calibri" pitchFamily="34" charset="0"/>
                <a:ea typeface="Calibri" pitchFamily="34" charset="-122"/>
                <a:cs typeface="Calibri" pitchFamily="34" charset="-120"/>
              </a:rPr>
              <a:t>Ten reward designs · fifteen runs · 57 scored checkpoints · 8 × A100-80GB via SkyRL</a:t>
            </a:r>
            <a:endParaRPr lang="en-US" sz="1300" dirty="0"/>
          </a:p>
        </p:txBody>
      </p:sp>
      <p:sp>
        <p:nvSpPr>
          <p:cNvPr id="5" name="Shape 3"/>
          <p:cNvSpPr/>
          <p:nvPr/>
        </p:nvSpPr>
        <p:spPr>
          <a:xfrm>
            <a:off x="822960" y="4343400"/>
            <a:ext cx="2788920" cy="402336"/>
          </a:xfrm>
          <a:prstGeom prst="roundRect">
            <a:avLst>
              <a:gd name="adj" fmla="val 13636"/>
            </a:avLst>
          </a:prstGeom>
          <a:solidFill>
            <a:srgbClr val="E8871E"/>
          </a:solidFill>
          <a:ln w="12700">
            <a:solidFill>
              <a:srgbClr val="E8871E"/>
            </a:solidFill>
            <a:prstDash val="solid"/>
          </a:ln>
        </p:spPr>
      </p:sp>
      <p:sp>
        <p:nvSpPr>
          <p:cNvPr id="6" name="Text 4"/>
          <p:cNvSpPr/>
          <p:nvPr/>
        </p:nvSpPr>
        <p:spPr>
          <a:xfrm>
            <a:off x="822960" y="4343400"/>
            <a:ext cx="2788920" cy="402336"/>
          </a:xfrm>
          <a:prstGeom prst="rect">
            <a:avLst/>
          </a:prstGeom>
          <a:noFill/>
          <a:ln/>
        </p:spPr>
        <p:txBody>
          <a:bodyPr wrap="square" lIns="0" tIns="0" rIns="0" bIns="0" rtlCol="0" anchor="ctr"/>
          <a:lstStyle/>
          <a:p>
            <a:pPr algn="ctr" indent="0" marL="0">
              <a:buNone/>
            </a:pPr>
            <a:r>
              <a:rPr lang="en-US" sz="1200" b="1" dirty="0">
                <a:solidFill>
                  <a:srgbClr val="0F1E3D"/>
                </a:solidFill>
                <a:latin typeface="Calibri" pitchFamily="34" charset="0"/>
                <a:ea typeface="Calibri" pitchFamily="34" charset="-122"/>
                <a:cs typeface="Calibri" pitchFamily="34" charset="-120"/>
              </a:rPr>
              <a:t>issue #237 · PR #240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74320"/>
            <a:ext cx="11064240" cy="713232"/>
          </a:xfrm>
          <a:prstGeom prst="rect">
            <a:avLst/>
          </a:prstGeom>
          <a:noFill/>
          <a:ln/>
        </p:spPr>
        <p:txBody>
          <a:bodyPr wrap="square" lIns="0" tIns="0" rIns="0" bIns="0" rtlCol="0" anchor="t"/>
          <a:lstStyle/>
          <a:p>
            <a:pPr indent="0" marL="0">
              <a:buNone/>
            </a:pPr>
            <a:r>
              <a:rPr lang="en-US" sz="2800" b="1" dirty="0">
                <a:solidFill>
                  <a:srgbClr val="0F1E3D"/>
                </a:solidFill>
                <a:latin typeface="Cambria" pitchFamily="34" charset="0"/>
                <a:ea typeface="Cambria" pitchFamily="34" charset="-122"/>
                <a:cs typeface="Cambria" pitchFamily="34" charset="-120"/>
              </a:rPr>
              <a:t>Why #208 failed — a unit mismatch</a:t>
            </a:r>
            <a:endParaRPr lang="en-US" sz="2800" dirty="0"/>
          </a:p>
        </p:txBody>
      </p:sp>
      <p:sp>
        <p:nvSpPr>
          <p:cNvPr id="3" name="Text 1"/>
          <p:cNvSpPr/>
          <p:nvPr/>
        </p:nvSpPr>
        <p:spPr>
          <a:xfrm>
            <a:off x="548640" y="1024128"/>
            <a:ext cx="11064240" cy="347472"/>
          </a:xfrm>
          <a:prstGeom prst="rect">
            <a:avLst/>
          </a:prstGeom>
          <a:noFill/>
          <a:ln/>
        </p:spPr>
        <p:txBody>
          <a:bodyPr wrap="square" lIns="0" tIns="0" rIns="0" bIns="0" rtlCol="0" anchor="ctr"/>
          <a:lstStyle/>
          <a:p>
            <a:pPr indent="0" marL="0">
              <a:buNone/>
            </a:pPr>
            <a:r>
              <a:rPr lang="en-US" sz="1350" i="1" dirty="0">
                <a:solidFill>
                  <a:srgbClr val="6B7A8F"/>
                </a:solidFill>
                <a:latin typeface="Calibri" pitchFamily="34" charset="0"/>
                <a:ea typeface="Calibri" pitchFamily="34" charset="-122"/>
                <a:cs typeface="Calibri" pitchFamily="34" charset="-120"/>
              </a:rPr>
              <a:t>Eleven scored runs, five reward designs, and none improved consensus R-precision</a:t>
            </a:r>
            <a:endParaRPr lang="en-US" sz="1350" dirty="0"/>
          </a:p>
        </p:txBody>
      </p:sp>
      <p:sp>
        <p:nvSpPr>
          <p:cNvPr id="4" name="Shape 2"/>
          <p:cNvSpPr/>
          <p:nvPr/>
        </p:nvSpPr>
        <p:spPr>
          <a:xfrm>
            <a:off x="548640" y="1572768"/>
            <a:ext cx="5394960" cy="2788920"/>
          </a:xfrm>
          <a:prstGeom prst="roundRect">
            <a:avLst>
              <a:gd name="adj" fmla="val 1311"/>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5" name="Text 3"/>
          <p:cNvSpPr/>
          <p:nvPr/>
        </p:nvSpPr>
        <p:spPr>
          <a:xfrm>
            <a:off x="868680" y="1737360"/>
            <a:ext cx="4754880" cy="274320"/>
          </a:xfrm>
          <a:prstGeom prst="rect">
            <a:avLst/>
          </a:prstGeom>
          <a:noFill/>
          <a:ln/>
        </p:spPr>
        <p:txBody>
          <a:bodyPr wrap="square" lIns="0" tIns="0" rIns="0" bIns="0" rtlCol="0" anchor="ctr"/>
          <a:lstStyle/>
          <a:p>
            <a:pPr indent="0" marL="0">
              <a:buNone/>
            </a:pPr>
            <a:r>
              <a:rPr lang="en-US" sz="1100" b="1" spc="100" kern="0" dirty="0">
                <a:solidFill>
                  <a:srgbClr val="C1443C"/>
                </a:solidFill>
                <a:latin typeface="Calibri" pitchFamily="34" charset="0"/>
                <a:ea typeface="Calibri" pitchFamily="34" charset="-122"/>
                <a:cs typeface="Calibri" pitchFamily="34" charset="-120"/>
              </a:rPr>
              <a:t>THE PROBLEM</a:t>
            </a:r>
            <a:endParaRPr lang="en-US" sz="1100" dirty="0"/>
          </a:p>
        </p:txBody>
      </p:sp>
      <p:sp>
        <p:nvSpPr>
          <p:cNvPr id="6" name="Text 4"/>
          <p:cNvSpPr/>
          <p:nvPr/>
        </p:nvSpPr>
        <p:spPr>
          <a:xfrm>
            <a:off x="868680" y="2057400"/>
            <a:ext cx="4754880" cy="914400"/>
          </a:xfrm>
          <a:prstGeom prst="rect">
            <a:avLst/>
          </a:prstGeom>
          <a:noFill/>
          <a:ln/>
        </p:spPr>
        <p:txBody>
          <a:bodyPr wrap="square" lIns="0" tIns="0" rIns="0" bIns="0" rtlCol="0" anchor="ctr"/>
          <a:lstStyle/>
          <a:p>
            <a:pPr indent="0" marL="0">
              <a:buNone/>
            </a:pPr>
            <a:r>
              <a:rPr lang="en-US" sz="1500" dirty="0">
                <a:solidFill>
                  <a:srgbClr val="16202E"/>
                </a:solidFill>
                <a:latin typeface="Calibri" pitchFamily="34" charset="0"/>
                <a:ea typeface="Calibri" pitchFamily="34" charset="-122"/>
                <a:cs typeface="Calibri" pitchFamily="34" charset="-120"/>
              </a:rPr>
              <a:t>The reward scored </a:t>
            </a:r>
            <a:pPr indent="0" marL="0">
              <a:buNone/>
            </a:pPr>
            <a:r>
              <a:rPr lang="en-US" sz="1500" b="1" i="1" dirty="0">
                <a:solidFill>
                  <a:srgbClr val="16202E"/>
                </a:solidFill>
                <a:latin typeface="Calibri" pitchFamily="34" charset="0"/>
                <a:ea typeface="Calibri" pitchFamily="34" charset="-122"/>
                <a:cs typeface="Calibri" pitchFamily="34" charset="-120"/>
              </a:rPr>
              <a:t>one rollout</a:t>
            </a:r>
            <a:pPr indent="0" marL="0">
              <a:buNone/>
            </a:pPr>
            <a:r>
              <a:rPr lang="en-US" sz="1500" dirty="0">
                <a:solidFill>
                  <a:srgbClr val="16202E"/>
                </a:solidFill>
                <a:latin typeface="Calibri" pitchFamily="34" charset="0"/>
                <a:ea typeface="Calibri" pitchFamily="34" charset="-122"/>
                <a:cs typeface="Calibri" pitchFamily="34" charset="-120"/>
              </a:rPr>
              <a:t>. The metric votes over </a:t>
            </a:r>
            <a:pPr indent="0" marL="0">
              <a:buNone/>
            </a:pPr>
            <a:r>
              <a:rPr lang="en-US" sz="1500" b="1" i="1" dirty="0">
                <a:solidFill>
                  <a:srgbClr val="16202E"/>
                </a:solidFill>
                <a:latin typeface="Calibri" pitchFamily="34" charset="0"/>
                <a:ea typeface="Calibri" pitchFamily="34" charset="-122"/>
                <a:cs typeface="Calibri" pitchFamily="34" charset="-120"/>
              </a:rPr>
              <a:t>100 independent rollouts</a:t>
            </a:r>
            <a:pPr indent="0" marL="0">
              <a:buNone/>
            </a:pPr>
            <a:r>
              <a:rPr lang="en-US" sz="1500" dirty="0">
                <a:solidFill>
                  <a:srgbClr val="16202E"/>
                </a:solidFill>
                <a:latin typeface="Calibri" pitchFamily="34" charset="0"/>
                <a:ea typeface="Calibri" pitchFamily="34" charset="-122"/>
                <a:cs typeface="Calibri" pitchFamily="34" charset="-120"/>
              </a:rPr>
              <a:t> — an object no single rollout can see.</a:t>
            </a:r>
            <a:endParaRPr lang="en-US" sz="1500" dirty="0"/>
          </a:p>
        </p:txBody>
      </p:sp>
      <p:sp>
        <p:nvSpPr>
          <p:cNvPr id="7" name="Text 5"/>
          <p:cNvSpPr/>
          <p:nvPr/>
        </p:nvSpPr>
        <p:spPr>
          <a:xfrm>
            <a:off x="868680" y="3017520"/>
            <a:ext cx="4754880" cy="1005840"/>
          </a:xfrm>
          <a:prstGeom prst="rect">
            <a:avLst/>
          </a:prstGeom>
          <a:noFill/>
          <a:ln/>
        </p:spPr>
        <p:txBody>
          <a:bodyPr wrap="square" lIns="0" tIns="0" rIns="0" bIns="0" rtlCol="0" anchor="ctr"/>
          <a:lstStyle/>
          <a:p>
            <a:pPr indent="0" marL="0">
              <a:buNone/>
            </a:pPr>
            <a:r>
              <a:rPr lang="en-US" sz="1300" dirty="0">
                <a:solidFill>
                  <a:srgbClr val="6B7A8F"/>
                </a:solidFill>
                <a:latin typeface="Calibri" pitchFamily="34" charset="0"/>
                <a:ea typeface="Calibri" pitchFamily="34" charset="-122"/>
                <a:cs typeface="Calibri" pitchFamily="34" charset="-120"/>
              </a:rPr>
              <a:t>Making each rollout individually better made the hundred redundant. Consensus scoring cannot rank a pair that no rollout emits.</a:t>
            </a:r>
            <a:endParaRPr lang="en-US" sz="1300" dirty="0"/>
          </a:p>
        </p:txBody>
      </p:sp>
      <p:sp>
        <p:nvSpPr>
          <p:cNvPr id="8" name="Shape 6"/>
          <p:cNvSpPr/>
          <p:nvPr/>
        </p:nvSpPr>
        <p:spPr>
          <a:xfrm>
            <a:off x="6217920" y="1572768"/>
            <a:ext cx="5394960" cy="2788920"/>
          </a:xfrm>
          <a:prstGeom prst="roundRect">
            <a:avLst>
              <a:gd name="adj" fmla="val 1311"/>
            </a:avLst>
          </a:prstGeom>
          <a:solidFill>
            <a:srgbClr val="0F1E3D"/>
          </a:solidFill>
          <a:ln w="12700">
            <a:solidFill>
              <a:srgbClr val="0F1E3D"/>
            </a:solidFill>
            <a:prstDash val="solid"/>
          </a:ln>
          <a:effectLst>
            <a:outerShdw sx="100000" sy="100000" kx="0" ky="0" algn="bl" rotWithShape="0" blurRad="101600" dist="12700" dir="5400000">
              <a:srgbClr val="9AA7B4">
                <a:alpha val="22000"/>
              </a:srgbClr>
            </a:outerShdw>
          </a:effectLst>
        </p:spPr>
      </p:sp>
      <p:sp>
        <p:nvSpPr>
          <p:cNvPr id="9" name="Text 7"/>
          <p:cNvSpPr/>
          <p:nvPr/>
        </p:nvSpPr>
        <p:spPr>
          <a:xfrm>
            <a:off x="6537960" y="1737360"/>
            <a:ext cx="4754880" cy="274320"/>
          </a:xfrm>
          <a:prstGeom prst="rect">
            <a:avLst/>
          </a:prstGeom>
          <a:noFill/>
          <a:ln/>
        </p:spPr>
        <p:txBody>
          <a:bodyPr wrap="square" lIns="0" tIns="0" rIns="0" bIns="0" rtlCol="0" anchor="ctr"/>
          <a:lstStyle/>
          <a:p>
            <a:pPr indent="0" marL="0">
              <a:buNone/>
            </a:pPr>
            <a:r>
              <a:rPr lang="en-US" sz="1100" b="1" spc="100" kern="0" dirty="0">
                <a:solidFill>
                  <a:srgbClr val="E8871E"/>
                </a:solidFill>
                <a:latin typeface="Calibri" pitchFamily="34" charset="0"/>
                <a:ea typeface="Calibri" pitchFamily="34" charset="-122"/>
                <a:cs typeface="Calibri" pitchFamily="34" charset="-120"/>
              </a:rPr>
              <a:t>THE CHANGE</a:t>
            </a:r>
            <a:endParaRPr lang="en-US" sz="1100" dirty="0"/>
          </a:p>
        </p:txBody>
      </p:sp>
      <p:sp>
        <p:nvSpPr>
          <p:cNvPr id="10" name="Text 8"/>
          <p:cNvSpPr/>
          <p:nvPr/>
        </p:nvSpPr>
        <p:spPr>
          <a:xfrm>
            <a:off x="6537960" y="2057400"/>
            <a:ext cx="4754880" cy="8229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Under </a:t>
            </a:r>
            <a:pPr indent="0" marL="0">
              <a:buNone/>
            </a:pPr>
            <a:r>
              <a:rPr lang="en-US" sz="1500" b="1" dirty="0">
                <a:solidFill>
                  <a:srgbClr val="2A9D8F"/>
                </a:solidFill>
                <a:latin typeface="Calibri" pitchFamily="34" charset="0"/>
                <a:ea typeface="Calibri" pitchFamily="34" charset="-122"/>
                <a:cs typeface="Calibri" pitchFamily="34" charset="-120"/>
              </a:rPr>
              <a:t>&lt;contacts-v1.multi&gt;</a:t>
            </a:r>
            <a:pPr indent="0" marL="0">
              <a:buNone/>
            </a:pPr>
            <a:r>
              <a:rPr lang="en-US" sz="1500" dirty="0">
                <a:solidFill>
                  <a:srgbClr val="FFFFFF"/>
                </a:solidFill>
                <a:latin typeface="Calibri" pitchFamily="34" charset="0"/>
                <a:ea typeface="Calibri" pitchFamily="34" charset="-122"/>
                <a:cs typeface="Calibri" pitchFamily="34" charset="-120"/>
              </a:rPr>
              <a:t> one rollout emits ~22 contact sets in a single generation.</a:t>
            </a:r>
            <a:endParaRPr lang="en-US" sz="1500" dirty="0"/>
          </a:p>
        </p:txBody>
      </p:sp>
      <p:sp>
        <p:nvSpPr>
          <p:cNvPr id="11" name="Text 9"/>
          <p:cNvSpPr/>
          <p:nvPr/>
        </p:nvSpPr>
        <p:spPr>
          <a:xfrm>
            <a:off x="6537960" y="2926080"/>
            <a:ext cx="4754880" cy="1188720"/>
          </a:xfrm>
          <a:prstGeom prst="rect">
            <a:avLst/>
          </a:prstGeom>
          <a:noFill/>
          <a:ln/>
        </p:spPr>
        <p:txBody>
          <a:bodyPr wrap="square" lIns="0" tIns="0" rIns="0" bIns="0" rtlCol="0" anchor="ctr"/>
          <a:lstStyle/>
          <a:p>
            <a:pPr indent="0" marL="0">
              <a:buNone/>
            </a:pPr>
            <a:r>
              <a:rPr lang="en-US" sz="1300" dirty="0">
                <a:solidFill>
                  <a:srgbClr val="CBD8E8"/>
                </a:solidFill>
                <a:latin typeface="Calibri" pitchFamily="34" charset="0"/>
                <a:ea typeface="Calibri" pitchFamily="34" charset="-122"/>
                <a:cs typeface="Calibri" pitchFamily="34" charset="-120"/>
              </a:rPr>
              <a:t>So a reward computed on one rollout's sections acts on the same kind of object the metric scores — and its credit assignment is inside the sequence, where the policy gradient can reach it.</a:t>
            </a:r>
            <a:endParaRPr lang="en-US" sz="1300" dirty="0"/>
          </a:p>
        </p:txBody>
      </p:sp>
      <p:sp>
        <p:nvSpPr>
          <p:cNvPr id="12" name="Text 10"/>
          <p:cNvSpPr/>
          <p:nvPr/>
        </p:nvSpPr>
        <p:spPr>
          <a:xfrm>
            <a:off x="548640" y="4617720"/>
            <a:ext cx="11064240" cy="457200"/>
          </a:xfrm>
          <a:prstGeom prst="rect">
            <a:avLst/>
          </a:prstGeom>
          <a:noFill/>
          <a:ln/>
        </p:spPr>
        <p:txBody>
          <a:bodyPr wrap="square" lIns="0" tIns="0" rIns="0" bIns="0" rtlCol="0" anchor="ctr"/>
          <a:lstStyle/>
          <a:p>
            <a:pPr indent="0" marL="0">
              <a:buNone/>
            </a:pPr>
            <a:r>
              <a:rPr lang="en-US" sz="1400" i="1" dirty="0">
                <a:solidFill>
                  <a:srgbClr val="0F1E3D"/>
                </a:solidFill>
                <a:latin typeface="Cambria" pitchFamily="34" charset="0"/>
                <a:ea typeface="Cambria" pitchFamily="34" charset="-122"/>
                <a:cs typeface="Cambria" pitchFamily="34" charset="-120"/>
              </a:rPr>
              <a:t>That is the one hypothesis this experiment tests. It is falsifiable, and it is the only reason to expect a different outcome from #208.</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74320"/>
            <a:ext cx="11064240" cy="713232"/>
          </a:xfrm>
          <a:prstGeom prst="rect">
            <a:avLst/>
          </a:prstGeom>
          <a:noFill/>
          <a:ln/>
        </p:spPr>
        <p:txBody>
          <a:bodyPr wrap="square" lIns="0" tIns="0" rIns="0" bIns="0" rtlCol="0" anchor="t"/>
          <a:lstStyle/>
          <a:p>
            <a:pPr indent="0" marL="0">
              <a:buNone/>
            </a:pPr>
            <a:r>
              <a:rPr lang="en-US" sz="2800" b="1" dirty="0">
                <a:solidFill>
                  <a:srgbClr val="0F1E3D"/>
                </a:solidFill>
                <a:latin typeface="Cambria" pitchFamily="34" charset="0"/>
                <a:ea typeface="Cambria" pitchFamily="34" charset="-122"/>
                <a:cs typeface="Cambria" pitchFamily="34" charset="-120"/>
              </a:rPr>
              <a:t>What has to be beaten</a:t>
            </a:r>
            <a:endParaRPr lang="en-US" sz="2800" dirty="0"/>
          </a:p>
        </p:txBody>
      </p:sp>
      <p:sp>
        <p:nvSpPr>
          <p:cNvPr id="3" name="Text 1"/>
          <p:cNvSpPr/>
          <p:nvPr/>
        </p:nvSpPr>
        <p:spPr>
          <a:xfrm>
            <a:off x="548640" y="1024128"/>
            <a:ext cx="11064240" cy="347472"/>
          </a:xfrm>
          <a:prstGeom prst="rect">
            <a:avLst/>
          </a:prstGeom>
          <a:noFill/>
          <a:ln/>
        </p:spPr>
        <p:txBody>
          <a:bodyPr wrap="square" lIns="0" tIns="0" rIns="0" bIns="0" rtlCol="0" anchor="ctr"/>
          <a:lstStyle/>
          <a:p>
            <a:pPr indent="0" marL="0">
              <a:buNone/>
            </a:pPr>
            <a:r>
              <a:rPr lang="en-US" sz="1350" i="1" dirty="0">
                <a:solidFill>
                  <a:srgbClr val="6B7A8F"/>
                </a:solidFill>
                <a:latin typeface="Calibri" pitchFamily="34" charset="0"/>
                <a:ea typeface="Calibri" pitchFamily="34" charset="-122"/>
                <a:cs typeface="Calibri" pitchFamily="34" charset="-120"/>
              </a:rPr>
              <a:t>R-precision (all), legacy 554 — every number from #230's scorer, unchanged</a:t>
            </a:r>
            <a:endParaRPr lang="en-US" sz="1350" dirty="0"/>
          </a:p>
        </p:txBody>
      </p:sp>
      <p:sp>
        <p:nvSpPr>
          <p:cNvPr id="4" name="Shape 2"/>
          <p:cNvSpPr/>
          <p:nvPr/>
        </p:nvSpPr>
        <p:spPr>
          <a:xfrm>
            <a:off x="548640" y="1627632"/>
            <a:ext cx="3520440" cy="1965960"/>
          </a:xfrm>
          <a:prstGeom prst="roundRect">
            <a:avLst>
              <a:gd name="adj" fmla="val 1860"/>
            </a:avLst>
          </a:prstGeom>
          <a:solidFill>
            <a:srgbClr val="0F1E3D"/>
          </a:solidFill>
          <a:ln w="12700">
            <a:solidFill>
              <a:srgbClr val="0F1E3D"/>
            </a:solidFill>
            <a:prstDash val="solid"/>
          </a:ln>
          <a:effectLst>
            <a:outerShdw sx="100000" sy="100000" kx="0" ky="0" algn="bl" rotWithShape="0" blurRad="101600" dist="12700" dir="5400000">
              <a:srgbClr val="9AA7B4">
                <a:alpha val="22000"/>
              </a:srgbClr>
            </a:outerShdw>
          </a:effectLst>
        </p:spPr>
      </p:sp>
      <p:sp>
        <p:nvSpPr>
          <p:cNvPr id="5" name="Text 3"/>
          <p:cNvSpPr/>
          <p:nvPr/>
        </p:nvSpPr>
        <p:spPr>
          <a:xfrm>
            <a:off x="548640" y="1847088"/>
            <a:ext cx="3520440" cy="713232"/>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0.5896</a:t>
            </a:r>
            <a:endParaRPr lang="en-US" sz="4000" dirty="0"/>
          </a:p>
        </p:txBody>
      </p:sp>
      <p:sp>
        <p:nvSpPr>
          <p:cNvPr id="6" name="Text 4"/>
          <p:cNvSpPr/>
          <p:nvPr/>
        </p:nvSpPr>
        <p:spPr>
          <a:xfrm>
            <a:off x="548640" y="2560320"/>
            <a:ext cx="3520440" cy="548640"/>
          </a:xfrm>
          <a:prstGeom prst="rect">
            <a:avLst/>
          </a:prstGeom>
          <a:noFill/>
          <a:ln/>
        </p:spPr>
        <p:txBody>
          <a:bodyPr wrap="square" lIns="0" tIns="0" rIns="0" bIns="0" rtlCol="0" anchor="t"/>
          <a:lstStyle/>
          <a:p>
            <a:pPr algn="ctr" indent="0" marL="0">
              <a:buNone/>
            </a:pPr>
            <a:r>
              <a:rPr lang="en-US" sz="1050" dirty="0">
                <a:solidFill>
                  <a:srgbClr val="CBD8E8"/>
                </a:solidFill>
                <a:latin typeface="Calibri" pitchFamily="34" charset="0"/>
                <a:ea typeface="Calibri" pitchFamily="34" charset="-122"/>
                <a:cs typeface="Calibri" pitchFamily="34" charset="-120"/>
              </a:rPr>
              <a:t>plain, 22 rollouts voted</a:t>
            </a:r>
            <a:endParaRPr lang="en-US" sz="1050" dirty="0"/>
          </a:p>
          <a:p>
            <a:pPr algn="ctr" indent="0" marL="0">
              <a:buNone/>
            </a:pPr>
            <a:r>
              <a:rPr lang="en-US" sz="1050" dirty="0">
                <a:solidFill>
                  <a:srgbClr val="CBD8E8"/>
                </a:solidFill>
                <a:latin typeface="Calibri" pitchFamily="34" charset="0"/>
                <a:ea typeface="Calibri" pitchFamily="34" charset="-122"/>
                <a:cs typeface="Calibri" pitchFamily="34" charset="-120"/>
              </a:rPr>
              <a:t>THE BAR — budget-matched</a:t>
            </a:r>
            <a:endParaRPr lang="en-US" sz="1050" dirty="0"/>
          </a:p>
        </p:txBody>
      </p:sp>
      <p:sp>
        <p:nvSpPr>
          <p:cNvPr id="7" name="Shape 5"/>
          <p:cNvSpPr/>
          <p:nvPr/>
        </p:nvSpPr>
        <p:spPr>
          <a:xfrm>
            <a:off x="4320540" y="1627632"/>
            <a:ext cx="3520440" cy="1965960"/>
          </a:xfrm>
          <a:prstGeom prst="roundRect">
            <a:avLst>
              <a:gd name="adj" fmla="val 1860"/>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8" name="Text 6"/>
          <p:cNvSpPr/>
          <p:nvPr/>
        </p:nvSpPr>
        <p:spPr>
          <a:xfrm>
            <a:off x="4320540" y="1847088"/>
            <a:ext cx="3520440" cy="713232"/>
          </a:xfrm>
          <a:prstGeom prst="rect">
            <a:avLst/>
          </a:prstGeom>
          <a:noFill/>
          <a:ln/>
        </p:spPr>
        <p:txBody>
          <a:bodyPr wrap="square" lIns="0" tIns="0" rIns="0" bIns="0" rtlCol="0" anchor="ctr"/>
          <a:lstStyle/>
          <a:p>
            <a:pPr algn="ctr" indent="0" marL="0">
              <a:buNone/>
            </a:pPr>
            <a:r>
              <a:rPr lang="en-US" sz="4000" b="1" dirty="0">
                <a:solidFill>
                  <a:srgbClr val="0F1E3D"/>
                </a:solidFill>
                <a:latin typeface="Cambria" pitchFamily="34" charset="0"/>
                <a:ea typeface="Cambria" pitchFamily="34" charset="-122"/>
                <a:cs typeface="Cambria" pitchFamily="34" charset="-120"/>
              </a:rPr>
              <a:t>0.5673</a:t>
            </a:r>
            <a:endParaRPr lang="en-US" sz="4000" dirty="0"/>
          </a:p>
        </p:txBody>
      </p:sp>
      <p:sp>
        <p:nvSpPr>
          <p:cNvPr id="9" name="Text 7"/>
          <p:cNvSpPr/>
          <p:nvPr/>
        </p:nvSpPr>
        <p:spPr>
          <a:xfrm>
            <a:off x="4320540" y="2560320"/>
            <a:ext cx="3520440" cy="548640"/>
          </a:xfrm>
          <a:prstGeom prst="rect">
            <a:avLst/>
          </a:prstGeom>
          <a:noFill/>
          <a:ln/>
        </p:spPr>
        <p:txBody>
          <a:bodyPr wrap="square" lIns="0" tIns="0" rIns="0" bIns="0" rtlCol="0" anchor="t"/>
          <a:lstStyle/>
          <a:p>
            <a:pPr algn="ctr" indent="0" marL="0">
              <a:buNone/>
            </a:pPr>
            <a:r>
              <a:rPr lang="en-US" sz="1050" dirty="0">
                <a:solidFill>
                  <a:srgbClr val="6B7A8F"/>
                </a:solidFill>
                <a:latin typeface="Calibri" pitchFamily="34" charset="0"/>
                <a:ea typeface="Calibri" pitchFamily="34" charset="-122"/>
                <a:cs typeface="Calibri" pitchFamily="34" charset="-120"/>
              </a:rPr>
              <a:t>multi consensus</a:t>
            </a:r>
            <a:endParaRPr lang="en-US" sz="1050" dirty="0"/>
          </a:p>
          <a:p>
            <a:pPr algn="ctr" indent="0" marL="0">
              <a:buNone/>
            </a:pPr>
            <a:r>
              <a:rPr lang="en-US" sz="1050" dirty="0">
                <a:solidFill>
                  <a:srgbClr val="6B7A8F"/>
                </a:solidFill>
                <a:latin typeface="Calibri" pitchFamily="34" charset="0"/>
                <a:ea typeface="Calibri" pitchFamily="34" charset="-122"/>
                <a:cs typeface="Calibri" pitchFamily="34" charset="-120"/>
              </a:rPr>
              <a:t>the #230 warm start</a:t>
            </a:r>
            <a:endParaRPr lang="en-US" sz="1050" dirty="0"/>
          </a:p>
        </p:txBody>
      </p:sp>
      <p:sp>
        <p:nvSpPr>
          <p:cNvPr id="10" name="Shape 8"/>
          <p:cNvSpPr/>
          <p:nvPr/>
        </p:nvSpPr>
        <p:spPr>
          <a:xfrm>
            <a:off x="8092440" y="1627632"/>
            <a:ext cx="3520440" cy="1965960"/>
          </a:xfrm>
          <a:prstGeom prst="roundRect">
            <a:avLst>
              <a:gd name="adj" fmla="val 1860"/>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11" name="Text 9"/>
          <p:cNvSpPr/>
          <p:nvPr/>
        </p:nvSpPr>
        <p:spPr>
          <a:xfrm>
            <a:off x="8092440" y="1847088"/>
            <a:ext cx="3520440" cy="713232"/>
          </a:xfrm>
          <a:prstGeom prst="rect">
            <a:avLst/>
          </a:prstGeom>
          <a:noFill/>
          <a:ln/>
        </p:spPr>
        <p:txBody>
          <a:bodyPr wrap="square" lIns="0" tIns="0" rIns="0" bIns="0" rtlCol="0" anchor="ctr"/>
          <a:lstStyle/>
          <a:p>
            <a:pPr algn="ctr" indent="0" marL="0">
              <a:buNone/>
            </a:pPr>
            <a:r>
              <a:rPr lang="en-US" sz="4000" b="1" dirty="0">
                <a:solidFill>
                  <a:srgbClr val="0F1E3D"/>
                </a:solidFill>
                <a:latin typeface="Cambria" pitchFamily="34" charset="0"/>
                <a:ea typeface="Cambria" pitchFamily="34" charset="-122"/>
                <a:cs typeface="Cambria" pitchFamily="34" charset="-120"/>
              </a:rPr>
              <a:t>0.5342</a:t>
            </a:r>
            <a:endParaRPr lang="en-US" sz="4000" dirty="0"/>
          </a:p>
        </p:txBody>
      </p:sp>
      <p:sp>
        <p:nvSpPr>
          <p:cNvPr id="12" name="Text 10"/>
          <p:cNvSpPr/>
          <p:nvPr/>
        </p:nvSpPr>
        <p:spPr>
          <a:xfrm>
            <a:off x="8092440" y="2560320"/>
            <a:ext cx="3520440" cy="548640"/>
          </a:xfrm>
          <a:prstGeom prst="rect">
            <a:avLst/>
          </a:prstGeom>
          <a:noFill/>
          <a:ln/>
        </p:spPr>
        <p:txBody>
          <a:bodyPr wrap="square" lIns="0" tIns="0" rIns="0" bIns="0" rtlCol="0" anchor="t"/>
          <a:lstStyle/>
          <a:p>
            <a:pPr algn="ctr" indent="0" marL="0">
              <a:buNone/>
            </a:pPr>
            <a:r>
              <a:rPr lang="en-US" sz="1050" dirty="0">
                <a:solidFill>
                  <a:srgbClr val="6B7A8F"/>
                </a:solidFill>
                <a:latin typeface="Calibri" pitchFamily="34" charset="0"/>
                <a:ea typeface="Calibri" pitchFamily="34" charset="-122"/>
                <a:cs typeface="Calibri" pitchFamily="34" charset="-120"/>
              </a:rPr>
              <a:t>multi, ORACLE best section</a:t>
            </a:r>
            <a:endParaRPr lang="en-US" sz="1050" dirty="0"/>
          </a:p>
          <a:p>
            <a:pPr algn="ctr" indent="0" marL="0">
              <a:buNone/>
            </a:pPr>
            <a:r>
              <a:rPr lang="en-US" sz="1050" dirty="0">
                <a:solidFill>
                  <a:srgbClr val="6B7A8F"/>
                </a:solidFill>
                <a:latin typeface="Calibri" pitchFamily="34" charset="0"/>
                <a:ea typeface="Calibri" pitchFamily="34" charset="-122"/>
                <a:cs typeface="Calibri" pitchFamily="34" charset="-120"/>
              </a:rPr>
              <a:t>a ceiling, not a result</a:t>
            </a:r>
            <a:endParaRPr lang="en-US" sz="1050" dirty="0"/>
          </a:p>
        </p:txBody>
      </p:sp>
      <p:sp>
        <p:nvSpPr>
          <p:cNvPr id="13" name="Text 11"/>
          <p:cNvSpPr/>
          <p:nvPr/>
        </p:nvSpPr>
        <p:spPr>
          <a:xfrm>
            <a:off x="548640" y="3886200"/>
            <a:ext cx="11064240" cy="320040"/>
          </a:xfrm>
          <a:prstGeom prst="rect">
            <a:avLst/>
          </a:prstGeom>
          <a:noFill/>
          <a:ln/>
        </p:spPr>
        <p:txBody>
          <a:bodyPr wrap="square" lIns="0" tIns="0" rIns="0" bIns="0" rtlCol="0" anchor="ctr"/>
          <a:lstStyle/>
          <a:p>
            <a:pPr indent="0" marL="0">
              <a:buNone/>
            </a:pPr>
            <a:r>
              <a:rPr lang="en-US" sz="1600" b="1" dirty="0">
                <a:solidFill>
                  <a:srgbClr val="0F1E3D"/>
                </a:solidFill>
                <a:latin typeface="Cambria" pitchFamily="34" charset="0"/>
                <a:ea typeface="Cambria" pitchFamily="34" charset="-122"/>
                <a:cs typeface="Cambria" pitchFamily="34" charset="-120"/>
              </a:rPr>
              <a:t>Two facts shape every reward here</a:t>
            </a:r>
            <a:endParaRPr lang="en-US" sz="1600" dirty="0"/>
          </a:p>
        </p:txBody>
      </p:sp>
      <p:sp>
        <p:nvSpPr>
          <p:cNvPr id="14" name="Text 12"/>
          <p:cNvSpPr/>
          <p:nvPr/>
        </p:nvSpPr>
        <p:spPr>
          <a:xfrm>
            <a:off x="685800" y="4251960"/>
            <a:ext cx="10881360" cy="1828800"/>
          </a:xfrm>
          <a:prstGeom prst="rect">
            <a:avLst/>
          </a:prstGeom>
          <a:noFill/>
          <a:ln/>
        </p:spPr>
        <p:txBody>
          <a:bodyPr wrap="square" lIns="0" tIns="0" rIns="0" bIns="0" rtlCol="0" anchor="ctr"/>
          <a:lstStyle/>
          <a:p>
            <a:pPr marL="342900" indent="-342900">
              <a:spcAft>
                <a:spcPts val="500"/>
              </a:spcAft>
              <a:buSzPct val="100000"/>
              <a:buChar char="•"/>
            </a:pPr>
            <a:r>
              <a:rPr lang="en-US" sz="1350" b="1" dirty="0">
                <a:solidFill>
                  <a:srgbClr val="16202E"/>
                </a:solidFill>
                <a:latin typeface="Calibri" pitchFamily="34" charset="0"/>
                <a:ea typeface="Calibri" pitchFamily="34" charset="-122"/>
                <a:cs typeface="Calibri" pitchFamily="34" charset="-120"/>
              </a:rPr>
              <a:t>Consensus beats the ORACLE best single candidate in both regimes</a:t>
            </a:r>
            <a:endParaRPr lang="en-US" sz="1350" dirty="0"/>
          </a:p>
          <a:p>
            <a:pPr lvl="2" indent="0" marL="0">
              <a:spcAft>
                <a:spcPts val="500"/>
              </a:spcAft>
              <a:buNone/>
            </a:pPr>
            <a:r>
              <a:rPr lang="en-US" sz="1200" dirty="0">
                <a:solidFill>
                  <a:srgbClr val="6B7A8F"/>
                </a:solidFill>
                <a:latin typeface="Calibri" pitchFamily="34" charset="0"/>
                <a:ea typeface="Calibri" pitchFamily="34" charset="-122"/>
                <a:cs typeface="Calibri" pitchFamily="34" charset="-120"/>
              </a:rPr>
              <a:t>0.5896 &gt; 0.5680 and 0.5673 &gt; 0.5342 — candidates carry complementary information, so a reward that exploits combinations has more to work with than best-of-N.</a:t>
            </a:r>
            <a:endParaRPr lang="en-US" sz="1350" dirty="0"/>
          </a:p>
          <a:p>
            <a:pPr marL="342900" indent="-342900">
              <a:spcAft>
                <a:spcPts val="500"/>
              </a:spcAft>
              <a:buSzPct val="100000"/>
              <a:buChar char="•"/>
            </a:pPr>
            <a:r>
              <a:rPr lang="en-US" sz="1350" b="1" dirty="0">
                <a:solidFill>
                  <a:srgbClr val="16202E"/>
                </a:solidFill>
                <a:latin typeface="Calibri" pitchFamily="34" charset="0"/>
                <a:ea typeface="Calibri" pitchFamily="34" charset="-122"/>
                <a:cs typeface="Calibri" pitchFamily="34" charset="-120"/>
              </a:rPr>
              <a:t>At matched budget, independent sampling still wins</a:t>
            </a:r>
            <a:endParaRPr lang="en-US" sz="1350" dirty="0"/>
          </a:p>
          <a:p>
            <a:pPr lvl="2" indent="0" marL="0">
              <a:spcAft>
                <a:spcPts val="500"/>
              </a:spcAft>
              <a:buNone/>
            </a:pPr>
            <a:r>
              <a:rPr lang="en-US" sz="1200" dirty="0">
                <a:solidFill>
                  <a:srgbClr val="6B7A8F"/>
                </a:solidFill>
                <a:latin typeface="Calibri" pitchFamily="34" charset="0"/>
                <a:ea typeface="Calibri" pitchFamily="34" charset="-122"/>
                <a:cs typeface="Calibri" pitchFamily="34" charset="-120"/>
              </a:rPr>
              <a:t>22 independent rollouts cover 1,065 distinct pairs; 22 sections of one rollout cover 658. The multi format starts ~62% behind on explored space — closing that is what success looks like.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74320"/>
            <a:ext cx="11064240" cy="713232"/>
          </a:xfrm>
          <a:prstGeom prst="rect">
            <a:avLst/>
          </a:prstGeom>
          <a:noFill/>
          <a:ln/>
        </p:spPr>
        <p:txBody>
          <a:bodyPr wrap="square" lIns="0" tIns="0" rIns="0" bIns="0" rtlCol="0" anchor="t"/>
          <a:lstStyle/>
          <a:p>
            <a:pPr indent="0" marL="0">
              <a:buNone/>
            </a:pPr>
            <a:r>
              <a:rPr lang="en-US" sz="2800" b="1" dirty="0">
                <a:solidFill>
                  <a:srgbClr val="0F1E3D"/>
                </a:solidFill>
                <a:latin typeface="Cambria" pitchFamily="34" charset="0"/>
                <a:ea typeface="Cambria" pitchFamily="34" charset="-122"/>
                <a:cs typeface="Cambria" pitchFamily="34" charset="-120"/>
              </a:rPr>
              <a:t>The algorithm, precisely</a:t>
            </a:r>
            <a:endParaRPr lang="en-US" sz="2800" dirty="0"/>
          </a:p>
        </p:txBody>
      </p:sp>
      <p:sp>
        <p:nvSpPr>
          <p:cNvPr id="3" name="Text 1"/>
          <p:cNvSpPr/>
          <p:nvPr/>
        </p:nvSpPr>
        <p:spPr>
          <a:xfrm>
            <a:off x="548640" y="1024128"/>
            <a:ext cx="11064240" cy="347472"/>
          </a:xfrm>
          <a:prstGeom prst="rect">
            <a:avLst/>
          </a:prstGeom>
          <a:noFill/>
          <a:ln/>
        </p:spPr>
        <p:txBody>
          <a:bodyPr wrap="square" lIns="0" tIns="0" rIns="0" bIns="0" rtlCol="0" anchor="ctr"/>
          <a:lstStyle/>
          <a:p>
            <a:pPr indent="0" marL="0">
              <a:buNone/>
            </a:pPr>
            <a:r>
              <a:rPr lang="en-US" sz="1350" i="1" dirty="0">
                <a:solidFill>
                  <a:srgbClr val="6B7A8F"/>
                </a:solidFill>
                <a:latin typeface="Calibri" pitchFamily="34" charset="0"/>
                <a:ea typeface="Calibri" pitchFamily="34" charset="-122"/>
                <a:cs typeface="Calibri" pitchFamily="34" charset="-120"/>
              </a:rPr>
              <a:t>GRPO — and its clipping never fires</a:t>
            </a:r>
            <a:endParaRPr lang="en-US" sz="1350" dirty="0"/>
          </a:p>
        </p:txBody>
      </p:sp>
      <p:sp>
        <p:nvSpPr>
          <p:cNvPr id="4" name="Shape 2"/>
          <p:cNvSpPr/>
          <p:nvPr/>
        </p:nvSpPr>
        <p:spPr>
          <a:xfrm>
            <a:off x="548640" y="1508760"/>
            <a:ext cx="5486400" cy="3977640"/>
          </a:xfrm>
          <a:prstGeom prst="roundRect">
            <a:avLst>
              <a:gd name="adj" fmla="val 920"/>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5" name="Text 3"/>
          <p:cNvSpPr/>
          <p:nvPr/>
        </p:nvSpPr>
        <p:spPr>
          <a:xfrm>
            <a:off x="868680" y="1737360"/>
            <a:ext cx="4846320" cy="274320"/>
          </a:xfrm>
          <a:prstGeom prst="rect">
            <a:avLst/>
          </a:prstGeom>
          <a:noFill/>
          <a:ln/>
        </p:spPr>
        <p:txBody>
          <a:bodyPr wrap="square" lIns="0" tIns="0" rIns="0" bIns="0" rtlCol="0" anchor="ctr"/>
          <a:lstStyle/>
          <a:p>
            <a:pPr indent="0" marL="0">
              <a:buNone/>
            </a:pPr>
            <a:r>
              <a:rPr lang="en-US" sz="1500" b="1" dirty="0">
                <a:solidFill>
                  <a:srgbClr val="0F1E3D"/>
                </a:solidFill>
                <a:latin typeface="Cambria" pitchFamily="34" charset="0"/>
                <a:ea typeface="Cambria" pitchFamily="34" charset="-122"/>
                <a:cs typeface="Cambria" pitchFamily="34" charset="-120"/>
              </a:rPr>
              <a:t>What is actually applied</a:t>
            </a:r>
            <a:endParaRPr lang="en-US" sz="1500" dirty="0"/>
          </a:p>
        </p:txBody>
      </p:sp>
      <p:sp>
        <p:nvSpPr>
          <p:cNvPr id="6" name="Text 4"/>
          <p:cNvSpPr/>
          <p:nvPr/>
        </p:nvSpPr>
        <p:spPr>
          <a:xfrm>
            <a:off x="868680" y="2121408"/>
            <a:ext cx="4846320" cy="17373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16202E"/>
                </a:solidFill>
                <a:latin typeface="Calibri" pitchFamily="34" charset="0"/>
                <a:ea typeface="Calibri" pitchFamily="34" charset="-122"/>
                <a:cs typeface="Calibri" pitchFamily="34" charset="-120"/>
              </a:rPr>
              <a:t>PPO clipped surrogate + group-relative baseline. No critic, no GAE.</a:t>
            </a:r>
            <a:endParaRPr lang="en-US" sz="1300" dirty="0"/>
          </a:p>
          <a:p>
            <a:pPr marL="342900" indent="-342900">
              <a:spcAft>
                <a:spcPts val="700"/>
              </a:spcAft>
              <a:buSzPct val="100000"/>
              <a:buChar char="•"/>
            </a:pPr>
            <a:r>
              <a:rPr lang="en-US" sz="1300" dirty="0">
                <a:solidFill>
                  <a:srgbClr val="16202E"/>
                </a:solidFill>
                <a:latin typeface="Calibri" pitchFamily="34" charset="0"/>
                <a:ea typeface="Calibri" pitchFamily="34" charset="-122"/>
                <a:cs typeface="Calibri" pitchFamily="34" charset="-120"/>
              </a:rPr>
              <a:t>k3 KL penalty to the frozen #230 reference, coefficient 0.001.</a:t>
            </a:r>
            <a:endParaRPr lang="en-US" sz="1300" dirty="0"/>
          </a:p>
          <a:p>
            <a:pPr marL="342900" indent="-342900">
              <a:spcAft>
                <a:spcPts val="700"/>
              </a:spcAft>
              <a:buSzPct val="100000"/>
              <a:buChar char="•"/>
            </a:pPr>
            <a:r>
              <a:rPr lang="en-US" sz="1300" dirty="0">
                <a:solidFill>
                  <a:srgbClr val="16202E"/>
                </a:solidFill>
                <a:latin typeface="Calibri" pitchFamily="34" charset="0"/>
                <a:ea typeface="Calibri" pitchFamily="34" charset="-122"/>
                <a:cs typeface="Calibri" pitchFamily="34" charset="-120"/>
              </a:rPr>
              <a:t>One inner epoch, one minibatch → the importance ratio is exactly 1.</a:t>
            </a:r>
            <a:endParaRPr lang="en-US" sz="1300" dirty="0"/>
          </a:p>
          <a:p>
            <a:pPr marL="342900" indent="-342900">
              <a:spcAft>
                <a:spcPts val="700"/>
              </a:spcAft>
              <a:buSzPct val="100000"/>
              <a:buChar char="•"/>
            </a:pPr>
            <a:r>
              <a:rPr lang="en-US" sz="1300" b="1" dirty="0">
                <a:solidFill>
                  <a:srgbClr val="C1443C"/>
                </a:solidFill>
                <a:latin typeface="Calibri" pitchFamily="34" charset="0"/>
                <a:ea typeface="Calibri" pitchFamily="34" charset="-122"/>
                <a:cs typeface="Calibri" pitchFamily="34" charset="-120"/>
              </a:rPr>
              <a:t>Measured: clip_ratio = 0.0 at every one of 468 steps.</a:t>
            </a:r>
            <a:endParaRPr lang="en-US" sz="1300" dirty="0"/>
          </a:p>
        </p:txBody>
      </p:sp>
      <p:sp>
        <p:nvSpPr>
          <p:cNvPr id="7" name="Shape 5"/>
          <p:cNvSpPr/>
          <p:nvPr/>
        </p:nvSpPr>
        <p:spPr>
          <a:xfrm>
            <a:off x="868680" y="3977640"/>
            <a:ext cx="4846320" cy="658368"/>
          </a:xfrm>
          <a:prstGeom prst="roundRect">
            <a:avLst>
              <a:gd name="adj" fmla="val 6944"/>
            </a:avLst>
          </a:prstGeom>
          <a:solidFill>
            <a:srgbClr val="0F1E3D"/>
          </a:solidFill>
          <a:ln w="12700">
            <a:solidFill>
              <a:srgbClr val="0F1E3D"/>
            </a:solidFill>
            <a:prstDash val="solid"/>
          </a:ln>
        </p:spPr>
      </p:sp>
      <p:sp>
        <p:nvSpPr>
          <p:cNvPr id="8" name="Text 6"/>
          <p:cNvSpPr/>
          <p:nvPr/>
        </p:nvSpPr>
        <p:spPr>
          <a:xfrm>
            <a:off x="868680" y="3977640"/>
            <a:ext cx="4846320" cy="658368"/>
          </a:xfrm>
          <a:prstGeom prst="rect">
            <a:avLst/>
          </a:prstGeom>
          <a:noFill/>
          <a:ln/>
        </p:spPr>
        <p:txBody>
          <a:bodyPr wrap="square" lIns="0" tIns="0" rIns="0" bIns="0" rtlCol="0" anchor="ctr"/>
          <a:lstStyle/>
          <a:p>
            <a:pPr algn="ctr" indent="0" marL="0">
              <a:buNone/>
            </a:pPr>
            <a:r>
              <a:rPr lang="en-US" sz="1300" dirty="0">
                <a:solidFill>
                  <a:srgbClr val="FFFFFF"/>
                </a:solidFill>
                <a:latin typeface="Courier New" pitchFamily="34" charset="0"/>
                <a:ea typeface="Courier New" pitchFamily="34" charset="-122"/>
                <a:cs typeface="Courier New" pitchFamily="34" charset="-120"/>
              </a:rPr>
              <a:t>grad = −E[ A · ∇log π ] + 0.001 · ∇KL(π‖π_ref)</a:t>
            </a:r>
            <a:endParaRPr lang="en-US" sz="1300" dirty="0"/>
          </a:p>
        </p:txBody>
      </p:sp>
      <p:sp>
        <p:nvSpPr>
          <p:cNvPr id="9" name="Text 7"/>
          <p:cNvSpPr/>
          <p:nvPr/>
        </p:nvSpPr>
        <p:spPr>
          <a:xfrm>
            <a:off x="868680" y="4754880"/>
            <a:ext cx="4846320" cy="457200"/>
          </a:xfrm>
          <a:prstGeom prst="rect">
            <a:avLst/>
          </a:prstGeom>
          <a:noFill/>
          <a:ln/>
        </p:spPr>
        <p:txBody>
          <a:bodyPr wrap="square" lIns="0" tIns="0" rIns="0" bIns="0" rtlCol="0" anchor="ctr"/>
          <a:lstStyle/>
          <a:p>
            <a:pPr indent="0" marL="0">
              <a:buNone/>
            </a:pPr>
            <a:r>
              <a:rPr lang="en-US" sz="1250" b="1" i="1" dirty="0">
                <a:solidFill>
                  <a:srgbClr val="2A9D8F"/>
                </a:solidFill>
                <a:latin typeface="Calibri" pitchFamily="34" charset="0"/>
                <a:ea typeface="Calibri" pitchFamily="34" charset="-122"/>
                <a:cs typeface="Calibri" pitchFamily="34" charset="-120"/>
              </a:rPr>
              <a:t>In effect: REINFORCE with a group baseline and a weak KL pull.</a:t>
            </a:r>
            <a:endParaRPr lang="en-US" sz="1250" dirty="0"/>
          </a:p>
        </p:txBody>
      </p:sp>
      <p:sp>
        <p:nvSpPr>
          <p:cNvPr id="10" name="Shape 8"/>
          <p:cNvSpPr/>
          <p:nvPr/>
        </p:nvSpPr>
        <p:spPr>
          <a:xfrm>
            <a:off x="6400800" y="1508760"/>
            <a:ext cx="5212080" cy="3977640"/>
          </a:xfrm>
          <a:prstGeom prst="roundRect">
            <a:avLst>
              <a:gd name="adj" fmla="val 920"/>
            </a:avLst>
          </a:prstGeom>
          <a:solidFill>
            <a:srgbClr val="0F1E3D"/>
          </a:solidFill>
          <a:ln w="12700">
            <a:solidFill>
              <a:srgbClr val="0F1E3D"/>
            </a:solidFill>
            <a:prstDash val="solid"/>
          </a:ln>
          <a:effectLst>
            <a:outerShdw sx="100000" sy="100000" kx="0" ky="0" algn="bl" rotWithShape="0" blurRad="101600" dist="12700" dir="5400000">
              <a:srgbClr val="9AA7B4">
                <a:alpha val="22000"/>
              </a:srgbClr>
            </a:outerShdw>
          </a:effectLst>
        </p:spPr>
      </p:sp>
      <p:sp>
        <p:nvSpPr>
          <p:cNvPr id="11" name="Text 9"/>
          <p:cNvSpPr/>
          <p:nvPr/>
        </p:nvSpPr>
        <p:spPr>
          <a:xfrm>
            <a:off x="6720840" y="1737360"/>
            <a:ext cx="4572000" cy="274320"/>
          </a:xfrm>
          <a:prstGeom prst="rect">
            <a:avLst/>
          </a:prstGeom>
          <a:noFill/>
          <a:ln/>
        </p:spPr>
        <p:txBody>
          <a:bodyPr wrap="square" lIns="0" tIns="0" rIns="0" bIns="0" rtlCol="0" anchor="ctr"/>
          <a:lstStyle/>
          <a:p>
            <a:pPr indent="0" marL="0">
              <a:buNone/>
            </a:pPr>
            <a:r>
              <a:rPr lang="en-US" sz="1500" b="1" dirty="0">
                <a:solidFill>
                  <a:srgbClr val="E8871E"/>
                </a:solidFill>
                <a:latin typeface="Cambria" pitchFamily="34" charset="0"/>
                <a:ea typeface="Cambria" pitchFamily="34" charset="-122"/>
                <a:cs typeface="Cambria" pitchFamily="34" charset="-120"/>
              </a:rPr>
              <a:t>Why that is load-bearing</a:t>
            </a:r>
            <a:endParaRPr lang="en-US" sz="1500" dirty="0"/>
          </a:p>
        </p:txBody>
      </p:sp>
      <p:sp>
        <p:nvSpPr>
          <p:cNvPr id="12" name="Text 10"/>
          <p:cNvSpPr/>
          <p:nvPr/>
        </p:nvSpPr>
        <p:spPr>
          <a:xfrm>
            <a:off x="6720840" y="2121408"/>
            <a:ext cx="457200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Nothing limits the step. There is no effective trust region, and kl_loss_coef 0.001 is far too weak to be one — terminal KLs of 0.09, 0.49 and 3.26 were all reached.</a:t>
            </a:r>
            <a:endParaRPr lang="en-US" sz="1300" dirty="0"/>
          </a:p>
        </p:txBody>
      </p:sp>
      <p:sp>
        <p:nvSpPr>
          <p:cNvPr id="13" name="Text 11"/>
          <p:cNvSpPr/>
          <p:nvPr/>
        </p:nvSpPr>
        <p:spPr>
          <a:xfrm>
            <a:off x="6720840" y="3246120"/>
            <a:ext cx="4572000" cy="192024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CBD8E8"/>
                </a:solidFill>
                <a:latin typeface="Calibri" pitchFamily="34" charset="0"/>
                <a:ea typeface="Calibri" pitchFamily="34" charset="-122"/>
                <a:cs typeface="Calibri" pitchFamily="34" charset="-120"/>
              </a:rPr>
              <a:t>the dose–response is clean: KL grows freely, so each checkpoint honestly samples “policy at distance d”</a:t>
            </a:r>
            <a:endParaRPr lang="en-US" sz="1250" dirty="0"/>
          </a:p>
          <a:p>
            <a:pPr marL="342900" indent="-342900">
              <a:spcAft>
                <a:spcPts val="700"/>
              </a:spcAft>
              <a:buSzPct val="100000"/>
              <a:buChar char="•"/>
            </a:pPr>
            <a:r>
              <a:rPr lang="en-US" sz="1250" dirty="0">
                <a:solidFill>
                  <a:srgbClr val="CBD8E8"/>
                </a:solidFill>
                <a:latin typeface="Calibri" pitchFamily="34" charset="0"/>
                <a:ea typeface="Calibri" pitchFamily="34" charset="-122"/>
                <a:cs typeface="Calibri" pitchFamily="34" charset="-120"/>
              </a:rPr>
              <a:t>two learning rates 3.3× apart agree to 0.002 at matched KL</a:t>
            </a:r>
            <a:endParaRPr lang="en-US" sz="1250" dirty="0"/>
          </a:p>
          <a:p>
            <a:pPr marL="342900" indent="-342900">
              <a:spcAft>
                <a:spcPts val="700"/>
              </a:spcAft>
              <a:buSzPct val="100000"/>
              <a:buChar char="•"/>
            </a:pPr>
            <a:r>
              <a:rPr lang="en-US" sz="1250" dirty="0">
                <a:solidFill>
                  <a:srgbClr val="CBD8E8"/>
                </a:solidFill>
                <a:latin typeface="Calibri" pitchFamily="34" charset="0"/>
                <a:ea typeface="Calibri" pitchFamily="34" charset="-122"/>
                <a:cs typeface="Calibri" pitchFamily="34" charset="-120"/>
              </a:rPr>
              <a:t>the diversity gates had to do the stopping — nothing in the optimiser was going to</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74320"/>
            <a:ext cx="11064240" cy="713232"/>
          </a:xfrm>
          <a:prstGeom prst="rect">
            <a:avLst/>
          </a:prstGeom>
          <a:noFill/>
          <a:ln/>
        </p:spPr>
        <p:txBody>
          <a:bodyPr wrap="square" lIns="0" tIns="0" rIns="0" bIns="0" rtlCol="0" anchor="t"/>
          <a:lstStyle/>
          <a:p>
            <a:pPr indent="0" marL="0">
              <a:buNone/>
            </a:pPr>
            <a:r>
              <a:rPr lang="en-US" sz="2800" b="1" dirty="0">
                <a:solidFill>
                  <a:srgbClr val="0F1E3D"/>
                </a:solidFill>
                <a:latin typeface="Cambria" pitchFamily="34" charset="0"/>
                <a:ea typeface="Cambria" pitchFamily="34" charset="-122"/>
                <a:cs typeface="Cambria" pitchFamily="34" charset="-120"/>
              </a:rPr>
              <a:t>Ten reward designs</a:t>
            </a:r>
            <a:endParaRPr lang="en-US" sz="2800" dirty="0"/>
          </a:p>
        </p:txBody>
      </p:sp>
      <p:sp>
        <p:nvSpPr>
          <p:cNvPr id="3" name="Text 1"/>
          <p:cNvSpPr/>
          <p:nvPr/>
        </p:nvSpPr>
        <p:spPr>
          <a:xfrm>
            <a:off x="548640" y="1024128"/>
            <a:ext cx="11064240" cy="347472"/>
          </a:xfrm>
          <a:prstGeom prst="rect">
            <a:avLst/>
          </a:prstGeom>
          <a:noFill/>
          <a:ln/>
        </p:spPr>
        <p:txBody>
          <a:bodyPr wrap="square" lIns="0" tIns="0" rIns="0" bIns="0" rtlCol="0" anchor="ctr"/>
          <a:lstStyle/>
          <a:p>
            <a:pPr indent="0" marL="0">
              <a:buNone/>
            </a:pPr>
            <a:r>
              <a:rPr lang="en-US" sz="1350" i="1" dirty="0">
                <a:solidFill>
                  <a:srgbClr val="6B7A8F"/>
                </a:solidFill>
                <a:latin typeface="Calibri" pitchFamily="34" charset="0"/>
                <a:ea typeface="Calibri" pitchFamily="34" charset="-122"/>
                <a:cs typeface="Calibri" pitchFamily="34" charset="-120"/>
              </a:rPr>
              <a:t>Everything operates on the sections of one rollout, never on rollouts of a group</a:t>
            </a:r>
            <a:endParaRPr lang="en-US" sz="1350" dirty="0"/>
          </a:p>
        </p:txBody>
      </p:sp>
      <p:sp>
        <p:nvSpPr>
          <p:cNvPr id="4" name="Shape 2"/>
          <p:cNvSpPr/>
          <p:nvPr/>
        </p:nvSpPr>
        <p:spPr>
          <a:xfrm>
            <a:off x="548640" y="1481328"/>
            <a:ext cx="11064240" cy="457200"/>
          </a:xfrm>
          <a:prstGeom prst="roundRect">
            <a:avLst>
              <a:gd name="adj" fmla="val 8000"/>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5" name="Shape 3"/>
          <p:cNvSpPr/>
          <p:nvPr/>
        </p:nvSpPr>
        <p:spPr>
          <a:xfrm>
            <a:off x="713232" y="1572768"/>
            <a:ext cx="713232" cy="274320"/>
          </a:xfrm>
          <a:prstGeom prst="roundRect">
            <a:avLst>
              <a:gd name="adj" fmla="val 20000"/>
            </a:avLst>
          </a:prstGeom>
          <a:solidFill>
            <a:srgbClr val="2A9D8F"/>
          </a:solidFill>
          <a:ln w="12700">
            <a:solidFill>
              <a:srgbClr val="2A9D8F"/>
            </a:solidFill>
            <a:prstDash val="solid"/>
          </a:ln>
        </p:spPr>
      </p:sp>
      <p:sp>
        <p:nvSpPr>
          <p:cNvPr id="6" name="Text 4"/>
          <p:cNvSpPr/>
          <p:nvPr/>
        </p:nvSpPr>
        <p:spPr>
          <a:xfrm>
            <a:off x="713232" y="1572768"/>
            <a:ext cx="71323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M-C</a:t>
            </a:r>
            <a:endParaRPr lang="en-US" sz="1100" dirty="0"/>
          </a:p>
        </p:txBody>
      </p:sp>
      <p:sp>
        <p:nvSpPr>
          <p:cNvPr id="7" name="Text 5"/>
          <p:cNvSpPr/>
          <p:nvPr/>
        </p:nvSpPr>
        <p:spPr>
          <a:xfrm>
            <a:off x="1572768" y="1481328"/>
            <a:ext cx="7863840" cy="457200"/>
          </a:xfrm>
          <a:prstGeom prst="rect">
            <a:avLst/>
          </a:prstGeom>
          <a:noFill/>
          <a:ln/>
        </p:spPr>
        <p:txBody>
          <a:bodyPr wrap="square" lIns="0" tIns="0" rIns="0" bIns="0" rtlCol="0" anchor="ctr"/>
          <a:lstStyle/>
          <a:p>
            <a:pPr indent="0" marL="0">
              <a:buNone/>
            </a:pPr>
            <a:r>
              <a:rPr lang="en-US" sz="1250" dirty="0">
                <a:solidFill>
                  <a:srgbClr val="16202E"/>
                </a:solidFill>
                <a:latin typeface="Calibri" pitchFamily="34" charset="0"/>
                <a:ea typeface="Calibri" pitchFamily="34" charset="-122"/>
                <a:cs typeface="Calibri" pitchFamily="34" charset="-120"/>
              </a:rPr>
              <a:t>section k's marginal contribution to its own rollout's consensus</a:t>
            </a:r>
            <a:endParaRPr lang="en-US" sz="1250" dirty="0"/>
          </a:p>
        </p:txBody>
      </p:sp>
      <p:sp>
        <p:nvSpPr>
          <p:cNvPr id="8" name="Text 6"/>
          <p:cNvSpPr/>
          <p:nvPr/>
        </p:nvSpPr>
        <p:spPr>
          <a:xfrm>
            <a:off x="9555480" y="1481328"/>
            <a:ext cx="1874520" cy="457200"/>
          </a:xfrm>
          <a:prstGeom prst="rect">
            <a:avLst/>
          </a:prstGeom>
          <a:noFill/>
          <a:ln/>
        </p:spPr>
        <p:txBody>
          <a:bodyPr wrap="square" lIns="0" tIns="0" rIns="0" bIns="0" rtlCol="0" anchor="ctr"/>
          <a:lstStyle/>
          <a:p>
            <a:pPr algn="r" indent="0" marL="0">
              <a:buNone/>
            </a:pPr>
            <a:r>
              <a:rPr lang="en-US" sz="1100" i="1" dirty="0">
                <a:solidFill>
                  <a:srgbClr val="6B7A8F"/>
                </a:solidFill>
                <a:latin typeface="Calibri" pitchFamily="34" charset="0"/>
                <a:ea typeface="Calibri" pitchFamily="34" charset="-122"/>
                <a:cs typeface="Calibri" pitchFamily="34" charset="-120"/>
              </a:rPr>
              <a:t>per-section</a:t>
            </a:r>
            <a:endParaRPr lang="en-US" sz="1100" dirty="0"/>
          </a:p>
        </p:txBody>
      </p:sp>
      <p:sp>
        <p:nvSpPr>
          <p:cNvPr id="9" name="Shape 7"/>
          <p:cNvSpPr/>
          <p:nvPr/>
        </p:nvSpPr>
        <p:spPr>
          <a:xfrm>
            <a:off x="548640" y="1979676"/>
            <a:ext cx="11064240" cy="457200"/>
          </a:xfrm>
          <a:prstGeom prst="roundRect">
            <a:avLst>
              <a:gd name="adj" fmla="val 8000"/>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10" name="Shape 8"/>
          <p:cNvSpPr/>
          <p:nvPr/>
        </p:nvSpPr>
        <p:spPr>
          <a:xfrm>
            <a:off x="713232" y="2071116"/>
            <a:ext cx="713232" cy="274320"/>
          </a:xfrm>
          <a:prstGeom prst="roundRect">
            <a:avLst>
              <a:gd name="adj" fmla="val 20000"/>
            </a:avLst>
          </a:prstGeom>
          <a:solidFill>
            <a:srgbClr val="2A9D8F"/>
          </a:solidFill>
          <a:ln w="12700">
            <a:solidFill>
              <a:srgbClr val="2A9D8F"/>
            </a:solidFill>
            <a:prstDash val="solid"/>
          </a:ln>
        </p:spPr>
      </p:sp>
      <p:sp>
        <p:nvSpPr>
          <p:cNvPr id="11" name="Text 9"/>
          <p:cNvSpPr/>
          <p:nvPr/>
        </p:nvSpPr>
        <p:spPr>
          <a:xfrm>
            <a:off x="713232" y="2071116"/>
            <a:ext cx="71323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M-F</a:t>
            </a:r>
            <a:endParaRPr lang="en-US" sz="1100" dirty="0"/>
          </a:p>
        </p:txBody>
      </p:sp>
      <p:sp>
        <p:nvSpPr>
          <p:cNvPr id="12" name="Text 10"/>
          <p:cNvSpPr/>
          <p:nvPr/>
        </p:nvSpPr>
        <p:spPr>
          <a:xfrm>
            <a:off x="1572768" y="1979676"/>
            <a:ext cx="7863840" cy="457200"/>
          </a:xfrm>
          <a:prstGeom prst="rect">
            <a:avLst/>
          </a:prstGeom>
          <a:noFill/>
          <a:ln/>
        </p:spPr>
        <p:txBody>
          <a:bodyPr wrap="square" lIns="0" tIns="0" rIns="0" bIns="0" rtlCol="0" anchor="ctr"/>
          <a:lstStyle/>
          <a:p>
            <a:pPr indent="0" marL="0">
              <a:buNone/>
            </a:pPr>
            <a:r>
              <a:rPr lang="en-US" sz="1250" dirty="0">
                <a:solidFill>
                  <a:srgbClr val="16202E"/>
                </a:solidFill>
                <a:latin typeface="Calibri" pitchFamily="34" charset="0"/>
                <a:ea typeface="Calibri" pitchFamily="34" charset="-122"/>
                <a:cs typeface="Calibri" pitchFamily="34" charset="-120"/>
              </a:rPr>
              <a:t>F1 of the last section — the selector</a:t>
            </a:r>
            <a:endParaRPr lang="en-US" sz="1250" dirty="0"/>
          </a:p>
        </p:txBody>
      </p:sp>
      <p:sp>
        <p:nvSpPr>
          <p:cNvPr id="13" name="Text 11"/>
          <p:cNvSpPr/>
          <p:nvPr/>
        </p:nvSpPr>
        <p:spPr>
          <a:xfrm>
            <a:off x="9555480" y="1979676"/>
            <a:ext cx="1874520" cy="457200"/>
          </a:xfrm>
          <a:prstGeom prst="rect">
            <a:avLst/>
          </a:prstGeom>
          <a:noFill/>
          <a:ln/>
        </p:spPr>
        <p:txBody>
          <a:bodyPr wrap="square" lIns="0" tIns="0" rIns="0" bIns="0" rtlCol="0" anchor="ctr"/>
          <a:lstStyle/>
          <a:p>
            <a:pPr algn="r" indent="0" marL="0">
              <a:buNone/>
            </a:pPr>
            <a:r>
              <a:rPr lang="en-US" sz="1100" i="1" dirty="0">
                <a:solidFill>
                  <a:srgbClr val="6B7A8F"/>
                </a:solidFill>
                <a:latin typeface="Calibri" pitchFamily="34" charset="0"/>
                <a:ea typeface="Calibri" pitchFamily="34" charset="-122"/>
                <a:cs typeface="Calibri" pitchFamily="34" charset="-120"/>
              </a:rPr>
              <a:t>rollout scalar</a:t>
            </a:r>
            <a:endParaRPr lang="en-US" sz="1100" dirty="0"/>
          </a:p>
        </p:txBody>
      </p:sp>
      <p:sp>
        <p:nvSpPr>
          <p:cNvPr id="14" name="Shape 12"/>
          <p:cNvSpPr/>
          <p:nvPr/>
        </p:nvSpPr>
        <p:spPr>
          <a:xfrm>
            <a:off x="548640" y="2478024"/>
            <a:ext cx="11064240" cy="457200"/>
          </a:xfrm>
          <a:prstGeom prst="roundRect">
            <a:avLst>
              <a:gd name="adj" fmla="val 8000"/>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15" name="Shape 13"/>
          <p:cNvSpPr/>
          <p:nvPr/>
        </p:nvSpPr>
        <p:spPr>
          <a:xfrm>
            <a:off x="713232" y="2569464"/>
            <a:ext cx="713232" cy="274320"/>
          </a:xfrm>
          <a:prstGeom prst="roundRect">
            <a:avLst>
              <a:gd name="adj" fmla="val 20000"/>
            </a:avLst>
          </a:prstGeom>
          <a:solidFill>
            <a:srgbClr val="2A9D8F"/>
          </a:solidFill>
          <a:ln w="12700">
            <a:solidFill>
              <a:srgbClr val="2A9D8F"/>
            </a:solidFill>
            <a:prstDash val="solid"/>
          </a:ln>
        </p:spPr>
      </p:sp>
      <p:sp>
        <p:nvSpPr>
          <p:cNvPr id="16" name="Text 14"/>
          <p:cNvSpPr/>
          <p:nvPr/>
        </p:nvSpPr>
        <p:spPr>
          <a:xfrm>
            <a:off x="713232" y="2569464"/>
            <a:ext cx="71323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M-B</a:t>
            </a:r>
            <a:endParaRPr lang="en-US" sz="1100" dirty="0"/>
          </a:p>
        </p:txBody>
      </p:sp>
      <p:sp>
        <p:nvSpPr>
          <p:cNvPr id="17" name="Text 15"/>
          <p:cNvSpPr/>
          <p:nvPr/>
        </p:nvSpPr>
        <p:spPr>
          <a:xfrm>
            <a:off x="1572768" y="2478024"/>
            <a:ext cx="7863840" cy="457200"/>
          </a:xfrm>
          <a:prstGeom prst="rect">
            <a:avLst/>
          </a:prstGeom>
          <a:noFill/>
          <a:ln/>
        </p:spPr>
        <p:txBody>
          <a:bodyPr wrap="square" lIns="0" tIns="0" rIns="0" bIns="0" rtlCol="0" anchor="ctr"/>
          <a:lstStyle/>
          <a:p>
            <a:pPr indent="0" marL="0">
              <a:buNone/>
            </a:pPr>
            <a:r>
              <a:rPr lang="en-US" sz="1250" dirty="0">
                <a:solidFill>
                  <a:srgbClr val="16202E"/>
                </a:solidFill>
                <a:latin typeface="Calibri" pitchFamily="34" charset="0"/>
                <a:ea typeface="Calibri" pitchFamily="34" charset="-122"/>
                <a:cs typeface="Calibri" pitchFamily="34" charset="-120"/>
              </a:rPr>
              <a:t>F1 of the best section (ORACLE) — the ceiling</a:t>
            </a:r>
            <a:endParaRPr lang="en-US" sz="1250" dirty="0"/>
          </a:p>
        </p:txBody>
      </p:sp>
      <p:sp>
        <p:nvSpPr>
          <p:cNvPr id="18" name="Text 16"/>
          <p:cNvSpPr/>
          <p:nvPr/>
        </p:nvSpPr>
        <p:spPr>
          <a:xfrm>
            <a:off x="9555480" y="2478024"/>
            <a:ext cx="1874520" cy="457200"/>
          </a:xfrm>
          <a:prstGeom prst="rect">
            <a:avLst/>
          </a:prstGeom>
          <a:noFill/>
          <a:ln/>
        </p:spPr>
        <p:txBody>
          <a:bodyPr wrap="square" lIns="0" tIns="0" rIns="0" bIns="0" rtlCol="0" anchor="ctr"/>
          <a:lstStyle/>
          <a:p>
            <a:pPr algn="r" indent="0" marL="0">
              <a:buNone/>
            </a:pPr>
            <a:r>
              <a:rPr lang="en-US" sz="1100" i="1" dirty="0">
                <a:solidFill>
                  <a:srgbClr val="6B7A8F"/>
                </a:solidFill>
                <a:latin typeface="Calibri" pitchFamily="34" charset="0"/>
                <a:ea typeface="Calibri" pitchFamily="34" charset="-122"/>
                <a:cs typeface="Calibri" pitchFamily="34" charset="-120"/>
              </a:rPr>
              <a:t>rollout scalar</a:t>
            </a:r>
            <a:endParaRPr lang="en-US" sz="1100" dirty="0"/>
          </a:p>
        </p:txBody>
      </p:sp>
      <p:sp>
        <p:nvSpPr>
          <p:cNvPr id="19" name="Shape 17"/>
          <p:cNvSpPr/>
          <p:nvPr/>
        </p:nvSpPr>
        <p:spPr>
          <a:xfrm>
            <a:off x="548640" y="2976372"/>
            <a:ext cx="11064240" cy="457200"/>
          </a:xfrm>
          <a:prstGeom prst="roundRect">
            <a:avLst>
              <a:gd name="adj" fmla="val 8000"/>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20" name="Shape 18"/>
          <p:cNvSpPr/>
          <p:nvPr/>
        </p:nvSpPr>
        <p:spPr>
          <a:xfrm>
            <a:off x="713232" y="3067812"/>
            <a:ext cx="713232" cy="274320"/>
          </a:xfrm>
          <a:prstGeom prst="roundRect">
            <a:avLst>
              <a:gd name="adj" fmla="val 20000"/>
            </a:avLst>
          </a:prstGeom>
          <a:solidFill>
            <a:srgbClr val="6B7A8F"/>
          </a:solidFill>
          <a:ln w="12700">
            <a:solidFill>
              <a:srgbClr val="6B7A8F"/>
            </a:solidFill>
            <a:prstDash val="solid"/>
          </a:ln>
        </p:spPr>
      </p:sp>
      <p:sp>
        <p:nvSpPr>
          <p:cNvPr id="21" name="Text 19"/>
          <p:cNvSpPr/>
          <p:nvPr/>
        </p:nvSpPr>
        <p:spPr>
          <a:xfrm>
            <a:off x="713232" y="3067812"/>
            <a:ext cx="71323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M-BC</a:t>
            </a:r>
            <a:endParaRPr lang="en-US" sz="1100" dirty="0"/>
          </a:p>
        </p:txBody>
      </p:sp>
      <p:sp>
        <p:nvSpPr>
          <p:cNvPr id="22" name="Text 20"/>
          <p:cNvSpPr/>
          <p:nvPr/>
        </p:nvSpPr>
        <p:spPr>
          <a:xfrm>
            <a:off x="1572768" y="2976372"/>
            <a:ext cx="7863840" cy="457200"/>
          </a:xfrm>
          <a:prstGeom prst="rect">
            <a:avLst/>
          </a:prstGeom>
          <a:noFill/>
          <a:ln/>
        </p:spPr>
        <p:txBody>
          <a:bodyPr wrap="square" lIns="0" tIns="0" rIns="0" bIns="0" rtlCol="0" anchor="ctr"/>
          <a:lstStyle/>
          <a:p>
            <a:pPr indent="0" marL="0">
              <a:buNone/>
            </a:pPr>
            <a:r>
              <a:rPr lang="en-US" sz="1250" dirty="0">
                <a:solidFill>
                  <a:srgbClr val="16202E"/>
                </a:solidFill>
                <a:latin typeface="Calibri" pitchFamily="34" charset="0"/>
                <a:ea typeface="Calibri" pitchFamily="34" charset="-122"/>
                <a:cs typeface="Calibri" pitchFamily="34" charset="-120"/>
              </a:rPr>
              <a:t>GRPO(best) + λ·GRPO(consensus)</a:t>
            </a:r>
            <a:endParaRPr lang="en-US" sz="1250" dirty="0"/>
          </a:p>
        </p:txBody>
      </p:sp>
      <p:sp>
        <p:nvSpPr>
          <p:cNvPr id="23" name="Text 21"/>
          <p:cNvSpPr/>
          <p:nvPr/>
        </p:nvSpPr>
        <p:spPr>
          <a:xfrm>
            <a:off x="9555480" y="2976372"/>
            <a:ext cx="1874520" cy="457200"/>
          </a:xfrm>
          <a:prstGeom prst="rect">
            <a:avLst/>
          </a:prstGeom>
          <a:noFill/>
          <a:ln/>
        </p:spPr>
        <p:txBody>
          <a:bodyPr wrap="square" lIns="0" tIns="0" rIns="0" bIns="0" rtlCol="0" anchor="ctr"/>
          <a:lstStyle/>
          <a:p>
            <a:pPr algn="r" indent="0" marL="0">
              <a:buNone/>
            </a:pPr>
            <a:r>
              <a:rPr lang="en-US" sz="1100" i="1" dirty="0">
                <a:solidFill>
                  <a:srgbClr val="6B7A8F"/>
                </a:solidFill>
                <a:latin typeface="Calibri" pitchFamily="34" charset="0"/>
                <a:ea typeface="Calibri" pitchFamily="34" charset="-122"/>
                <a:cs typeface="Calibri" pitchFamily="34" charset="-120"/>
              </a:rPr>
              <a:t>rollout scalar</a:t>
            </a:r>
            <a:endParaRPr lang="en-US" sz="1100" dirty="0"/>
          </a:p>
        </p:txBody>
      </p:sp>
      <p:sp>
        <p:nvSpPr>
          <p:cNvPr id="24" name="Shape 22"/>
          <p:cNvSpPr/>
          <p:nvPr/>
        </p:nvSpPr>
        <p:spPr>
          <a:xfrm>
            <a:off x="548640" y="3474720"/>
            <a:ext cx="11064240" cy="457200"/>
          </a:xfrm>
          <a:prstGeom prst="roundRect">
            <a:avLst>
              <a:gd name="adj" fmla="val 8000"/>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25" name="Shape 23"/>
          <p:cNvSpPr/>
          <p:nvPr/>
        </p:nvSpPr>
        <p:spPr>
          <a:xfrm>
            <a:off x="713232" y="3566160"/>
            <a:ext cx="713232" cy="274320"/>
          </a:xfrm>
          <a:prstGeom prst="roundRect">
            <a:avLst>
              <a:gd name="adj" fmla="val 20000"/>
            </a:avLst>
          </a:prstGeom>
          <a:solidFill>
            <a:srgbClr val="6B7A8F"/>
          </a:solidFill>
          <a:ln w="12700">
            <a:solidFill>
              <a:srgbClr val="6B7A8F"/>
            </a:solidFill>
            <a:prstDash val="solid"/>
          </a:ln>
        </p:spPr>
      </p:sp>
      <p:sp>
        <p:nvSpPr>
          <p:cNvPr id="26" name="Text 24"/>
          <p:cNvSpPr/>
          <p:nvPr/>
        </p:nvSpPr>
        <p:spPr>
          <a:xfrm>
            <a:off x="713232" y="3566160"/>
            <a:ext cx="71323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M-FC</a:t>
            </a:r>
            <a:endParaRPr lang="en-US" sz="1100" dirty="0"/>
          </a:p>
        </p:txBody>
      </p:sp>
      <p:sp>
        <p:nvSpPr>
          <p:cNvPr id="27" name="Text 25"/>
          <p:cNvSpPr/>
          <p:nvPr/>
        </p:nvSpPr>
        <p:spPr>
          <a:xfrm>
            <a:off x="1572768" y="3474720"/>
            <a:ext cx="7863840" cy="457200"/>
          </a:xfrm>
          <a:prstGeom prst="rect">
            <a:avLst/>
          </a:prstGeom>
          <a:noFill/>
          <a:ln/>
        </p:spPr>
        <p:txBody>
          <a:bodyPr wrap="square" lIns="0" tIns="0" rIns="0" bIns="0" rtlCol="0" anchor="ctr"/>
          <a:lstStyle/>
          <a:p>
            <a:pPr indent="0" marL="0">
              <a:buNone/>
            </a:pPr>
            <a:r>
              <a:rPr lang="en-US" sz="1250" dirty="0">
                <a:solidFill>
                  <a:srgbClr val="16202E"/>
                </a:solidFill>
                <a:latin typeface="Calibri" pitchFamily="34" charset="0"/>
                <a:ea typeface="Calibri" pitchFamily="34" charset="-122"/>
                <a:cs typeface="Calibri" pitchFamily="34" charset="-120"/>
              </a:rPr>
              <a:t>GRPO(last) + λ·GRPO(consensus) — synthesis</a:t>
            </a:r>
            <a:endParaRPr lang="en-US" sz="1250" dirty="0"/>
          </a:p>
        </p:txBody>
      </p:sp>
      <p:sp>
        <p:nvSpPr>
          <p:cNvPr id="28" name="Text 26"/>
          <p:cNvSpPr/>
          <p:nvPr/>
        </p:nvSpPr>
        <p:spPr>
          <a:xfrm>
            <a:off x="9555480" y="3474720"/>
            <a:ext cx="1874520" cy="457200"/>
          </a:xfrm>
          <a:prstGeom prst="rect">
            <a:avLst/>
          </a:prstGeom>
          <a:noFill/>
          <a:ln/>
        </p:spPr>
        <p:txBody>
          <a:bodyPr wrap="square" lIns="0" tIns="0" rIns="0" bIns="0" rtlCol="0" anchor="ctr"/>
          <a:lstStyle/>
          <a:p>
            <a:pPr algn="r" indent="0" marL="0">
              <a:buNone/>
            </a:pPr>
            <a:r>
              <a:rPr lang="en-US" sz="1100" i="1" dirty="0">
                <a:solidFill>
                  <a:srgbClr val="6B7A8F"/>
                </a:solidFill>
                <a:latin typeface="Calibri" pitchFamily="34" charset="0"/>
                <a:ea typeface="Calibri" pitchFamily="34" charset="-122"/>
                <a:cs typeface="Calibri" pitchFamily="34" charset="-120"/>
              </a:rPr>
              <a:t>rollout scalar</a:t>
            </a:r>
            <a:endParaRPr lang="en-US" sz="1100" dirty="0"/>
          </a:p>
        </p:txBody>
      </p:sp>
      <p:sp>
        <p:nvSpPr>
          <p:cNvPr id="29" name="Shape 27"/>
          <p:cNvSpPr/>
          <p:nvPr/>
        </p:nvSpPr>
        <p:spPr>
          <a:xfrm>
            <a:off x="548640" y="3973068"/>
            <a:ext cx="11064240" cy="457200"/>
          </a:xfrm>
          <a:prstGeom prst="roundRect">
            <a:avLst>
              <a:gd name="adj" fmla="val 8000"/>
            </a:avLst>
          </a:prstGeom>
          <a:solidFill>
            <a:srgbClr val="FDF1E1"/>
          </a:solidFill>
          <a:ln w="12700">
            <a:solidFill>
              <a:srgbClr val="FDF1E1"/>
            </a:solidFill>
            <a:prstDash val="solid"/>
          </a:ln>
          <a:effectLst>
            <a:outerShdw sx="100000" sy="100000" kx="0" ky="0" algn="bl" rotWithShape="0" blurRad="101600" dist="12700" dir="5400000">
              <a:srgbClr val="9AA7B4">
                <a:alpha val="22000"/>
              </a:srgbClr>
            </a:outerShdw>
          </a:effectLst>
        </p:spPr>
      </p:sp>
      <p:sp>
        <p:nvSpPr>
          <p:cNvPr id="30" name="Shape 28"/>
          <p:cNvSpPr/>
          <p:nvPr/>
        </p:nvSpPr>
        <p:spPr>
          <a:xfrm>
            <a:off x="713232" y="4064508"/>
            <a:ext cx="713232" cy="274320"/>
          </a:xfrm>
          <a:prstGeom prst="roundRect">
            <a:avLst>
              <a:gd name="adj" fmla="val 20000"/>
            </a:avLst>
          </a:prstGeom>
          <a:solidFill>
            <a:srgbClr val="E8871E"/>
          </a:solidFill>
          <a:ln w="12700">
            <a:solidFill>
              <a:srgbClr val="E8871E"/>
            </a:solidFill>
            <a:prstDash val="solid"/>
          </a:ln>
        </p:spPr>
      </p:sp>
      <p:sp>
        <p:nvSpPr>
          <p:cNvPr id="31" name="Text 29"/>
          <p:cNvSpPr/>
          <p:nvPr/>
        </p:nvSpPr>
        <p:spPr>
          <a:xfrm>
            <a:off x="713232" y="4064508"/>
            <a:ext cx="71323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M-K</a:t>
            </a:r>
            <a:endParaRPr lang="en-US" sz="1100" dirty="0"/>
          </a:p>
        </p:txBody>
      </p:sp>
      <p:sp>
        <p:nvSpPr>
          <p:cNvPr id="32" name="Text 30"/>
          <p:cNvSpPr/>
          <p:nvPr/>
        </p:nvSpPr>
        <p:spPr>
          <a:xfrm>
            <a:off x="1572768" y="3973068"/>
            <a:ext cx="7863840" cy="457200"/>
          </a:xfrm>
          <a:prstGeom prst="rect">
            <a:avLst/>
          </a:prstGeom>
          <a:noFill/>
          <a:ln/>
        </p:spPr>
        <p:txBody>
          <a:bodyPr wrap="square" lIns="0" tIns="0" rIns="0" bIns="0" rtlCol="0" anchor="ctr"/>
          <a:lstStyle/>
          <a:p>
            <a:pPr indent="0" marL="0">
              <a:buNone/>
            </a:pPr>
            <a:r>
              <a:rPr lang="en-US" sz="1250" dirty="0">
                <a:solidFill>
                  <a:srgbClr val="16202E"/>
                </a:solidFill>
                <a:latin typeface="Calibri" pitchFamily="34" charset="0"/>
                <a:ea typeface="Calibri" pitchFamily="34" charset="-122"/>
                <a:cs typeface="Calibri" pitchFamily="34" charset="-120"/>
              </a:rPr>
              <a:t>the rollout's own consensus R-precision — the deployed metric</a:t>
            </a:r>
            <a:endParaRPr lang="en-US" sz="1250" dirty="0"/>
          </a:p>
        </p:txBody>
      </p:sp>
      <p:sp>
        <p:nvSpPr>
          <p:cNvPr id="33" name="Text 31"/>
          <p:cNvSpPr/>
          <p:nvPr/>
        </p:nvSpPr>
        <p:spPr>
          <a:xfrm>
            <a:off x="9555480" y="3973068"/>
            <a:ext cx="1874520" cy="457200"/>
          </a:xfrm>
          <a:prstGeom prst="rect">
            <a:avLst/>
          </a:prstGeom>
          <a:noFill/>
          <a:ln/>
        </p:spPr>
        <p:txBody>
          <a:bodyPr wrap="square" lIns="0" tIns="0" rIns="0" bIns="0" rtlCol="0" anchor="ctr"/>
          <a:lstStyle/>
          <a:p>
            <a:pPr algn="r" indent="0" marL="0">
              <a:buNone/>
            </a:pPr>
            <a:r>
              <a:rPr lang="en-US" sz="1100" i="1" dirty="0">
                <a:solidFill>
                  <a:srgbClr val="6B7A8F"/>
                </a:solidFill>
                <a:latin typeface="Calibri" pitchFamily="34" charset="0"/>
                <a:ea typeface="Calibri" pitchFamily="34" charset="-122"/>
                <a:cs typeface="Calibri" pitchFamily="34" charset="-120"/>
              </a:rPr>
              <a:t>rollout scalar</a:t>
            </a:r>
            <a:endParaRPr lang="en-US" sz="1100" dirty="0"/>
          </a:p>
        </p:txBody>
      </p:sp>
      <p:sp>
        <p:nvSpPr>
          <p:cNvPr id="34" name="Shape 32"/>
          <p:cNvSpPr/>
          <p:nvPr/>
        </p:nvSpPr>
        <p:spPr>
          <a:xfrm>
            <a:off x="548640" y="4471416"/>
            <a:ext cx="11064240" cy="457200"/>
          </a:xfrm>
          <a:prstGeom prst="roundRect">
            <a:avLst>
              <a:gd name="adj" fmla="val 8000"/>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35" name="Shape 33"/>
          <p:cNvSpPr/>
          <p:nvPr/>
        </p:nvSpPr>
        <p:spPr>
          <a:xfrm>
            <a:off x="713232" y="4562856"/>
            <a:ext cx="713232" cy="274320"/>
          </a:xfrm>
          <a:prstGeom prst="roundRect">
            <a:avLst>
              <a:gd name="adj" fmla="val 20000"/>
            </a:avLst>
          </a:prstGeom>
          <a:solidFill>
            <a:srgbClr val="6B7A8F"/>
          </a:solidFill>
          <a:ln w="12700">
            <a:solidFill>
              <a:srgbClr val="6B7A8F"/>
            </a:solidFill>
            <a:prstDash val="solid"/>
          </a:ln>
        </p:spPr>
      </p:sp>
      <p:sp>
        <p:nvSpPr>
          <p:cNvPr id="36" name="Text 34"/>
          <p:cNvSpPr/>
          <p:nvPr/>
        </p:nvSpPr>
        <p:spPr>
          <a:xfrm>
            <a:off x="713232" y="4562856"/>
            <a:ext cx="71323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M-BP</a:t>
            </a:r>
            <a:endParaRPr lang="en-US" sz="1100" dirty="0"/>
          </a:p>
        </p:txBody>
      </p:sp>
      <p:sp>
        <p:nvSpPr>
          <p:cNvPr id="37" name="Text 35"/>
          <p:cNvSpPr/>
          <p:nvPr/>
        </p:nvSpPr>
        <p:spPr>
          <a:xfrm>
            <a:off x="1572768" y="4471416"/>
            <a:ext cx="7863840" cy="457200"/>
          </a:xfrm>
          <a:prstGeom prst="rect">
            <a:avLst/>
          </a:prstGeom>
          <a:noFill/>
          <a:ln/>
        </p:spPr>
        <p:txBody>
          <a:bodyPr wrap="square" lIns="0" tIns="0" rIns="0" bIns="0" rtlCol="0" anchor="ctr"/>
          <a:lstStyle/>
          <a:p>
            <a:pPr indent="0" marL="0">
              <a:buNone/>
            </a:pPr>
            <a:r>
              <a:rPr lang="en-US" sz="1250" dirty="0">
                <a:solidFill>
                  <a:srgbClr val="16202E"/>
                </a:solidFill>
                <a:latin typeface="Calibri" pitchFamily="34" charset="0"/>
                <a:ea typeface="Calibri" pitchFamily="34" charset="-122"/>
                <a:cs typeface="Calibri" pitchFamily="34" charset="-120"/>
              </a:rPr>
              <a:t>M-B + a one-sided floor on the candidate count</a:t>
            </a:r>
            <a:endParaRPr lang="en-US" sz="1250" dirty="0"/>
          </a:p>
        </p:txBody>
      </p:sp>
      <p:sp>
        <p:nvSpPr>
          <p:cNvPr id="38" name="Text 36"/>
          <p:cNvSpPr/>
          <p:nvPr/>
        </p:nvSpPr>
        <p:spPr>
          <a:xfrm>
            <a:off x="9555480" y="4471416"/>
            <a:ext cx="1874520" cy="457200"/>
          </a:xfrm>
          <a:prstGeom prst="rect">
            <a:avLst/>
          </a:prstGeom>
          <a:noFill/>
          <a:ln/>
        </p:spPr>
        <p:txBody>
          <a:bodyPr wrap="square" lIns="0" tIns="0" rIns="0" bIns="0" rtlCol="0" anchor="ctr"/>
          <a:lstStyle/>
          <a:p>
            <a:pPr algn="r" indent="0" marL="0">
              <a:buNone/>
            </a:pPr>
            <a:r>
              <a:rPr lang="en-US" sz="1100" i="1" dirty="0">
                <a:solidFill>
                  <a:srgbClr val="6B7A8F"/>
                </a:solidFill>
                <a:latin typeface="Calibri" pitchFamily="34" charset="0"/>
                <a:ea typeface="Calibri" pitchFamily="34" charset="-122"/>
                <a:cs typeface="Calibri" pitchFamily="34" charset="-120"/>
              </a:rPr>
              <a:t>rollout scalar</a:t>
            </a:r>
            <a:endParaRPr lang="en-US" sz="1100" dirty="0"/>
          </a:p>
        </p:txBody>
      </p:sp>
      <p:sp>
        <p:nvSpPr>
          <p:cNvPr id="39" name="Shape 37"/>
          <p:cNvSpPr/>
          <p:nvPr/>
        </p:nvSpPr>
        <p:spPr>
          <a:xfrm>
            <a:off x="548640" y="4969764"/>
            <a:ext cx="11064240" cy="457200"/>
          </a:xfrm>
          <a:prstGeom prst="roundRect">
            <a:avLst>
              <a:gd name="adj" fmla="val 8000"/>
            </a:avLst>
          </a:prstGeom>
          <a:solidFill>
            <a:srgbClr val="FDF1E1"/>
          </a:solidFill>
          <a:ln w="12700">
            <a:solidFill>
              <a:srgbClr val="FDF1E1"/>
            </a:solidFill>
            <a:prstDash val="solid"/>
          </a:ln>
          <a:effectLst>
            <a:outerShdw sx="100000" sy="100000" kx="0" ky="0" algn="bl" rotWithShape="0" blurRad="101600" dist="12700" dir="5400000">
              <a:srgbClr val="9AA7B4">
                <a:alpha val="22000"/>
              </a:srgbClr>
            </a:outerShdw>
          </a:effectLst>
        </p:spPr>
      </p:sp>
      <p:sp>
        <p:nvSpPr>
          <p:cNvPr id="40" name="Shape 38"/>
          <p:cNvSpPr/>
          <p:nvPr/>
        </p:nvSpPr>
        <p:spPr>
          <a:xfrm>
            <a:off x="713232" y="5061204"/>
            <a:ext cx="713232" cy="274320"/>
          </a:xfrm>
          <a:prstGeom prst="roundRect">
            <a:avLst>
              <a:gd name="adj" fmla="val 20000"/>
            </a:avLst>
          </a:prstGeom>
          <a:solidFill>
            <a:srgbClr val="E8871E"/>
          </a:solidFill>
          <a:ln w="12700">
            <a:solidFill>
              <a:srgbClr val="E8871E"/>
            </a:solidFill>
            <a:prstDash val="solid"/>
          </a:ln>
        </p:spPr>
      </p:sp>
      <p:sp>
        <p:nvSpPr>
          <p:cNvPr id="41" name="Text 39"/>
          <p:cNvSpPr/>
          <p:nvPr/>
        </p:nvSpPr>
        <p:spPr>
          <a:xfrm>
            <a:off x="713232" y="5061204"/>
            <a:ext cx="71323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M-KS2</a:t>
            </a:r>
            <a:endParaRPr lang="en-US" sz="1100" dirty="0"/>
          </a:p>
        </p:txBody>
      </p:sp>
      <p:sp>
        <p:nvSpPr>
          <p:cNvPr id="42" name="Text 40"/>
          <p:cNvSpPr/>
          <p:nvPr/>
        </p:nvSpPr>
        <p:spPr>
          <a:xfrm>
            <a:off x="1572768" y="4969764"/>
            <a:ext cx="7863840" cy="457200"/>
          </a:xfrm>
          <a:prstGeom prst="rect">
            <a:avLst/>
          </a:prstGeom>
          <a:noFill/>
          <a:ln/>
        </p:spPr>
        <p:txBody>
          <a:bodyPr wrap="square" lIns="0" tIns="0" rIns="0" bIns="0" rtlCol="0" anchor="ctr"/>
          <a:lstStyle/>
          <a:p>
            <a:pPr indent="0" marL="0">
              <a:buNone/>
            </a:pPr>
            <a:r>
              <a:rPr lang="en-US" sz="1250" dirty="0">
                <a:solidFill>
                  <a:srgbClr val="16202E"/>
                </a:solidFill>
                <a:latin typeface="Calibri" pitchFamily="34" charset="0"/>
                <a:ea typeface="Calibri" pitchFamily="34" charset="-122"/>
                <a:cs typeface="Calibri" pitchFamily="34" charset="-120"/>
              </a:rPr>
              <a:t>M-K + zero-sum shaping: credit a section for what it added</a:t>
            </a:r>
            <a:endParaRPr lang="en-US" sz="1250" dirty="0"/>
          </a:p>
        </p:txBody>
      </p:sp>
      <p:sp>
        <p:nvSpPr>
          <p:cNvPr id="43" name="Text 41"/>
          <p:cNvSpPr/>
          <p:nvPr/>
        </p:nvSpPr>
        <p:spPr>
          <a:xfrm>
            <a:off x="9555480" y="4969764"/>
            <a:ext cx="1874520" cy="457200"/>
          </a:xfrm>
          <a:prstGeom prst="rect">
            <a:avLst/>
          </a:prstGeom>
          <a:noFill/>
          <a:ln/>
        </p:spPr>
        <p:txBody>
          <a:bodyPr wrap="square" lIns="0" tIns="0" rIns="0" bIns="0" rtlCol="0" anchor="ctr"/>
          <a:lstStyle/>
          <a:p>
            <a:pPr algn="r" indent="0" marL="0">
              <a:buNone/>
            </a:pPr>
            <a:r>
              <a:rPr lang="en-US" sz="1100" i="1" dirty="0">
                <a:solidFill>
                  <a:srgbClr val="6B7A8F"/>
                </a:solidFill>
                <a:latin typeface="Calibri" pitchFamily="34" charset="0"/>
                <a:ea typeface="Calibri" pitchFamily="34" charset="-122"/>
                <a:cs typeface="Calibri" pitchFamily="34" charset="-120"/>
              </a:rPr>
              <a:t>per-section</a:t>
            </a:r>
            <a:endParaRPr lang="en-US" sz="1100" dirty="0"/>
          </a:p>
        </p:txBody>
      </p:sp>
      <p:sp>
        <p:nvSpPr>
          <p:cNvPr id="44" name="Shape 42"/>
          <p:cNvSpPr/>
          <p:nvPr/>
        </p:nvSpPr>
        <p:spPr>
          <a:xfrm>
            <a:off x="548640" y="5468112"/>
            <a:ext cx="11064240" cy="457200"/>
          </a:xfrm>
          <a:prstGeom prst="roundRect">
            <a:avLst>
              <a:gd name="adj" fmla="val 8000"/>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45" name="Shape 43"/>
          <p:cNvSpPr/>
          <p:nvPr/>
        </p:nvSpPr>
        <p:spPr>
          <a:xfrm>
            <a:off x="713232" y="5559552"/>
            <a:ext cx="713232" cy="274320"/>
          </a:xfrm>
          <a:prstGeom prst="roundRect">
            <a:avLst>
              <a:gd name="adj" fmla="val 20000"/>
            </a:avLst>
          </a:prstGeom>
          <a:solidFill>
            <a:srgbClr val="C1443C"/>
          </a:solidFill>
          <a:ln w="12700">
            <a:solidFill>
              <a:srgbClr val="C1443C"/>
            </a:solidFill>
            <a:prstDash val="solid"/>
          </a:ln>
        </p:spPr>
      </p:sp>
      <p:sp>
        <p:nvSpPr>
          <p:cNvPr id="46" name="Text 44"/>
          <p:cNvSpPr/>
          <p:nvPr/>
        </p:nvSpPr>
        <p:spPr>
          <a:xfrm>
            <a:off x="713232" y="5559552"/>
            <a:ext cx="71323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M-KP</a:t>
            </a:r>
            <a:endParaRPr lang="en-US" sz="1100" dirty="0"/>
          </a:p>
        </p:txBody>
      </p:sp>
      <p:sp>
        <p:nvSpPr>
          <p:cNvPr id="47" name="Text 45"/>
          <p:cNvSpPr/>
          <p:nvPr/>
        </p:nvSpPr>
        <p:spPr>
          <a:xfrm>
            <a:off x="1572768" y="5468112"/>
            <a:ext cx="7863840" cy="457200"/>
          </a:xfrm>
          <a:prstGeom prst="rect">
            <a:avLst/>
          </a:prstGeom>
          <a:noFill/>
          <a:ln/>
        </p:spPr>
        <p:txBody>
          <a:bodyPr wrap="square" lIns="0" tIns="0" rIns="0" bIns="0" rtlCol="0" anchor="ctr"/>
          <a:lstStyle/>
          <a:p>
            <a:pPr indent="0" marL="0">
              <a:buNone/>
            </a:pPr>
            <a:r>
              <a:rPr lang="en-US" sz="1250" dirty="0">
                <a:solidFill>
                  <a:srgbClr val="16202E"/>
                </a:solidFill>
                <a:latin typeface="Calibri" pitchFamily="34" charset="0"/>
                <a:ea typeface="Calibri" pitchFamily="34" charset="-122"/>
                <a:cs typeface="Calibri" pitchFamily="34" charset="-120"/>
              </a:rPr>
              <a:t>M-K + per-pair shaping — sharpened, exactly as #208 predicts</a:t>
            </a:r>
            <a:endParaRPr lang="en-US" sz="1250" dirty="0"/>
          </a:p>
        </p:txBody>
      </p:sp>
      <p:sp>
        <p:nvSpPr>
          <p:cNvPr id="48" name="Text 46"/>
          <p:cNvSpPr/>
          <p:nvPr/>
        </p:nvSpPr>
        <p:spPr>
          <a:xfrm>
            <a:off x="9555480" y="5468112"/>
            <a:ext cx="1874520" cy="457200"/>
          </a:xfrm>
          <a:prstGeom prst="rect">
            <a:avLst/>
          </a:prstGeom>
          <a:noFill/>
          <a:ln/>
        </p:spPr>
        <p:txBody>
          <a:bodyPr wrap="square" lIns="0" tIns="0" rIns="0" bIns="0" rtlCol="0" anchor="ctr"/>
          <a:lstStyle/>
          <a:p>
            <a:pPr algn="r" indent="0" marL="0">
              <a:buNone/>
            </a:pPr>
            <a:r>
              <a:rPr lang="en-US" sz="1100" i="1" dirty="0">
                <a:solidFill>
                  <a:srgbClr val="6B7A8F"/>
                </a:solidFill>
                <a:latin typeface="Calibri" pitchFamily="34" charset="0"/>
                <a:ea typeface="Calibri" pitchFamily="34" charset="-122"/>
                <a:cs typeface="Calibri" pitchFamily="34" charset="-120"/>
              </a:rPr>
              <a:t>per-token</a:t>
            </a:r>
            <a:endParaRPr lang="en-US" sz="1100" dirty="0"/>
          </a:p>
        </p:txBody>
      </p:sp>
      <p:sp>
        <p:nvSpPr>
          <p:cNvPr id="49" name="Shape 47"/>
          <p:cNvSpPr/>
          <p:nvPr/>
        </p:nvSpPr>
        <p:spPr>
          <a:xfrm>
            <a:off x="548640" y="5966460"/>
            <a:ext cx="11064240" cy="457200"/>
          </a:xfrm>
          <a:prstGeom prst="roundRect">
            <a:avLst>
              <a:gd name="adj" fmla="val 8000"/>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50" name="Shape 48"/>
          <p:cNvSpPr/>
          <p:nvPr/>
        </p:nvSpPr>
        <p:spPr>
          <a:xfrm>
            <a:off x="713232" y="6057900"/>
            <a:ext cx="713232" cy="274320"/>
          </a:xfrm>
          <a:prstGeom prst="roundRect">
            <a:avLst>
              <a:gd name="adj" fmla="val 20000"/>
            </a:avLst>
          </a:prstGeom>
          <a:solidFill>
            <a:srgbClr val="6B7A8F"/>
          </a:solidFill>
          <a:ln w="12700">
            <a:solidFill>
              <a:srgbClr val="6B7A8F"/>
            </a:solidFill>
            <a:prstDash val="solid"/>
          </a:ln>
        </p:spPr>
      </p:sp>
      <p:sp>
        <p:nvSpPr>
          <p:cNvPr id="51" name="Text 49"/>
          <p:cNvSpPr/>
          <p:nvPr/>
        </p:nvSpPr>
        <p:spPr>
          <a:xfrm>
            <a:off x="713232" y="6057900"/>
            <a:ext cx="71323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M-0</a:t>
            </a:r>
            <a:endParaRPr lang="en-US" sz="1100" dirty="0"/>
          </a:p>
        </p:txBody>
      </p:sp>
      <p:sp>
        <p:nvSpPr>
          <p:cNvPr id="52" name="Text 50"/>
          <p:cNvSpPr/>
          <p:nvPr/>
        </p:nvSpPr>
        <p:spPr>
          <a:xfrm>
            <a:off x="1572768" y="5966460"/>
            <a:ext cx="7863840" cy="457200"/>
          </a:xfrm>
          <a:prstGeom prst="rect">
            <a:avLst/>
          </a:prstGeom>
          <a:noFill/>
          <a:ln/>
        </p:spPr>
        <p:txBody>
          <a:bodyPr wrap="square" lIns="0" tIns="0" rIns="0" bIns="0" rtlCol="0" anchor="ctr"/>
          <a:lstStyle/>
          <a:p>
            <a:pPr indent="0" marL="0">
              <a:buNone/>
            </a:pPr>
            <a:r>
              <a:rPr lang="en-US" sz="1250" dirty="0">
                <a:solidFill>
                  <a:srgbClr val="16202E"/>
                </a:solidFill>
                <a:latin typeface="Calibri" pitchFamily="34" charset="0"/>
                <a:ea typeface="Calibri" pitchFamily="34" charset="-122"/>
                <a:cs typeface="Calibri" pitchFamily="34" charset="-120"/>
              </a:rPr>
              <a:t>M-C's reward at lr = 0 — the control</a:t>
            </a:r>
            <a:endParaRPr lang="en-US" sz="1250" dirty="0"/>
          </a:p>
        </p:txBody>
      </p:sp>
      <p:sp>
        <p:nvSpPr>
          <p:cNvPr id="53" name="Text 51"/>
          <p:cNvSpPr/>
          <p:nvPr/>
        </p:nvSpPr>
        <p:spPr>
          <a:xfrm>
            <a:off x="9555480" y="5966460"/>
            <a:ext cx="1874520" cy="457200"/>
          </a:xfrm>
          <a:prstGeom prst="rect">
            <a:avLst/>
          </a:prstGeom>
          <a:noFill/>
          <a:ln/>
        </p:spPr>
        <p:txBody>
          <a:bodyPr wrap="square" lIns="0" tIns="0" rIns="0" bIns="0" rtlCol="0" anchor="ctr"/>
          <a:lstStyle/>
          <a:p>
            <a:pPr algn="r" indent="0" marL="0">
              <a:buNone/>
            </a:pPr>
            <a:r>
              <a:rPr lang="en-US" sz="1100" i="1" dirty="0">
                <a:solidFill>
                  <a:srgbClr val="6B7A8F"/>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74320"/>
            <a:ext cx="11064240" cy="713232"/>
          </a:xfrm>
          <a:prstGeom prst="rect">
            <a:avLst/>
          </a:prstGeom>
          <a:noFill/>
          <a:ln/>
        </p:spPr>
        <p:txBody>
          <a:bodyPr wrap="square" lIns="0" tIns="0" rIns="0" bIns="0" rtlCol="0" anchor="t"/>
          <a:lstStyle/>
          <a:p>
            <a:pPr indent="0" marL="0">
              <a:buNone/>
            </a:pPr>
            <a:r>
              <a:rPr lang="en-US" sz="2800" b="1" dirty="0">
                <a:solidFill>
                  <a:srgbClr val="0F1E3D"/>
                </a:solidFill>
                <a:latin typeface="Cambria" pitchFamily="34" charset="0"/>
                <a:ea typeface="Cambria" pitchFamily="34" charset="-122"/>
                <a:cs typeface="Cambria" pitchFamily="34" charset="-120"/>
              </a:rPr>
              <a:t>The whole result, ordered by distance moved</a:t>
            </a:r>
            <a:endParaRPr lang="en-US" sz="2800" dirty="0"/>
          </a:p>
        </p:txBody>
      </p:sp>
      <p:sp>
        <p:nvSpPr>
          <p:cNvPr id="3" name="Text 1"/>
          <p:cNvSpPr/>
          <p:nvPr/>
        </p:nvSpPr>
        <p:spPr>
          <a:xfrm>
            <a:off x="548640" y="1024128"/>
            <a:ext cx="11064240" cy="347472"/>
          </a:xfrm>
          <a:prstGeom prst="rect">
            <a:avLst/>
          </a:prstGeom>
          <a:noFill/>
          <a:ln/>
        </p:spPr>
        <p:txBody>
          <a:bodyPr wrap="square" lIns="0" tIns="0" rIns="0" bIns="0" rtlCol="0" anchor="ctr"/>
          <a:lstStyle/>
          <a:p>
            <a:pPr indent="0" marL="0">
              <a:buNone/>
            </a:pPr>
            <a:r>
              <a:rPr lang="en-US" sz="1350" i="1" dirty="0">
                <a:solidFill>
                  <a:srgbClr val="6B7A8F"/>
                </a:solidFill>
                <a:latin typeface="Calibri" pitchFamily="34" charset="0"/>
                <a:ea typeface="Calibri" pitchFamily="34" charset="-122"/>
                <a:cs typeface="Calibri" pitchFamily="34" charset="-120"/>
              </a:rPr>
              <a:t>R-precision (all), legacy 554 · 8 rollouts × 577 proteins</a:t>
            </a:r>
            <a:endParaRPr lang="en-US" sz="1350" dirty="0"/>
          </a:p>
        </p:txBody>
      </p:sp>
      <p:sp>
        <p:nvSpPr>
          <p:cNvPr id="4" name="Text 2"/>
          <p:cNvSpPr/>
          <p:nvPr/>
        </p:nvSpPr>
        <p:spPr>
          <a:xfrm>
            <a:off x="548640" y="1481328"/>
            <a:ext cx="4892040" cy="292608"/>
          </a:xfrm>
          <a:prstGeom prst="rect">
            <a:avLst/>
          </a:prstGeom>
          <a:noFill/>
          <a:ln/>
        </p:spPr>
        <p:txBody>
          <a:bodyPr wrap="square" lIns="0" tIns="0" rIns="0" bIns="0" rtlCol="0" anchor="ctr"/>
          <a:lstStyle/>
          <a:p>
            <a:pPr algn="l" indent="0" marL="0">
              <a:buNone/>
            </a:pPr>
            <a:r>
              <a:rPr lang="en-US" sz="1100" b="1" spc="60" kern="0" dirty="0">
                <a:solidFill>
                  <a:srgbClr val="6B7A8F"/>
                </a:solidFill>
                <a:latin typeface="Calibri" pitchFamily="34" charset="0"/>
                <a:ea typeface="Calibri" pitchFamily="34" charset="-122"/>
                <a:cs typeface="Calibri" pitchFamily="34" charset="-120"/>
              </a:rPr>
              <a:t>checkpoint</a:t>
            </a:r>
            <a:endParaRPr lang="en-US" sz="1100" dirty="0"/>
          </a:p>
        </p:txBody>
      </p:sp>
      <p:sp>
        <p:nvSpPr>
          <p:cNvPr id="5" name="Text 3"/>
          <p:cNvSpPr/>
          <p:nvPr/>
        </p:nvSpPr>
        <p:spPr>
          <a:xfrm>
            <a:off x="5532120" y="1481328"/>
            <a:ext cx="1097280" cy="292608"/>
          </a:xfrm>
          <a:prstGeom prst="rect">
            <a:avLst/>
          </a:prstGeom>
          <a:noFill/>
          <a:ln/>
        </p:spPr>
        <p:txBody>
          <a:bodyPr wrap="square" lIns="0" tIns="0" rIns="0" bIns="0" rtlCol="0" anchor="ctr"/>
          <a:lstStyle/>
          <a:p>
            <a:pPr algn="r" indent="0" marL="0">
              <a:buNone/>
            </a:pPr>
            <a:r>
              <a:rPr lang="en-US" sz="1100" b="1" spc="60" kern="0" dirty="0">
                <a:solidFill>
                  <a:srgbClr val="6B7A8F"/>
                </a:solidFill>
                <a:latin typeface="Calibri" pitchFamily="34" charset="0"/>
                <a:ea typeface="Calibri" pitchFamily="34" charset="-122"/>
                <a:cs typeface="Calibri" pitchFamily="34" charset="-120"/>
              </a:rPr>
              <a:t>KL</a:t>
            </a:r>
            <a:endParaRPr lang="en-US" sz="1100" dirty="0"/>
          </a:p>
        </p:txBody>
      </p:sp>
      <p:sp>
        <p:nvSpPr>
          <p:cNvPr id="6" name="Text 4"/>
          <p:cNvSpPr/>
          <p:nvPr/>
        </p:nvSpPr>
        <p:spPr>
          <a:xfrm>
            <a:off x="6720840" y="1481328"/>
            <a:ext cx="1371600" cy="292608"/>
          </a:xfrm>
          <a:prstGeom prst="rect">
            <a:avLst/>
          </a:prstGeom>
          <a:noFill/>
          <a:ln/>
        </p:spPr>
        <p:txBody>
          <a:bodyPr wrap="square" lIns="0" tIns="0" rIns="0" bIns="0" rtlCol="0" anchor="ctr"/>
          <a:lstStyle/>
          <a:p>
            <a:pPr algn="r" indent="0" marL="0">
              <a:buNone/>
            </a:pPr>
            <a:r>
              <a:rPr lang="en-US" sz="1100" b="1" spc="60" kern="0" dirty="0">
                <a:solidFill>
                  <a:srgbClr val="6B7A8F"/>
                </a:solidFill>
                <a:latin typeface="Calibri" pitchFamily="34" charset="0"/>
                <a:ea typeface="Calibri" pitchFamily="34" charset="-122"/>
                <a:cs typeface="Calibri" pitchFamily="34" charset="-120"/>
              </a:rPr>
              <a:t>consensus</a:t>
            </a:r>
            <a:endParaRPr lang="en-US" sz="1100" dirty="0"/>
          </a:p>
        </p:txBody>
      </p:sp>
      <p:sp>
        <p:nvSpPr>
          <p:cNvPr id="7" name="Text 5"/>
          <p:cNvSpPr/>
          <p:nvPr/>
        </p:nvSpPr>
        <p:spPr>
          <a:xfrm>
            <a:off x="8183880" y="1481328"/>
            <a:ext cx="1737360" cy="292608"/>
          </a:xfrm>
          <a:prstGeom prst="rect">
            <a:avLst/>
          </a:prstGeom>
          <a:noFill/>
          <a:ln/>
        </p:spPr>
        <p:txBody>
          <a:bodyPr wrap="square" lIns="0" tIns="0" rIns="0" bIns="0" rtlCol="0" anchor="ctr"/>
          <a:lstStyle/>
          <a:p>
            <a:pPr algn="r" indent="0" marL="0">
              <a:buNone/>
            </a:pPr>
            <a:r>
              <a:rPr lang="en-US" sz="1100" b="1" spc="60" kern="0" dirty="0">
                <a:solidFill>
                  <a:srgbClr val="6B7A8F"/>
                </a:solidFill>
                <a:latin typeface="Calibri" pitchFamily="34" charset="0"/>
                <a:ea typeface="Calibri" pitchFamily="34" charset="-122"/>
                <a:cs typeface="Calibri" pitchFamily="34" charset="-120"/>
              </a:rPr>
              <a:t>best (ORACLE)</a:t>
            </a:r>
            <a:endParaRPr lang="en-US" sz="1100" dirty="0"/>
          </a:p>
        </p:txBody>
      </p:sp>
      <p:sp>
        <p:nvSpPr>
          <p:cNvPr id="8" name="Text 6"/>
          <p:cNvSpPr/>
          <p:nvPr/>
        </p:nvSpPr>
        <p:spPr>
          <a:xfrm>
            <a:off x="10012680" y="1481328"/>
            <a:ext cx="1463040" cy="292608"/>
          </a:xfrm>
          <a:prstGeom prst="rect">
            <a:avLst/>
          </a:prstGeom>
          <a:noFill/>
          <a:ln/>
        </p:spPr>
        <p:txBody>
          <a:bodyPr wrap="square" lIns="0" tIns="0" rIns="0" bIns="0" rtlCol="0" anchor="ctr"/>
          <a:lstStyle/>
          <a:p>
            <a:pPr algn="r" indent="0" marL="0">
              <a:buNone/>
            </a:pPr>
            <a:r>
              <a:rPr lang="en-US" sz="1100" b="1" spc="60" kern="0" dirty="0">
                <a:solidFill>
                  <a:srgbClr val="6B7A8F"/>
                </a:solidFill>
                <a:latin typeface="Calibri" pitchFamily="34" charset="0"/>
                <a:ea typeface="Calibri" pitchFamily="34" charset="-122"/>
                <a:cs typeface="Calibri" pitchFamily="34" charset="-120"/>
              </a:rPr>
              <a:t>last</a:t>
            </a:r>
            <a:endParaRPr lang="en-US" sz="1100" dirty="0"/>
          </a:p>
        </p:txBody>
      </p:sp>
      <p:sp>
        <p:nvSpPr>
          <p:cNvPr id="9" name="Shape 7"/>
          <p:cNvSpPr/>
          <p:nvPr/>
        </p:nvSpPr>
        <p:spPr>
          <a:xfrm>
            <a:off x="548640" y="1792224"/>
            <a:ext cx="11064240" cy="420624"/>
          </a:xfrm>
          <a:prstGeom prst="roundRect">
            <a:avLst>
              <a:gd name="adj" fmla="val 8696"/>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10" name="Text 8"/>
          <p:cNvSpPr/>
          <p:nvPr/>
        </p:nvSpPr>
        <p:spPr>
          <a:xfrm>
            <a:off x="548640" y="1792224"/>
            <a:ext cx="4892040" cy="420624"/>
          </a:xfrm>
          <a:prstGeom prst="rect">
            <a:avLst/>
          </a:prstGeom>
          <a:noFill/>
          <a:ln/>
        </p:spPr>
        <p:txBody>
          <a:bodyPr wrap="square" lIns="0" tIns="0" rIns="0" bIns="0" rtlCol="0" anchor="ctr"/>
          <a:lstStyle/>
          <a:p>
            <a:pPr algn="l" indent="0" marL="0">
              <a:buNone/>
            </a:pPr>
            <a:r>
              <a:rPr lang="en-US" sz="1250" dirty="0">
                <a:solidFill>
                  <a:srgbClr val="6B7A8F"/>
                </a:solidFill>
                <a:latin typeface="Calibri" pitchFamily="34" charset="0"/>
                <a:ea typeface="Calibri" pitchFamily="34" charset="-122"/>
                <a:cs typeface="Calibri" pitchFamily="34" charset="-120"/>
              </a:rPr>
              <a:t>plain, 22 rollouts — THE BAR</a:t>
            </a:r>
            <a:endParaRPr lang="en-US" sz="1250" dirty="0"/>
          </a:p>
        </p:txBody>
      </p:sp>
      <p:sp>
        <p:nvSpPr>
          <p:cNvPr id="11" name="Text 9"/>
          <p:cNvSpPr/>
          <p:nvPr/>
        </p:nvSpPr>
        <p:spPr>
          <a:xfrm>
            <a:off x="5532120" y="1792224"/>
            <a:ext cx="1097280" cy="420624"/>
          </a:xfrm>
          <a:prstGeom prst="rect">
            <a:avLst/>
          </a:prstGeom>
          <a:noFill/>
          <a:ln/>
        </p:spPr>
        <p:txBody>
          <a:bodyPr wrap="square" lIns="0" tIns="0" rIns="0" bIns="0" rtlCol="0" anchor="ctr"/>
          <a:lstStyle/>
          <a:p>
            <a:pPr algn="r" indent="0" marL="0">
              <a:buNone/>
            </a:pPr>
            <a:r>
              <a:rPr lang="en-US" sz="1250" b="1" dirty="0">
                <a:solidFill>
                  <a:srgbClr val="6B7A8F"/>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6720840" y="1792224"/>
            <a:ext cx="1371600" cy="420624"/>
          </a:xfrm>
          <a:prstGeom prst="rect">
            <a:avLst/>
          </a:prstGeom>
          <a:noFill/>
          <a:ln/>
        </p:spPr>
        <p:txBody>
          <a:bodyPr wrap="square" lIns="0" tIns="0" rIns="0" bIns="0" rtlCol="0" anchor="ctr"/>
          <a:lstStyle/>
          <a:p>
            <a:pPr algn="r" indent="0" marL="0">
              <a:buNone/>
            </a:pPr>
            <a:r>
              <a:rPr lang="en-US" sz="1250" b="1" dirty="0">
                <a:solidFill>
                  <a:srgbClr val="6B7A8F"/>
                </a:solidFill>
                <a:latin typeface="Calibri" pitchFamily="34" charset="0"/>
                <a:ea typeface="Calibri" pitchFamily="34" charset="-122"/>
                <a:cs typeface="Calibri" pitchFamily="34" charset="-120"/>
              </a:rPr>
              <a:t>0.5896</a:t>
            </a:r>
            <a:endParaRPr lang="en-US" sz="1250" dirty="0"/>
          </a:p>
        </p:txBody>
      </p:sp>
      <p:sp>
        <p:nvSpPr>
          <p:cNvPr id="13" name="Text 11"/>
          <p:cNvSpPr/>
          <p:nvPr/>
        </p:nvSpPr>
        <p:spPr>
          <a:xfrm>
            <a:off x="8183880" y="1792224"/>
            <a:ext cx="1737360" cy="420624"/>
          </a:xfrm>
          <a:prstGeom prst="rect">
            <a:avLst/>
          </a:prstGeom>
          <a:noFill/>
          <a:ln/>
        </p:spPr>
        <p:txBody>
          <a:bodyPr wrap="square" lIns="0" tIns="0" rIns="0" bIns="0" rtlCol="0" anchor="ctr"/>
          <a:lstStyle/>
          <a:p>
            <a:pPr algn="r" indent="0" marL="0">
              <a:buNone/>
            </a:pPr>
            <a:r>
              <a:rPr lang="en-US" sz="1250" b="1" dirty="0">
                <a:solidFill>
                  <a:srgbClr val="6B7A8F"/>
                </a:solidFill>
                <a:latin typeface="Calibri" pitchFamily="34" charset="0"/>
                <a:ea typeface="Calibri" pitchFamily="34" charset="-122"/>
                <a:cs typeface="Calibri" pitchFamily="34" charset="-120"/>
              </a:rPr>
              <a:t>0.5680</a:t>
            </a:r>
            <a:endParaRPr lang="en-US" sz="1250" dirty="0"/>
          </a:p>
        </p:txBody>
      </p:sp>
      <p:sp>
        <p:nvSpPr>
          <p:cNvPr id="14" name="Text 12"/>
          <p:cNvSpPr/>
          <p:nvPr/>
        </p:nvSpPr>
        <p:spPr>
          <a:xfrm>
            <a:off x="10012680" y="1792224"/>
            <a:ext cx="1463040" cy="420624"/>
          </a:xfrm>
          <a:prstGeom prst="rect">
            <a:avLst/>
          </a:prstGeom>
          <a:noFill/>
          <a:ln/>
        </p:spPr>
        <p:txBody>
          <a:bodyPr wrap="square" lIns="0" tIns="0" rIns="0" bIns="0" rtlCol="0" anchor="ctr"/>
          <a:lstStyle/>
          <a:p>
            <a:pPr algn="r" indent="0" marL="0">
              <a:buNone/>
            </a:pPr>
            <a:r>
              <a:rPr lang="en-US" sz="1250" b="1" dirty="0">
                <a:solidFill>
                  <a:srgbClr val="6B7A8F"/>
                </a:solidFill>
                <a:latin typeface="Calibri" pitchFamily="34" charset="0"/>
                <a:ea typeface="Calibri" pitchFamily="34" charset="-122"/>
                <a:cs typeface="Calibri" pitchFamily="34" charset="-120"/>
              </a:rPr>
              <a:t>—</a:t>
            </a:r>
            <a:endParaRPr lang="en-US" sz="1250" dirty="0"/>
          </a:p>
        </p:txBody>
      </p:sp>
      <p:sp>
        <p:nvSpPr>
          <p:cNvPr id="15" name="Shape 13"/>
          <p:cNvSpPr/>
          <p:nvPr/>
        </p:nvSpPr>
        <p:spPr>
          <a:xfrm>
            <a:off x="548640" y="2249424"/>
            <a:ext cx="11064240" cy="420624"/>
          </a:xfrm>
          <a:prstGeom prst="roundRect">
            <a:avLst>
              <a:gd name="adj" fmla="val 8696"/>
            </a:avLst>
          </a:prstGeom>
          <a:solidFill>
            <a:srgbClr val="FDF1E1"/>
          </a:solidFill>
          <a:ln w="12700">
            <a:solidFill>
              <a:srgbClr val="FDF1E1"/>
            </a:solidFill>
            <a:prstDash val="solid"/>
          </a:ln>
          <a:effectLst>
            <a:outerShdw sx="100000" sy="100000" kx="0" ky="0" algn="bl" rotWithShape="0" blurRad="101600" dist="12700" dir="5400000">
              <a:srgbClr val="9AA7B4">
                <a:alpha val="22000"/>
              </a:srgbClr>
            </a:outerShdw>
          </a:effectLst>
        </p:spPr>
      </p:sp>
      <p:sp>
        <p:nvSpPr>
          <p:cNvPr id="16" name="Text 14"/>
          <p:cNvSpPr/>
          <p:nvPr/>
        </p:nvSpPr>
        <p:spPr>
          <a:xfrm>
            <a:off x="548640" y="2249424"/>
            <a:ext cx="4892040" cy="420624"/>
          </a:xfrm>
          <a:prstGeom prst="rect">
            <a:avLst/>
          </a:prstGeom>
          <a:noFill/>
          <a:ln/>
        </p:spPr>
        <p:txBody>
          <a:bodyPr wrap="square" lIns="0" tIns="0" rIns="0" bIns="0" rtlCol="0" anchor="ctr"/>
          <a:lstStyle/>
          <a:p>
            <a:pPr algn="l" indent="0" marL="0">
              <a:buNone/>
            </a:pPr>
            <a:r>
              <a:rPr lang="en-US" sz="1250" dirty="0">
                <a:solidFill>
                  <a:srgbClr val="16202E"/>
                </a:solidFill>
                <a:latin typeface="Calibri" pitchFamily="34" charset="0"/>
                <a:ea typeface="Calibri" pitchFamily="34" charset="-122"/>
                <a:cs typeface="Calibri" pitchFamily="34" charset="-120"/>
              </a:rPr>
              <a:t>M-K step-36</a:t>
            </a:r>
            <a:endParaRPr lang="en-US" sz="1250" dirty="0"/>
          </a:p>
        </p:txBody>
      </p:sp>
      <p:sp>
        <p:nvSpPr>
          <p:cNvPr id="17" name="Text 15"/>
          <p:cNvSpPr/>
          <p:nvPr/>
        </p:nvSpPr>
        <p:spPr>
          <a:xfrm>
            <a:off x="5532120" y="2249424"/>
            <a:ext cx="1097280" cy="420624"/>
          </a:xfrm>
          <a:prstGeom prst="rect">
            <a:avLst/>
          </a:prstGeom>
          <a:noFill/>
          <a:ln/>
        </p:spPr>
        <p:txBody>
          <a:bodyPr wrap="square" lIns="0" tIns="0" rIns="0" bIns="0" rtlCol="0" anchor="ctr"/>
          <a:lstStyle/>
          <a:p>
            <a:pPr algn="r" indent="0" marL="0">
              <a:buNone/>
            </a:pPr>
            <a:r>
              <a:rPr lang="en-US" sz="1250" b="1" dirty="0">
                <a:solidFill>
                  <a:srgbClr val="16202E"/>
                </a:solidFill>
                <a:latin typeface="Calibri" pitchFamily="34" charset="0"/>
                <a:ea typeface="Calibri" pitchFamily="34" charset="-122"/>
                <a:cs typeface="Calibri" pitchFamily="34" charset="-120"/>
              </a:rPr>
              <a:t>0.0162</a:t>
            </a:r>
            <a:endParaRPr lang="en-US" sz="1250" dirty="0"/>
          </a:p>
        </p:txBody>
      </p:sp>
      <p:sp>
        <p:nvSpPr>
          <p:cNvPr id="18" name="Text 16"/>
          <p:cNvSpPr/>
          <p:nvPr/>
        </p:nvSpPr>
        <p:spPr>
          <a:xfrm>
            <a:off x="6720840" y="2249424"/>
            <a:ext cx="1371600" cy="420624"/>
          </a:xfrm>
          <a:prstGeom prst="rect">
            <a:avLst/>
          </a:prstGeom>
          <a:noFill/>
          <a:ln/>
        </p:spPr>
        <p:txBody>
          <a:bodyPr wrap="square" lIns="0" tIns="0" rIns="0" bIns="0" rtlCol="0" anchor="ctr"/>
          <a:lstStyle/>
          <a:p>
            <a:pPr algn="r" indent="0" marL="0">
              <a:buNone/>
            </a:pPr>
            <a:r>
              <a:rPr lang="en-US" sz="1250" b="1" dirty="0">
                <a:solidFill>
                  <a:srgbClr val="E8871E"/>
                </a:solidFill>
                <a:latin typeface="Calibri" pitchFamily="34" charset="0"/>
                <a:ea typeface="Calibri" pitchFamily="34" charset="-122"/>
                <a:cs typeface="Calibri" pitchFamily="34" charset="-120"/>
              </a:rPr>
              <a:t>0.5806</a:t>
            </a:r>
            <a:endParaRPr lang="en-US" sz="1250" dirty="0"/>
          </a:p>
        </p:txBody>
      </p:sp>
      <p:sp>
        <p:nvSpPr>
          <p:cNvPr id="19" name="Text 17"/>
          <p:cNvSpPr/>
          <p:nvPr/>
        </p:nvSpPr>
        <p:spPr>
          <a:xfrm>
            <a:off x="8183880" y="2249424"/>
            <a:ext cx="1737360" cy="420624"/>
          </a:xfrm>
          <a:prstGeom prst="rect">
            <a:avLst/>
          </a:prstGeom>
          <a:noFill/>
          <a:ln/>
        </p:spPr>
        <p:txBody>
          <a:bodyPr wrap="square" lIns="0" tIns="0" rIns="0" bIns="0" rtlCol="0" anchor="ctr"/>
          <a:lstStyle/>
          <a:p>
            <a:pPr algn="r" indent="0" marL="0">
              <a:buNone/>
            </a:pPr>
            <a:r>
              <a:rPr lang="en-US" sz="1250" b="1" dirty="0">
                <a:solidFill>
                  <a:srgbClr val="16202E"/>
                </a:solidFill>
                <a:latin typeface="Calibri" pitchFamily="34" charset="0"/>
                <a:ea typeface="Calibri" pitchFamily="34" charset="-122"/>
                <a:cs typeface="Calibri" pitchFamily="34" charset="-120"/>
              </a:rPr>
              <a:t>0.5602</a:t>
            </a:r>
            <a:endParaRPr lang="en-US" sz="1250" dirty="0"/>
          </a:p>
        </p:txBody>
      </p:sp>
      <p:sp>
        <p:nvSpPr>
          <p:cNvPr id="20" name="Text 18"/>
          <p:cNvSpPr/>
          <p:nvPr/>
        </p:nvSpPr>
        <p:spPr>
          <a:xfrm>
            <a:off x="10012680" y="2249424"/>
            <a:ext cx="1463040" cy="420624"/>
          </a:xfrm>
          <a:prstGeom prst="rect">
            <a:avLst/>
          </a:prstGeom>
          <a:noFill/>
          <a:ln/>
        </p:spPr>
        <p:txBody>
          <a:bodyPr wrap="square" lIns="0" tIns="0" rIns="0" bIns="0" rtlCol="0" anchor="ctr"/>
          <a:lstStyle/>
          <a:p>
            <a:pPr algn="r" indent="0" marL="0">
              <a:buNone/>
            </a:pPr>
            <a:r>
              <a:rPr lang="en-US" sz="1250" b="1" dirty="0">
                <a:solidFill>
                  <a:srgbClr val="16202E"/>
                </a:solidFill>
                <a:latin typeface="Calibri" pitchFamily="34" charset="0"/>
                <a:ea typeface="Calibri" pitchFamily="34" charset="-122"/>
                <a:cs typeface="Calibri" pitchFamily="34" charset="-120"/>
              </a:rPr>
              <a:t>0.5178</a:t>
            </a:r>
            <a:endParaRPr lang="en-US" sz="1250" dirty="0"/>
          </a:p>
        </p:txBody>
      </p:sp>
      <p:sp>
        <p:nvSpPr>
          <p:cNvPr id="21" name="Shape 19"/>
          <p:cNvSpPr/>
          <p:nvPr/>
        </p:nvSpPr>
        <p:spPr>
          <a:xfrm>
            <a:off x="548640" y="2706624"/>
            <a:ext cx="11064240" cy="420624"/>
          </a:xfrm>
          <a:prstGeom prst="roundRect">
            <a:avLst>
              <a:gd name="adj" fmla="val 8696"/>
            </a:avLst>
          </a:prstGeom>
          <a:solidFill>
            <a:srgbClr val="FDF1E1"/>
          </a:solidFill>
          <a:ln w="12700">
            <a:solidFill>
              <a:srgbClr val="FDF1E1"/>
            </a:solidFill>
            <a:prstDash val="solid"/>
          </a:ln>
          <a:effectLst>
            <a:outerShdw sx="100000" sy="100000" kx="0" ky="0" algn="bl" rotWithShape="0" blurRad="101600" dist="12700" dir="5400000">
              <a:srgbClr val="9AA7B4">
                <a:alpha val="22000"/>
              </a:srgbClr>
            </a:outerShdw>
          </a:effectLst>
        </p:spPr>
      </p:sp>
      <p:sp>
        <p:nvSpPr>
          <p:cNvPr id="22" name="Text 20"/>
          <p:cNvSpPr/>
          <p:nvPr/>
        </p:nvSpPr>
        <p:spPr>
          <a:xfrm>
            <a:off x="548640" y="2706624"/>
            <a:ext cx="4892040" cy="420624"/>
          </a:xfrm>
          <a:prstGeom prst="rect">
            <a:avLst/>
          </a:prstGeom>
          <a:noFill/>
          <a:ln/>
        </p:spPr>
        <p:txBody>
          <a:bodyPr wrap="square" lIns="0" tIns="0" rIns="0" bIns="0" rtlCol="0" anchor="ctr"/>
          <a:lstStyle/>
          <a:p>
            <a:pPr algn="l" indent="0" marL="0">
              <a:buNone/>
            </a:pPr>
            <a:r>
              <a:rPr lang="en-US" sz="1250" dirty="0">
                <a:solidFill>
                  <a:srgbClr val="16202E"/>
                </a:solidFill>
                <a:latin typeface="Calibri" pitchFamily="34" charset="0"/>
                <a:ea typeface="Calibri" pitchFamily="34" charset="-122"/>
                <a:cs typeface="Calibri" pitchFamily="34" charset="-120"/>
              </a:rPr>
              <a:t>M-KS2 step-24</a:t>
            </a:r>
            <a:endParaRPr lang="en-US" sz="1250" dirty="0"/>
          </a:p>
        </p:txBody>
      </p:sp>
      <p:sp>
        <p:nvSpPr>
          <p:cNvPr id="23" name="Text 21"/>
          <p:cNvSpPr/>
          <p:nvPr/>
        </p:nvSpPr>
        <p:spPr>
          <a:xfrm>
            <a:off x="5532120" y="2706624"/>
            <a:ext cx="1097280" cy="420624"/>
          </a:xfrm>
          <a:prstGeom prst="rect">
            <a:avLst/>
          </a:prstGeom>
          <a:noFill/>
          <a:ln/>
        </p:spPr>
        <p:txBody>
          <a:bodyPr wrap="square" lIns="0" tIns="0" rIns="0" bIns="0" rtlCol="0" anchor="ctr"/>
          <a:lstStyle/>
          <a:p>
            <a:pPr algn="r" indent="0" marL="0">
              <a:buNone/>
            </a:pPr>
            <a:r>
              <a:rPr lang="en-US" sz="1250" b="1" dirty="0">
                <a:solidFill>
                  <a:srgbClr val="16202E"/>
                </a:solidFill>
                <a:latin typeface="Calibri" pitchFamily="34" charset="0"/>
                <a:ea typeface="Calibri" pitchFamily="34" charset="-122"/>
                <a:cs typeface="Calibri" pitchFamily="34" charset="-120"/>
              </a:rPr>
              <a:t>0.0225</a:t>
            </a:r>
            <a:endParaRPr lang="en-US" sz="1250" dirty="0"/>
          </a:p>
        </p:txBody>
      </p:sp>
      <p:sp>
        <p:nvSpPr>
          <p:cNvPr id="24" name="Text 22"/>
          <p:cNvSpPr/>
          <p:nvPr/>
        </p:nvSpPr>
        <p:spPr>
          <a:xfrm>
            <a:off x="6720840" y="2706624"/>
            <a:ext cx="1371600" cy="420624"/>
          </a:xfrm>
          <a:prstGeom prst="rect">
            <a:avLst/>
          </a:prstGeom>
          <a:noFill/>
          <a:ln/>
        </p:spPr>
        <p:txBody>
          <a:bodyPr wrap="square" lIns="0" tIns="0" rIns="0" bIns="0" rtlCol="0" anchor="ctr"/>
          <a:lstStyle/>
          <a:p>
            <a:pPr algn="r" indent="0" marL="0">
              <a:buNone/>
            </a:pPr>
            <a:r>
              <a:rPr lang="en-US" sz="1250" b="1" dirty="0">
                <a:solidFill>
                  <a:srgbClr val="E8871E"/>
                </a:solidFill>
                <a:latin typeface="Calibri" pitchFamily="34" charset="0"/>
                <a:ea typeface="Calibri" pitchFamily="34" charset="-122"/>
                <a:cs typeface="Calibri" pitchFamily="34" charset="-120"/>
              </a:rPr>
              <a:t>0.5799</a:t>
            </a:r>
            <a:endParaRPr lang="en-US" sz="1250" dirty="0"/>
          </a:p>
        </p:txBody>
      </p:sp>
      <p:sp>
        <p:nvSpPr>
          <p:cNvPr id="25" name="Text 23"/>
          <p:cNvSpPr/>
          <p:nvPr/>
        </p:nvSpPr>
        <p:spPr>
          <a:xfrm>
            <a:off x="8183880" y="2706624"/>
            <a:ext cx="1737360" cy="420624"/>
          </a:xfrm>
          <a:prstGeom prst="rect">
            <a:avLst/>
          </a:prstGeom>
          <a:noFill/>
          <a:ln/>
        </p:spPr>
        <p:txBody>
          <a:bodyPr wrap="square" lIns="0" tIns="0" rIns="0" bIns="0" rtlCol="0" anchor="ctr"/>
          <a:lstStyle/>
          <a:p>
            <a:pPr algn="r" indent="0" marL="0">
              <a:buNone/>
            </a:pPr>
            <a:r>
              <a:rPr lang="en-US" sz="1250" b="1" dirty="0">
                <a:solidFill>
                  <a:srgbClr val="16202E"/>
                </a:solidFill>
                <a:latin typeface="Calibri" pitchFamily="34" charset="0"/>
                <a:ea typeface="Calibri" pitchFamily="34" charset="-122"/>
                <a:cs typeface="Calibri" pitchFamily="34" charset="-120"/>
              </a:rPr>
              <a:t>0.5677</a:t>
            </a:r>
            <a:endParaRPr lang="en-US" sz="1250" dirty="0"/>
          </a:p>
        </p:txBody>
      </p:sp>
      <p:sp>
        <p:nvSpPr>
          <p:cNvPr id="26" name="Text 24"/>
          <p:cNvSpPr/>
          <p:nvPr/>
        </p:nvSpPr>
        <p:spPr>
          <a:xfrm>
            <a:off x="10012680" y="2706624"/>
            <a:ext cx="1463040" cy="420624"/>
          </a:xfrm>
          <a:prstGeom prst="rect">
            <a:avLst/>
          </a:prstGeom>
          <a:noFill/>
          <a:ln/>
        </p:spPr>
        <p:txBody>
          <a:bodyPr wrap="square" lIns="0" tIns="0" rIns="0" bIns="0" rtlCol="0" anchor="ctr"/>
          <a:lstStyle/>
          <a:p>
            <a:pPr algn="r" indent="0" marL="0">
              <a:buNone/>
            </a:pPr>
            <a:r>
              <a:rPr lang="en-US" sz="1250" b="1" dirty="0">
                <a:solidFill>
                  <a:srgbClr val="16202E"/>
                </a:solidFill>
                <a:latin typeface="Calibri" pitchFamily="34" charset="0"/>
                <a:ea typeface="Calibri" pitchFamily="34" charset="-122"/>
                <a:cs typeface="Calibri" pitchFamily="34" charset="-120"/>
              </a:rPr>
              <a:t>0.5046</a:t>
            </a:r>
            <a:endParaRPr lang="en-US" sz="1250" dirty="0"/>
          </a:p>
        </p:txBody>
      </p:sp>
      <p:sp>
        <p:nvSpPr>
          <p:cNvPr id="27" name="Text 25"/>
          <p:cNvSpPr/>
          <p:nvPr/>
        </p:nvSpPr>
        <p:spPr>
          <a:xfrm>
            <a:off x="548640" y="3163824"/>
            <a:ext cx="4892040" cy="420624"/>
          </a:xfrm>
          <a:prstGeom prst="rect">
            <a:avLst/>
          </a:prstGeom>
          <a:noFill/>
          <a:ln/>
        </p:spPr>
        <p:txBody>
          <a:bodyPr wrap="square" lIns="0" tIns="0" rIns="0" bIns="0" rtlCol="0" anchor="ctr"/>
          <a:lstStyle/>
          <a:p>
            <a:pPr algn="l" indent="0" marL="0">
              <a:buNone/>
            </a:pPr>
            <a:r>
              <a:rPr lang="en-US" sz="1250" dirty="0">
                <a:solidFill>
                  <a:srgbClr val="16202E"/>
                </a:solidFill>
                <a:latin typeface="Calibri" pitchFamily="34" charset="0"/>
                <a:ea typeface="Calibri" pitchFamily="34" charset="-122"/>
                <a:cs typeface="Calibri" pitchFamily="34" charset="-120"/>
              </a:rPr>
              <a:t>M-B step-18</a:t>
            </a:r>
            <a:endParaRPr lang="en-US" sz="1250" dirty="0"/>
          </a:p>
        </p:txBody>
      </p:sp>
      <p:sp>
        <p:nvSpPr>
          <p:cNvPr id="28" name="Text 26"/>
          <p:cNvSpPr/>
          <p:nvPr/>
        </p:nvSpPr>
        <p:spPr>
          <a:xfrm>
            <a:off x="5532120" y="3163824"/>
            <a:ext cx="109728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0.0088</a:t>
            </a:r>
            <a:endParaRPr lang="en-US" sz="1250" dirty="0"/>
          </a:p>
        </p:txBody>
      </p:sp>
      <p:sp>
        <p:nvSpPr>
          <p:cNvPr id="29" name="Text 27"/>
          <p:cNvSpPr/>
          <p:nvPr/>
        </p:nvSpPr>
        <p:spPr>
          <a:xfrm>
            <a:off x="6720840" y="3163824"/>
            <a:ext cx="137160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0.5763</a:t>
            </a:r>
            <a:endParaRPr lang="en-US" sz="1250" dirty="0"/>
          </a:p>
        </p:txBody>
      </p:sp>
      <p:sp>
        <p:nvSpPr>
          <p:cNvPr id="30" name="Text 28"/>
          <p:cNvSpPr/>
          <p:nvPr/>
        </p:nvSpPr>
        <p:spPr>
          <a:xfrm>
            <a:off x="8183880" y="3163824"/>
            <a:ext cx="173736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0.5663</a:t>
            </a:r>
            <a:endParaRPr lang="en-US" sz="1250" dirty="0"/>
          </a:p>
        </p:txBody>
      </p:sp>
      <p:sp>
        <p:nvSpPr>
          <p:cNvPr id="31" name="Text 29"/>
          <p:cNvSpPr/>
          <p:nvPr/>
        </p:nvSpPr>
        <p:spPr>
          <a:xfrm>
            <a:off x="10012680" y="3163824"/>
            <a:ext cx="146304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0.5108</a:t>
            </a:r>
            <a:endParaRPr lang="en-US" sz="1250" dirty="0"/>
          </a:p>
        </p:txBody>
      </p:sp>
      <p:sp>
        <p:nvSpPr>
          <p:cNvPr id="32" name="Text 30"/>
          <p:cNvSpPr/>
          <p:nvPr/>
        </p:nvSpPr>
        <p:spPr>
          <a:xfrm>
            <a:off x="548640" y="3621024"/>
            <a:ext cx="4892040" cy="420624"/>
          </a:xfrm>
          <a:prstGeom prst="rect">
            <a:avLst/>
          </a:prstGeom>
          <a:noFill/>
          <a:ln/>
        </p:spPr>
        <p:txBody>
          <a:bodyPr wrap="square" lIns="0" tIns="0" rIns="0" bIns="0" rtlCol="0" anchor="ctr"/>
          <a:lstStyle/>
          <a:p>
            <a:pPr algn="l" indent="0" marL="0">
              <a:buNone/>
            </a:pPr>
            <a:r>
              <a:rPr lang="en-US" sz="1250" dirty="0">
                <a:solidFill>
                  <a:srgbClr val="16202E"/>
                </a:solidFill>
                <a:latin typeface="Calibri" pitchFamily="34" charset="0"/>
                <a:ea typeface="Calibri" pitchFamily="34" charset="-122"/>
                <a:cs typeface="Calibri" pitchFamily="34" charset="-120"/>
              </a:rPr>
              <a:t>M-C step-18</a:t>
            </a:r>
            <a:endParaRPr lang="en-US" sz="1250" dirty="0"/>
          </a:p>
        </p:txBody>
      </p:sp>
      <p:sp>
        <p:nvSpPr>
          <p:cNvPr id="33" name="Text 31"/>
          <p:cNvSpPr/>
          <p:nvPr/>
        </p:nvSpPr>
        <p:spPr>
          <a:xfrm>
            <a:off x="5532120" y="3621024"/>
            <a:ext cx="109728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0.0072</a:t>
            </a:r>
            <a:endParaRPr lang="en-US" sz="1250" dirty="0"/>
          </a:p>
        </p:txBody>
      </p:sp>
      <p:sp>
        <p:nvSpPr>
          <p:cNvPr id="34" name="Text 32"/>
          <p:cNvSpPr/>
          <p:nvPr/>
        </p:nvSpPr>
        <p:spPr>
          <a:xfrm>
            <a:off x="6720840" y="3621024"/>
            <a:ext cx="137160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0.5750</a:t>
            </a:r>
            <a:endParaRPr lang="en-US" sz="1250" dirty="0"/>
          </a:p>
        </p:txBody>
      </p:sp>
      <p:sp>
        <p:nvSpPr>
          <p:cNvPr id="35" name="Text 33"/>
          <p:cNvSpPr/>
          <p:nvPr/>
        </p:nvSpPr>
        <p:spPr>
          <a:xfrm>
            <a:off x="8183880" y="3621024"/>
            <a:ext cx="173736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0.5578</a:t>
            </a:r>
            <a:endParaRPr lang="en-US" sz="1250" dirty="0"/>
          </a:p>
        </p:txBody>
      </p:sp>
      <p:sp>
        <p:nvSpPr>
          <p:cNvPr id="36" name="Text 34"/>
          <p:cNvSpPr/>
          <p:nvPr/>
        </p:nvSpPr>
        <p:spPr>
          <a:xfrm>
            <a:off x="10012680" y="3621024"/>
            <a:ext cx="146304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0.5267</a:t>
            </a:r>
            <a:endParaRPr lang="en-US" sz="1250" dirty="0"/>
          </a:p>
        </p:txBody>
      </p:sp>
      <p:sp>
        <p:nvSpPr>
          <p:cNvPr id="37" name="Shape 35"/>
          <p:cNvSpPr/>
          <p:nvPr/>
        </p:nvSpPr>
        <p:spPr>
          <a:xfrm>
            <a:off x="548640" y="4078224"/>
            <a:ext cx="11064240" cy="420624"/>
          </a:xfrm>
          <a:prstGeom prst="roundRect">
            <a:avLst>
              <a:gd name="adj" fmla="val 8696"/>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38" name="Text 36"/>
          <p:cNvSpPr/>
          <p:nvPr/>
        </p:nvSpPr>
        <p:spPr>
          <a:xfrm>
            <a:off x="548640" y="4078224"/>
            <a:ext cx="4892040" cy="420624"/>
          </a:xfrm>
          <a:prstGeom prst="rect">
            <a:avLst/>
          </a:prstGeom>
          <a:noFill/>
          <a:ln/>
        </p:spPr>
        <p:txBody>
          <a:bodyPr wrap="square" lIns="0" tIns="0" rIns="0" bIns="0" rtlCol="0" anchor="ctr"/>
          <a:lstStyle/>
          <a:p>
            <a:pPr algn="l" indent="0" marL="0">
              <a:buNone/>
            </a:pPr>
            <a:r>
              <a:rPr lang="en-US" sz="1250" dirty="0">
                <a:solidFill>
                  <a:srgbClr val="6B7A8F"/>
                </a:solidFill>
                <a:latin typeface="Calibri" pitchFamily="34" charset="0"/>
                <a:ea typeface="Calibri" pitchFamily="34" charset="-122"/>
                <a:cs typeface="Calibri" pitchFamily="34" charset="-120"/>
              </a:rPr>
              <a:t>#230 warm start</a:t>
            </a:r>
            <a:endParaRPr lang="en-US" sz="1250" dirty="0"/>
          </a:p>
        </p:txBody>
      </p:sp>
      <p:sp>
        <p:nvSpPr>
          <p:cNvPr id="39" name="Text 37"/>
          <p:cNvSpPr/>
          <p:nvPr/>
        </p:nvSpPr>
        <p:spPr>
          <a:xfrm>
            <a:off x="5532120" y="4078224"/>
            <a:ext cx="1097280" cy="420624"/>
          </a:xfrm>
          <a:prstGeom prst="rect">
            <a:avLst/>
          </a:prstGeom>
          <a:noFill/>
          <a:ln/>
        </p:spPr>
        <p:txBody>
          <a:bodyPr wrap="square" lIns="0" tIns="0" rIns="0" bIns="0" rtlCol="0" anchor="ctr"/>
          <a:lstStyle/>
          <a:p>
            <a:pPr algn="r" indent="0" marL="0">
              <a:buNone/>
            </a:pPr>
            <a:r>
              <a:rPr lang="en-US" sz="1250" dirty="0">
                <a:solidFill>
                  <a:srgbClr val="6B7A8F"/>
                </a:solidFill>
                <a:latin typeface="Calibri" pitchFamily="34" charset="0"/>
                <a:ea typeface="Calibri" pitchFamily="34" charset="-122"/>
                <a:cs typeface="Calibri" pitchFamily="34" charset="-120"/>
              </a:rPr>
              <a:t>0</a:t>
            </a:r>
            <a:endParaRPr lang="en-US" sz="1250" dirty="0"/>
          </a:p>
        </p:txBody>
      </p:sp>
      <p:sp>
        <p:nvSpPr>
          <p:cNvPr id="40" name="Text 38"/>
          <p:cNvSpPr/>
          <p:nvPr/>
        </p:nvSpPr>
        <p:spPr>
          <a:xfrm>
            <a:off x="6720840" y="4078224"/>
            <a:ext cx="1371600" cy="420624"/>
          </a:xfrm>
          <a:prstGeom prst="rect">
            <a:avLst/>
          </a:prstGeom>
          <a:noFill/>
          <a:ln/>
        </p:spPr>
        <p:txBody>
          <a:bodyPr wrap="square" lIns="0" tIns="0" rIns="0" bIns="0" rtlCol="0" anchor="ctr"/>
          <a:lstStyle/>
          <a:p>
            <a:pPr algn="r" indent="0" marL="0">
              <a:buNone/>
            </a:pPr>
            <a:r>
              <a:rPr lang="en-US" sz="1250" dirty="0">
                <a:solidFill>
                  <a:srgbClr val="6B7A8F"/>
                </a:solidFill>
                <a:latin typeface="Calibri" pitchFamily="34" charset="0"/>
                <a:ea typeface="Calibri" pitchFamily="34" charset="-122"/>
                <a:cs typeface="Calibri" pitchFamily="34" charset="-120"/>
              </a:rPr>
              <a:t>0.5673</a:t>
            </a:r>
            <a:endParaRPr lang="en-US" sz="1250" dirty="0"/>
          </a:p>
        </p:txBody>
      </p:sp>
      <p:sp>
        <p:nvSpPr>
          <p:cNvPr id="41" name="Text 39"/>
          <p:cNvSpPr/>
          <p:nvPr/>
        </p:nvSpPr>
        <p:spPr>
          <a:xfrm>
            <a:off x="8183880" y="4078224"/>
            <a:ext cx="1737360" cy="420624"/>
          </a:xfrm>
          <a:prstGeom prst="rect">
            <a:avLst/>
          </a:prstGeom>
          <a:noFill/>
          <a:ln/>
        </p:spPr>
        <p:txBody>
          <a:bodyPr wrap="square" lIns="0" tIns="0" rIns="0" bIns="0" rtlCol="0" anchor="ctr"/>
          <a:lstStyle/>
          <a:p>
            <a:pPr algn="r" indent="0" marL="0">
              <a:buNone/>
            </a:pPr>
            <a:r>
              <a:rPr lang="en-US" sz="1250" dirty="0">
                <a:solidFill>
                  <a:srgbClr val="6B7A8F"/>
                </a:solidFill>
                <a:latin typeface="Calibri" pitchFamily="34" charset="0"/>
                <a:ea typeface="Calibri" pitchFamily="34" charset="-122"/>
                <a:cs typeface="Calibri" pitchFamily="34" charset="-120"/>
              </a:rPr>
              <a:t>0.5342</a:t>
            </a:r>
            <a:endParaRPr lang="en-US" sz="1250" dirty="0"/>
          </a:p>
        </p:txBody>
      </p:sp>
      <p:sp>
        <p:nvSpPr>
          <p:cNvPr id="42" name="Text 40"/>
          <p:cNvSpPr/>
          <p:nvPr/>
        </p:nvSpPr>
        <p:spPr>
          <a:xfrm>
            <a:off x="10012680" y="4078224"/>
            <a:ext cx="1463040" cy="420624"/>
          </a:xfrm>
          <a:prstGeom prst="rect">
            <a:avLst/>
          </a:prstGeom>
          <a:noFill/>
          <a:ln/>
        </p:spPr>
        <p:txBody>
          <a:bodyPr wrap="square" lIns="0" tIns="0" rIns="0" bIns="0" rtlCol="0" anchor="ctr"/>
          <a:lstStyle/>
          <a:p>
            <a:pPr algn="r" indent="0" marL="0">
              <a:buNone/>
            </a:pPr>
            <a:r>
              <a:rPr lang="en-US" sz="1250" dirty="0">
                <a:solidFill>
                  <a:srgbClr val="6B7A8F"/>
                </a:solidFill>
                <a:latin typeface="Calibri" pitchFamily="34" charset="0"/>
                <a:ea typeface="Calibri" pitchFamily="34" charset="-122"/>
                <a:cs typeface="Calibri" pitchFamily="34" charset="-120"/>
              </a:rPr>
              <a:t>0.4566</a:t>
            </a:r>
            <a:endParaRPr lang="en-US" sz="1250" dirty="0"/>
          </a:p>
        </p:txBody>
      </p:sp>
      <p:sp>
        <p:nvSpPr>
          <p:cNvPr id="43" name="Shape 41"/>
          <p:cNvSpPr/>
          <p:nvPr/>
        </p:nvSpPr>
        <p:spPr>
          <a:xfrm>
            <a:off x="548640" y="4535424"/>
            <a:ext cx="11064240" cy="420624"/>
          </a:xfrm>
          <a:prstGeom prst="roundRect">
            <a:avLst>
              <a:gd name="adj" fmla="val 8696"/>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44" name="Text 42"/>
          <p:cNvSpPr/>
          <p:nvPr/>
        </p:nvSpPr>
        <p:spPr>
          <a:xfrm>
            <a:off x="548640" y="4535424"/>
            <a:ext cx="4892040" cy="420624"/>
          </a:xfrm>
          <a:prstGeom prst="rect">
            <a:avLst/>
          </a:prstGeom>
          <a:noFill/>
          <a:ln/>
        </p:spPr>
        <p:txBody>
          <a:bodyPr wrap="square" lIns="0" tIns="0" rIns="0" bIns="0" rtlCol="0" anchor="ctr"/>
          <a:lstStyle/>
          <a:p>
            <a:pPr algn="l" indent="0" marL="0">
              <a:buNone/>
            </a:pPr>
            <a:r>
              <a:rPr lang="en-US" sz="1250" dirty="0">
                <a:solidFill>
                  <a:srgbClr val="6B7A8F"/>
                </a:solidFill>
                <a:latin typeface="Calibri" pitchFamily="34" charset="0"/>
                <a:ea typeface="Calibri" pitchFamily="34" charset="-122"/>
                <a:cs typeface="Calibri" pitchFamily="34" charset="-120"/>
              </a:rPr>
              <a:t>M-0, lr 0 (control)</a:t>
            </a:r>
            <a:endParaRPr lang="en-US" sz="1250" dirty="0"/>
          </a:p>
        </p:txBody>
      </p:sp>
      <p:sp>
        <p:nvSpPr>
          <p:cNvPr id="45" name="Text 43"/>
          <p:cNvSpPr/>
          <p:nvPr/>
        </p:nvSpPr>
        <p:spPr>
          <a:xfrm>
            <a:off x="5532120" y="4535424"/>
            <a:ext cx="1097280" cy="420624"/>
          </a:xfrm>
          <a:prstGeom prst="rect">
            <a:avLst/>
          </a:prstGeom>
          <a:noFill/>
          <a:ln/>
        </p:spPr>
        <p:txBody>
          <a:bodyPr wrap="square" lIns="0" tIns="0" rIns="0" bIns="0" rtlCol="0" anchor="ctr"/>
          <a:lstStyle/>
          <a:p>
            <a:pPr algn="r" indent="0" marL="0">
              <a:buNone/>
            </a:pPr>
            <a:r>
              <a:rPr lang="en-US" sz="1250" dirty="0">
                <a:solidFill>
                  <a:srgbClr val="6B7A8F"/>
                </a:solidFill>
                <a:latin typeface="Calibri" pitchFamily="34" charset="0"/>
                <a:ea typeface="Calibri" pitchFamily="34" charset="-122"/>
                <a:cs typeface="Calibri" pitchFamily="34" charset="-120"/>
              </a:rPr>
              <a:t>0</a:t>
            </a:r>
            <a:endParaRPr lang="en-US" sz="1250" dirty="0"/>
          </a:p>
        </p:txBody>
      </p:sp>
      <p:sp>
        <p:nvSpPr>
          <p:cNvPr id="46" name="Text 44"/>
          <p:cNvSpPr/>
          <p:nvPr/>
        </p:nvSpPr>
        <p:spPr>
          <a:xfrm>
            <a:off x="6720840" y="4535424"/>
            <a:ext cx="1371600" cy="420624"/>
          </a:xfrm>
          <a:prstGeom prst="rect">
            <a:avLst/>
          </a:prstGeom>
          <a:noFill/>
          <a:ln/>
        </p:spPr>
        <p:txBody>
          <a:bodyPr wrap="square" lIns="0" tIns="0" rIns="0" bIns="0" rtlCol="0" anchor="ctr"/>
          <a:lstStyle/>
          <a:p>
            <a:pPr algn="r" indent="0" marL="0">
              <a:buNone/>
            </a:pPr>
            <a:r>
              <a:rPr lang="en-US" sz="1250" dirty="0">
                <a:solidFill>
                  <a:srgbClr val="6B7A8F"/>
                </a:solidFill>
                <a:latin typeface="Calibri" pitchFamily="34" charset="0"/>
                <a:ea typeface="Calibri" pitchFamily="34" charset="-122"/>
                <a:cs typeface="Calibri" pitchFamily="34" charset="-120"/>
              </a:rPr>
              <a:t>0.5678</a:t>
            </a:r>
            <a:endParaRPr lang="en-US" sz="1250" dirty="0"/>
          </a:p>
        </p:txBody>
      </p:sp>
      <p:sp>
        <p:nvSpPr>
          <p:cNvPr id="47" name="Text 45"/>
          <p:cNvSpPr/>
          <p:nvPr/>
        </p:nvSpPr>
        <p:spPr>
          <a:xfrm>
            <a:off x="8183880" y="4535424"/>
            <a:ext cx="1737360" cy="420624"/>
          </a:xfrm>
          <a:prstGeom prst="rect">
            <a:avLst/>
          </a:prstGeom>
          <a:noFill/>
          <a:ln/>
        </p:spPr>
        <p:txBody>
          <a:bodyPr wrap="square" lIns="0" tIns="0" rIns="0" bIns="0" rtlCol="0" anchor="ctr"/>
          <a:lstStyle/>
          <a:p>
            <a:pPr algn="r" indent="0" marL="0">
              <a:buNone/>
            </a:pPr>
            <a:r>
              <a:rPr lang="en-US" sz="1250" dirty="0">
                <a:solidFill>
                  <a:srgbClr val="6B7A8F"/>
                </a:solidFill>
                <a:latin typeface="Calibri" pitchFamily="34" charset="0"/>
                <a:ea typeface="Calibri" pitchFamily="34" charset="-122"/>
                <a:cs typeface="Calibri" pitchFamily="34" charset="-120"/>
              </a:rPr>
              <a:t>0.5364</a:t>
            </a:r>
            <a:endParaRPr lang="en-US" sz="1250" dirty="0"/>
          </a:p>
        </p:txBody>
      </p:sp>
      <p:sp>
        <p:nvSpPr>
          <p:cNvPr id="48" name="Text 46"/>
          <p:cNvSpPr/>
          <p:nvPr/>
        </p:nvSpPr>
        <p:spPr>
          <a:xfrm>
            <a:off x="10012680" y="4535424"/>
            <a:ext cx="1463040" cy="420624"/>
          </a:xfrm>
          <a:prstGeom prst="rect">
            <a:avLst/>
          </a:prstGeom>
          <a:noFill/>
          <a:ln/>
        </p:spPr>
        <p:txBody>
          <a:bodyPr wrap="square" lIns="0" tIns="0" rIns="0" bIns="0" rtlCol="0" anchor="ctr"/>
          <a:lstStyle/>
          <a:p>
            <a:pPr algn="r" indent="0" marL="0">
              <a:buNone/>
            </a:pPr>
            <a:r>
              <a:rPr lang="en-US" sz="1250" dirty="0">
                <a:solidFill>
                  <a:srgbClr val="6B7A8F"/>
                </a:solidFill>
                <a:latin typeface="Calibri" pitchFamily="34" charset="0"/>
                <a:ea typeface="Calibri" pitchFamily="34" charset="-122"/>
                <a:cs typeface="Calibri" pitchFamily="34" charset="-120"/>
              </a:rPr>
              <a:t>0.4594</a:t>
            </a:r>
            <a:endParaRPr lang="en-US" sz="1250" dirty="0"/>
          </a:p>
        </p:txBody>
      </p:sp>
      <p:sp>
        <p:nvSpPr>
          <p:cNvPr id="49" name="Text 47"/>
          <p:cNvSpPr/>
          <p:nvPr/>
        </p:nvSpPr>
        <p:spPr>
          <a:xfrm>
            <a:off x="548640" y="4992624"/>
            <a:ext cx="4892040" cy="420624"/>
          </a:xfrm>
          <a:prstGeom prst="rect">
            <a:avLst/>
          </a:prstGeom>
          <a:noFill/>
          <a:ln/>
        </p:spPr>
        <p:txBody>
          <a:bodyPr wrap="square" lIns="0" tIns="0" rIns="0" bIns="0" rtlCol="0" anchor="ctr"/>
          <a:lstStyle/>
          <a:p>
            <a:pPr algn="l" indent="0" marL="0">
              <a:buNone/>
            </a:pPr>
            <a:r>
              <a:rPr lang="en-US" sz="1250" dirty="0">
                <a:solidFill>
                  <a:srgbClr val="16202E"/>
                </a:solidFill>
                <a:latin typeface="Calibri" pitchFamily="34" charset="0"/>
                <a:ea typeface="Calibri" pitchFamily="34" charset="-122"/>
                <a:cs typeface="Calibri" pitchFamily="34" charset="-120"/>
              </a:rPr>
              <a:t>M-KB step-24  (4× batch)</a:t>
            </a:r>
            <a:endParaRPr lang="en-US" sz="1250" dirty="0"/>
          </a:p>
        </p:txBody>
      </p:sp>
      <p:sp>
        <p:nvSpPr>
          <p:cNvPr id="50" name="Text 48"/>
          <p:cNvSpPr/>
          <p:nvPr/>
        </p:nvSpPr>
        <p:spPr>
          <a:xfrm>
            <a:off x="5532120" y="4992624"/>
            <a:ext cx="109728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0.0198</a:t>
            </a:r>
            <a:endParaRPr lang="en-US" sz="1250" dirty="0"/>
          </a:p>
        </p:txBody>
      </p:sp>
      <p:sp>
        <p:nvSpPr>
          <p:cNvPr id="51" name="Text 49"/>
          <p:cNvSpPr/>
          <p:nvPr/>
        </p:nvSpPr>
        <p:spPr>
          <a:xfrm>
            <a:off x="6720840" y="4992624"/>
            <a:ext cx="137160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0.5475</a:t>
            </a:r>
            <a:endParaRPr lang="en-US" sz="1250" dirty="0"/>
          </a:p>
        </p:txBody>
      </p:sp>
      <p:sp>
        <p:nvSpPr>
          <p:cNvPr id="52" name="Text 50"/>
          <p:cNvSpPr/>
          <p:nvPr/>
        </p:nvSpPr>
        <p:spPr>
          <a:xfrm>
            <a:off x="8183880" y="4992624"/>
            <a:ext cx="173736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0.5344</a:t>
            </a:r>
            <a:endParaRPr lang="en-US" sz="1250" dirty="0"/>
          </a:p>
        </p:txBody>
      </p:sp>
      <p:sp>
        <p:nvSpPr>
          <p:cNvPr id="53" name="Text 51"/>
          <p:cNvSpPr/>
          <p:nvPr/>
        </p:nvSpPr>
        <p:spPr>
          <a:xfrm>
            <a:off x="10012680" y="4992624"/>
            <a:ext cx="146304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0.4878</a:t>
            </a:r>
            <a:endParaRPr lang="en-US" sz="1250" dirty="0"/>
          </a:p>
        </p:txBody>
      </p:sp>
      <p:sp>
        <p:nvSpPr>
          <p:cNvPr id="54" name="Text 52"/>
          <p:cNvSpPr/>
          <p:nvPr/>
        </p:nvSpPr>
        <p:spPr>
          <a:xfrm>
            <a:off x="548640" y="5449824"/>
            <a:ext cx="4892040" cy="420624"/>
          </a:xfrm>
          <a:prstGeom prst="rect">
            <a:avLst/>
          </a:prstGeom>
          <a:noFill/>
          <a:ln/>
        </p:spPr>
        <p:txBody>
          <a:bodyPr wrap="square" lIns="0" tIns="0" rIns="0" bIns="0" rtlCol="0" anchor="ctr"/>
          <a:lstStyle/>
          <a:p>
            <a:pPr algn="l" indent="0" marL="0">
              <a:buNone/>
            </a:pPr>
            <a:r>
              <a:rPr lang="en-US" sz="1250" dirty="0">
                <a:solidFill>
                  <a:srgbClr val="16202E"/>
                </a:solidFill>
                <a:latin typeface="Calibri" pitchFamily="34" charset="0"/>
                <a:ea typeface="Calibri" pitchFamily="34" charset="-122"/>
                <a:cs typeface="Calibri" pitchFamily="34" charset="-120"/>
              </a:rPr>
              <a:t>M-KS3 step-12  (fragmented)</a:t>
            </a:r>
            <a:endParaRPr lang="en-US" sz="1250" dirty="0"/>
          </a:p>
        </p:txBody>
      </p:sp>
      <p:sp>
        <p:nvSpPr>
          <p:cNvPr id="55" name="Text 53"/>
          <p:cNvSpPr/>
          <p:nvPr/>
        </p:nvSpPr>
        <p:spPr>
          <a:xfrm>
            <a:off x="5532120" y="5449824"/>
            <a:ext cx="109728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a:t>
            </a:r>
            <a:endParaRPr lang="en-US" sz="1250" dirty="0"/>
          </a:p>
        </p:txBody>
      </p:sp>
      <p:sp>
        <p:nvSpPr>
          <p:cNvPr id="56" name="Text 54"/>
          <p:cNvSpPr/>
          <p:nvPr/>
        </p:nvSpPr>
        <p:spPr>
          <a:xfrm>
            <a:off x="6720840" y="5449824"/>
            <a:ext cx="137160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0.4627</a:t>
            </a:r>
            <a:endParaRPr lang="en-US" sz="1250" dirty="0"/>
          </a:p>
        </p:txBody>
      </p:sp>
      <p:sp>
        <p:nvSpPr>
          <p:cNvPr id="57" name="Text 55"/>
          <p:cNvSpPr/>
          <p:nvPr/>
        </p:nvSpPr>
        <p:spPr>
          <a:xfrm>
            <a:off x="8183880" y="5449824"/>
            <a:ext cx="173736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0.3203</a:t>
            </a:r>
            <a:endParaRPr lang="en-US" sz="1250" dirty="0"/>
          </a:p>
        </p:txBody>
      </p:sp>
      <p:sp>
        <p:nvSpPr>
          <p:cNvPr id="58" name="Text 56"/>
          <p:cNvSpPr/>
          <p:nvPr/>
        </p:nvSpPr>
        <p:spPr>
          <a:xfrm>
            <a:off x="10012680" y="5449824"/>
            <a:ext cx="1463040" cy="420624"/>
          </a:xfrm>
          <a:prstGeom prst="rect">
            <a:avLst/>
          </a:prstGeom>
          <a:noFill/>
          <a:ln/>
        </p:spPr>
        <p:txBody>
          <a:bodyPr wrap="square" lIns="0" tIns="0" rIns="0" bIns="0" rtlCol="0" anchor="ctr"/>
          <a:lstStyle/>
          <a:p>
            <a:pPr algn="r" indent="0" marL="0">
              <a:buNone/>
            </a:pPr>
            <a:r>
              <a:rPr lang="en-US" sz="1250" dirty="0">
                <a:solidFill>
                  <a:srgbClr val="16202E"/>
                </a:solidFill>
                <a:latin typeface="Calibri" pitchFamily="34" charset="0"/>
                <a:ea typeface="Calibri" pitchFamily="34" charset="-122"/>
                <a:cs typeface="Calibri" pitchFamily="34" charset="-120"/>
              </a:rPr>
              <a:t>0.2755</a:t>
            </a:r>
            <a:endParaRPr lang="en-US" sz="1250" dirty="0"/>
          </a:p>
        </p:txBody>
      </p:sp>
      <p:sp>
        <p:nvSpPr>
          <p:cNvPr id="59" name="Text 57"/>
          <p:cNvSpPr/>
          <p:nvPr/>
        </p:nvSpPr>
        <p:spPr>
          <a:xfrm>
            <a:off x="548640" y="6053328"/>
            <a:ext cx="11064240" cy="548640"/>
          </a:xfrm>
          <a:prstGeom prst="rect">
            <a:avLst/>
          </a:prstGeom>
          <a:noFill/>
          <a:ln/>
        </p:spPr>
        <p:txBody>
          <a:bodyPr wrap="square" lIns="0" tIns="0" rIns="0" bIns="0" rtlCol="0" anchor="ctr"/>
          <a:lstStyle/>
          <a:p>
            <a:pPr indent="0" marL="0">
              <a:buNone/>
            </a:pPr>
            <a:r>
              <a:rPr lang="en-US" sz="1250" i="1" dirty="0">
                <a:solidFill>
                  <a:srgbClr val="0F1E3D"/>
                </a:solidFill>
                <a:latin typeface="Cambria" pitchFamily="34" charset="0"/>
                <a:ea typeface="Cambria" pitchFamily="34" charset="-122"/>
                <a:cs typeface="Cambria" pitchFamily="34" charset="-120"/>
              </a:rPr>
              <a:t>Primary criterion NOT met — the best consensus is 0.0090 short of the bar. Rows sort by distance moved, and that ordering is close to the ordering by score: the experiment's central finding in one table.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74320"/>
            <a:ext cx="11064240" cy="713232"/>
          </a:xfrm>
          <a:prstGeom prst="rect">
            <a:avLst/>
          </a:prstGeom>
          <a:noFill/>
          <a:ln/>
        </p:spPr>
        <p:txBody>
          <a:bodyPr wrap="square" lIns="0" tIns="0" rIns="0" bIns="0" rtlCol="0" anchor="t"/>
          <a:lstStyle/>
          <a:p>
            <a:pPr indent="0" marL="0">
              <a:buNone/>
            </a:pPr>
            <a:r>
              <a:rPr lang="en-US" sz="2800" b="1" dirty="0">
                <a:solidFill>
                  <a:srgbClr val="0F1E3D"/>
                </a:solidFill>
                <a:latin typeface="Cambria" pitchFamily="34" charset="0"/>
                <a:ea typeface="Cambria" pitchFamily="34" charset="-122"/>
                <a:cs typeface="Cambria" pitchFamily="34" charset="-120"/>
              </a:rPr>
              <a:t>Every scored checkpoint</a:t>
            </a:r>
            <a:endParaRPr lang="en-US" sz="2800" dirty="0"/>
          </a:p>
        </p:txBody>
      </p:sp>
      <p:sp>
        <p:nvSpPr>
          <p:cNvPr id="3" name="Text 1"/>
          <p:cNvSpPr/>
          <p:nvPr/>
        </p:nvSpPr>
        <p:spPr>
          <a:xfrm>
            <a:off x="548640" y="1024128"/>
            <a:ext cx="11064240" cy="347472"/>
          </a:xfrm>
          <a:prstGeom prst="rect">
            <a:avLst/>
          </a:prstGeom>
          <a:noFill/>
          <a:ln/>
        </p:spPr>
        <p:txBody>
          <a:bodyPr wrap="square" lIns="0" tIns="0" rIns="0" bIns="0" rtlCol="0" anchor="ctr"/>
          <a:lstStyle/>
          <a:p>
            <a:pPr indent="0" marL="0">
              <a:buNone/>
            </a:pPr>
            <a:r>
              <a:rPr lang="en-US" sz="1350" i="1" dirty="0">
                <a:solidFill>
                  <a:srgbClr val="6B7A8F"/>
                </a:solidFill>
                <a:latin typeface="Calibri" pitchFamily="34" charset="0"/>
                <a:ea typeface="Calibri" pitchFamily="34" charset="-122"/>
                <a:cs typeface="Calibri" pitchFamily="34" charset="-120"/>
              </a:rPr>
              <a:t>Five arms peak by step ~20 and fall away; M-K and M-KS2 peak later and higher</a:t>
            </a:r>
            <a:endParaRPr lang="en-US" sz="1350" dirty="0"/>
          </a:p>
        </p:txBody>
      </p:sp>
      <p:pic>
        <p:nvPicPr>
          <p:cNvPr id="4" name="Image 0" descr="/tmp/deck/curves_accuracy.png">    </p:cNvPr>
          <p:cNvPicPr>
            <a:picLocks noChangeAspect="1"/>
          </p:cNvPicPr>
          <p:nvPr/>
        </p:nvPicPr>
        <p:blipFill>
          <a:blip r:embed="rId1"/>
          <a:stretch>
            <a:fillRect/>
          </a:stretch>
        </p:blipFill>
        <p:spPr>
          <a:xfrm>
            <a:off x="685800" y="1371600"/>
            <a:ext cx="10789920" cy="4617720"/>
          </a:xfrm>
          <a:prstGeom prst="rect">
            <a:avLst/>
          </a:prstGeom>
        </p:spPr>
      </p:pic>
      <p:sp>
        <p:nvSpPr>
          <p:cNvPr id="5" name="Text 2"/>
          <p:cNvSpPr/>
          <p:nvPr/>
        </p:nvSpPr>
        <p:spPr>
          <a:xfrm>
            <a:off x="685800" y="6080760"/>
            <a:ext cx="10789920" cy="320040"/>
          </a:xfrm>
          <a:prstGeom prst="rect">
            <a:avLst/>
          </a:prstGeom>
          <a:noFill/>
          <a:ln/>
        </p:spPr>
        <p:txBody>
          <a:bodyPr wrap="square" lIns="0" tIns="0" rIns="0" bIns="0" rtlCol="0" anchor="ctr"/>
          <a:lstStyle/>
          <a:p>
            <a:pPr indent="0" marL="0">
              <a:buNone/>
            </a:pPr>
            <a:r>
              <a:rPr lang="en-US" sz="1100" dirty="0">
                <a:solidFill>
                  <a:srgbClr val="6B7A8F"/>
                </a:solidFill>
                <a:latin typeface="Calibri" pitchFamily="34" charset="0"/>
                <a:ea typeface="Calibri" pitchFamily="34" charset="-122"/>
                <a:cs typeface="Calibri" pitchFamily="34" charset="-120"/>
              </a:rPr>
              <a:t>57 checkpoints · consensus R-precision on the 554-protein exp89 benchmark · noise floor 0.0023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74320"/>
            <a:ext cx="11064240" cy="713232"/>
          </a:xfrm>
          <a:prstGeom prst="rect">
            <a:avLst/>
          </a:prstGeom>
          <a:noFill/>
          <a:ln/>
        </p:spPr>
        <p:txBody>
          <a:bodyPr wrap="square" lIns="0" tIns="0" rIns="0" bIns="0" rtlCol="0" anchor="t"/>
          <a:lstStyle/>
          <a:p>
            <a:pPr indent="0" marL="0">
              <a:buNone/>
            </a:pPr>
            <a:r>
              <a:rPr lang="en-US" sz="2800" b="1" dirty="0">
                <a:solidFill>
                  <a:srgbClr val="0F1E3D"/>
                </a:solidFill>
                <a:latin typeface="Cambria" pitchFamily="34" charset="0"/>
                <a:ea typeface="Cambria" pitchFamily="34" charset="-122"/>
                <a:cs typeface="Cambria" pitchFamily="34" charset="-120"/>
              </a:rPr>
              <a:t>Finding 1 — distance decides, not schedule</a:t>
            </a:r>
            <a:endParaRPr lang="en-US" sz="2800" dirty="0"/>
          </a:p>
        </p:txBody>
      </p:sp>
      <p:sp>
        <p:nvSpPr>
          <p:cNvPr id="3" name="Text 1"/>
          <p:cNvSpPr/>
          <p:nvPr/>
        </p:nvSpPr>
        <p:spPr>
          <a:xfrm>
            <a:off x="548640" y="1024128"/>
            <a:ext cx="11064240" cy="347472"/>
          </a:xfrm>
          <a:prstGeom prst="rect">
            <a:avLst/>
          </a:prstGeom>
          <a:noFill/>
          <a:ln/>
        </p:spPr>
        <p:txBody>
          <a:bodyPr wrap="square" lIns="0" tIns="0" rIns="0" bIns="0" rtlCol="0" anchor="ctr"/>
          <a:lstStyle/>
          <a:p>
            <a:pPr indent="0" marL="0">
              <a:buNone/>
            </a:pPr>
            <a:r>
              <a:rPr lang="en-US" sz="1350" i="1" dirty="0">
                <a:solidFill>
                  <a:srgbClr val="6B7A8F"/>
                </a:solidFill>
                <a:latin typeface="Calibri" pitchFamily="34" charset="0"/>
                <a:ea typeface="Calibri" pitchFamily="34" charset="-122"/>
                <a:cs typeface="Calibri" pitchFamily="34" charset="-120"/>
              </a:rPr>
              <a:t>#208's negative result is the far end of a dose–response, not a verdict</a:t>
            </a:r>
            <a:endParaRPr lang="en-US" sz="1350" dirty="0"/>
          </a:p>
        </p:txBody>
      </p:sp>
      <p:pic>
        <p:nvPicPr>
          <p:cNvPr id="4" name="Image 0" descr="/tmp/deck/distance_vs_steps.png">    </p:cNvPr>
          <p:cNvPicPr>
            <a:picLocks noChangeAspect="1"/>
          </p:cNvPicPr>
          <p:nvPr/>
        </p:nvPicPr>
        <p:blipFill>
          <a:blip r:embed="rId1"/>
          <a:stretch>
            <a:fillRect/>
          </a:stretch>
        </p:blipFill>
        <p:spPr>
          <a:xfrm>
            <a:off x="5989320" y="1417320"/>
            <a:ext cx="5669280" cy="3200400"/>
          </a:xfrm>
          <a:prstGeom prst="rect">
            <a:avLst/>
          </a:prstGeom>
        </p:spPr>
      </p:pic>
      <p:sp>
        <p:nvSpPr>
          <p:cNvPr id="5" name="Shape 2"/>
          <p:cNvSpPr/>
          <p:nvPr/>
        </p:nvSpPr>
        <p:spPr>
          <a:xfrm>
            <a:off x="548640" y="1481328"/>
            <a:ext cx="5212080" cy="4114800"/>
          </a:xfrm>
          <a:prstGeom prst="roundRect">
            <a:avLst>
              <a:gd name="adj" fmla="val 889"/>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6" name="Text 3"/>
          <p:cNvSpPr/>
          <p:nvPr/>
        </p:nvSpPr>
        <p:spPr>
          <a:xfrm>
            <a:off x="822960" y="1691640"/>
            <a:ext cx="4663440" cy="274320"/>
          </a:xfrm>
          <a:prstGeom prst="rect">
            <a:avLst/>
          </a:prstGeom>
          <a:noFill/>
          <a:ln/>
        </p:spPr>
        <p:txBody>
          <a:bodyPr wrap="square" lIns="0" tIns="0" rIns="0" bIns="0" rtlCol="0" anchor="ctr"/>
          <a:lstStyle/>
          <a:p>
            <a:pPr indent="0" marL="0">
              <a:buNone/>
            </a:pPr>
            <a:r>
              <a:rPr lang="en-US" sz="1400" b="1" dirty="0">
                <a:solidFill>
                  <a:srgbClr val="0F1E3D"/>
                </a:solidFill>
                <a:latin typeface="Cambria" pitchFamily="34" charset="0"/>
                <a:ea typeface="Cambria" pitchFamily="34" charset="-122"/>
                <a:cs typeface="Cambria" pitchFamily="34" charset="-120"/>
              </a:rPr>
              <a:t>Consensus against distance moved</a:t>
            </a:r>
            <a:endParaRPr lang="en-US" sz="1400" dirty="0"/>
          </a:p>
        </p:txBody>
      </p:sp>
      <p:sp>
        <p:nvSpPr>
          <p:cNvPr id="7" name="Text 4"/>
          <p:cNvSpPr/>
          <p:nvPr/>
        </p:nvSpPr>
        <p:spPr>
          <a:xfrm>
            <a:off x="822960" y="2084832"/>
            <a:ext cx="1371600" cy="384048"/>
          </a:xfrm>
          <a:prstGeom prst="rect">
            <a:avLst/>
          </a:prstGeom>
          <a:noFill/>
          <a:ln/>
        </p:spPr>
        <p:txBody>
          <a:bodyPr wrap="square" lIns="0" tIns="0" rIns="0" bIns="0" rtlCol="0" anchor="ctr"/>
          <a:lstStyle/>
          <a:p>
            <a:pPr indent="0" marL="0">
              <a:buNone/>
            </a:pPr>
            <a:r>
              <a:rPr lang="en-US" sz="1250" dirty="0">
                <a:solidFill>
                  <a:srgbClr val="6B7A8F"/>
                </a:solidFill>
                <a:latin typeface="Courier New" pitchFamily="34" charset="0"/>
                <a:ea typeface="Courier New" pitchFamily="34" charset="-122"/>
                <a:cs typeface="Courier New" pitchFamily="34" charset="-120"/>
              </a:rPr>
              <a:t>KL 0</a:t>
            </a:r>
            <a:endParaRPr lang="en-US" sz="1250" dirty="0"/>
          </a:p>
        </p:txBody>
      </p:sp>
      <p:sp>
        <p:nvSpPr>
          <p:cNvPr id="8" name="Text 5"/>
          <p:cNvSpPr/>
          <p:nvPr/>
        </p:nvSpPr>
        <p:spPr>
          <a:xfrm>
            <a:off x="2240280" y="2084832"/>
            <a:ext cx="1188720" cy="384048"/>
          </a:xfrm>
          <a:prstGeom prst="rect">
            <a:avLst/>
          </a:prstGeom>
          <a:noFill/>
          <a:ln/>
        </p:spPr>
        <p:txBody>
          <a:bodyPr wrap="square" lIns="0" tIns="0" rIns="0" bIns="0" rtlCol="0" anchor="ctr"/>
          <a:lstStyle/>
          <a:p>
            <a:pPr indent="0" marL="0">
              <a:buNone/>
            </a:pPr>
            <a:r>
              <a:rPr lang="en-US" sz="1500" b="1" dirty="0">
                <a:solidFill>
                  <a:srgbClr val="16202E"/>
                </a:solidFill>
                <a:latin typeface="Cambria" pitchFamily="34" charset="0"/>
                <a:ea typeface="Cambria" pitchFamily="34" charset="-122"/>
                <a:cs typeface="Cambria" pitchFamily="34" charset="-120"/>
              </a:rPr>
              <a:t>0.5673</a:t>
            </a:r>
            <a:endParaRPr lang="en-US" sz="1500" dirty="0"/>
          </a:p>
        </p:txBody>
      </p:sp>
      <p:sp>
        <p:nvSpPr>
          <p:cNvPr id="9" name="Text 6"/>
          <p:cNvSpPr/>
          <p:nvPr/>
        </p:nvSpPr>
        <p:spPr>
          <a:xfrm>
            <a:off x="3520440" y="2084832"/>
            <a:ext cx="2011680" cy="384048"/>
          </a:xfrm>
          <a:prstGeom prst="rect">
            <a:avLst/>
          </a:prstGeom>
          <a:noFill/>
          <a:ln/>
        </p:spPr>
        <p:txBody>
          <a:bodyPr wrap="square" lIns="0" tIns="0" rIns="0" bIns="0" rtlCol="0" anchor="ctr"/>
          <a:lstStyle/>
          <a:p>
            <a:pPr indent="0" marL="0">
              <a:buNone/>
            </a:pPr>
            <a:r>
              <a:rPr lang="en-US" sz="1100" i="1" dirty="0">
                <a:solidFill>
                  <a:srgbClr val="6B7A8F"/>
                </a:solidFill>
                <a:latin typeface="Calibri" pitchFamily="34" charset="0"/>
                <a:ea typeface="Calibri" pitchFamily="34" charset="-122"/>
                <a:cs typeface="Calibri" pitchFamily="34" charset="-120"/>
              </a:rPr>
              <a:t>warm start</a:t>
            </a:r>
            <a:endParaRPr lang="en-US" sz="1100" dirty="0"/>
          </a:p>
        </p:txBody>
      </p:sp>
      <p:sp>
        <p:nvSpPr>
          <p:cNvPr id="10" name="Text 7"/>
          <p:cNvSpPr/>
          <p:nvPr/>
        </p:nvSpPr>
        <p:spPr>
          <a:xfrm>
            <a:off x="822960" y="2560320"/>
            <a:ext cx="1371600" cy="384048"/>
          </a:xfrm>
          <a:prstGeom prst="rect">
            <a:avLst/>
          </a:prstGeom>
          <a:noFill/>
          <a:ln/>
        </p:spPr>
        <p:txBody>
          <a:bodyPr wrap="square" lIns="0" tIns="0" rIns="0" bIns="0" rtlCol="0" anchor="ctr"/>
          <a:lstStyle/>
          <a:p>
            <a:pPr indent="0" marL="0">
              <a:buNone/>
            </a:pPr>
            <a:r>
              <a:rPr lang="en-US" sz="1250" dirty="0">
                <a:solidFill>
                  <a:srgbClr val="6B7A8F"/>
                </a:solidFill>
                <a:latin typeface="Courier New" pitchFamily="34" charset="0"/>
                <a:ea typeface="Courier New" pitchFamily="34" charset="-122"/>
                <a:cs typeface="Courier New" pitchFamily="34" charset="-120"/>
              </a:rPr>
              <a:t>KL 0.016</a:t>
            </a:r>
            <a:endParaRPr lang="en-US" sz="1250" dirty="0"/>
          </a:p>
        </p:txBody>
      </p:sp>
      <p:sp>
        <p:nvSpPr>
          <p:cNvPr id="11" name="Text 8"/>
          <p:cNvSpPr/>
          <p:nvPr/>
        </p:nvSpPr>
        <p:spPr>
          <a:xfrm>
            <a:off x="2240280" y="2560320"/>
            <a:ext cx="1188720" cy="384048"/>
          </a:xfrm>
          <a:prstGeom prst="rect">
            <a:avLst/>
          </a:prstGeom>
          <a:noFill/>
          <a:ln/>
        </p:spPr>
        <p:txBody>
          <a:bodyPr wrap="square" lIns="0" tIns="0" rIns="0" bIns="0" rtlCol="0" anchor="ctr"/>
          <a:lstStyle/>
          <a:p>
            <a:pPr indent="0" marL="0">
              <a:buNone/>
            </a:pPr>
            <a:r>
              <a:rPr lang="en-US" sz="1500" b="1" dirty="0">
                <a:solidFill>
                  <a:srgbClr val="E8871E"/>
                </a:solidFill>
                <a:latin typeface="Cambria" pitchFamily="34" charset="0"/>
                <a:ea typeface="Cambria" pitchFamily="34" charset="-122"/>
                <a:cs typeface="Cambria" pitchFamily="34" charset="-120"/>
              </a:rPr>
              <a:t>0.5806</a:t>
            </a:r>
            <a:endParaRPr lang="en-US" sz="1500" dirty="0"/>
          </a:p>
        </p:txBody>
      </p:sp>
      <p:sp>
        <p:nvSpPr>
          <p:cNvPr id="12" name="Text 9"/>
          <p:cNvSpPr/>
          <p:nvPr/>
        </p:nvSpPr>
        <p:spPr>
          <a:xfrm>
            <a:off x="3520440" y="2560320"/>
            <a:ext cx="2011680" cy="384048"/>
          </a:xfrm>
          <a:prstGeom prst="rect">
            <a:avLst/>
          </a:prstGeom>
          <a:noFill/>
          <a:ln/>
        </p:spPr>
        <p:txBody>
          <a:bodyPr wrap="square" lIns="0" tIns="0" rIns="0" bIns="0" rtlCol="0" anchor="ctr"/>
          <a:lstStyle/>
          <a:p>
            <a:pPr indent="0" marL="0">
              <a:buNone/>
            </a:pPr>
            <a:r>
              <a:rPr lang="en-US" sz="1100" i="1" dirty="0">
                <a:solidFill>
                  <a:srgbClr val="6B7A8F"/>
                </a:solidFill>
                <a:latin typeface="Calibri" pitchFamily="34" charset="0"/>
                <a:ea typeface="Calibri" pitchFamily="34" charset="-122"/>
                <a:cs typeface="Calibri" pitchFamily="34" charset="-120"/>
              </a:rPr>
              <a:t>the peak</a:t>
            </a:r>
            <a:endParaRPr lang="en-US" sz="1100" dirty="0"/>
          </a:p>
        </p:txBody>
      </p:sp>
      <p:sp>
        <p:nvSpPr>
          <p:cNvPr id="13" name="Text 10"/>
          <p:cNvSpPr/>
          <p:nvPr/>
        </p:nvSpPr>
        <p:spPr>
          <a:xfrm>
            <a:off x="822960" y="3035808"/>
            <a:ext cx="1371600" cy="384048"/>
          </a:xfrm>
          <a:prstGeom prst="rect">
            <a:avLst/>
          </a:prstGeom>
          <a:noFill/>
          <a:ln/>
        </p:spPr>
        <p:txBody>
          <a:bodyPr wrap="square" lIns="0" tIns="0" rIns="0" bIns="0" rtlCol="0" anchor="ctr"/>
          <a:lstStyle/>
          <a:p>
            <a:pPr indent="0" marL="0">
              <a:buNone/>
            </a:pPr>
            <a:r>
              <a:rPr lang="en-US" sz="1250" dirty="0">
                <a:solidFill>
                  <a:srgbClr val="6B7A8F"/>
                </a:solidFill>
                <a:latin typeface="Courier New" pitchFamily="34" charset="0"/>
                <a:ea typeface="Courier New" pitchFamily="34" charset="-122"/>
                <a:cs typeface="Courier New" pitchFamily="34" charset="-120"/>
              </a:rPr>
              <a:t>KL 0.031</a:t>
            </a:r>
            <a:endParaRPr lang="en-US" sz="1250" dirty="0"/>
          </a:p>
        </p:txBody>
      </p:sp>
      <p:sp>
        <p:nvSpPr>
          <p:cNvPr id="14" name="Text 11"/>
          <p:cNvSpPr/>
          <p:nvPr/>
        </p:nvSpPr>
        <p:spPr>
          <a:xfrm>
            <a:off x="2240280" y="3035808"/>
            <a:ext cx="1188720" cy="384048"/>
          </a:xfrm>
          <a:prstGeom prst="rect">
            <a:avLst/>
          </a:prstGeom>
          <a:noFill/>
          <a:ln/>
        </p:spPr>
        <p:txBody>
          <a:bodyPr wrap="square" lIns="0" tIns="0" rIns="0" bIns="0" rtlCol="0" anchor="ctr"/>
          <a:lstStyle/>
          <a:p>
            <a:pPr indent="0" marL="0">
              <a:buNone/>
            </a:pPr>
            <a:r>
              <a:rPr lang="en-US" sz="1500" b="1" dirty="0">
                <a:solidFill>
                  <a:srgbClr val="16202E"/>
                </a:solidFill>
                <a:latin typeface="Cambria" pitchFamily="34" charset="0"/>
                <a:ea typeface="Cambria" pitchFamily="34" charset="-122"/>
                <a:cs typeface="Cambria" pitchFamily="34" charset="-120"/>
              </a:rPr>
              <a:t>0.5529</a:t>
            </a:r>
            <a:endParaRPr lang="en-US" sz="1500" dirty="0"/>
          </a:p>
        </p:txBody>
      </p:sp>
      <p:sp>
        <p:nvSpPr>
          <p:cNvPr id="15" name="Text 12"/>
          <p:cNvSpPr/>
          <p:nvPr/>
        </p:nvSpPr>
        <p:spPr>
          <a:xfrm>
            <a:off x="3520440" y="3035808"/>
            <a:ext cx="2011680" cy="384048"/>
          </a:xfrm>
          <a:prstGeom prst="rect">
            <a:avLst/>
          </a:prstGeom>
          <a:noFill/>
          <a:ln/>
        </p:spPr>
        <p:txBody>
          <a:bodyPr wrap="square" lIns="0" tIns="0" rIns="0" bIns="0" rtlCol="0" anchor="ctr"/>
          <a:lstStyle/>
          <a:p>
            <a:pPr indent="0" marL="0">
              <a:buNone/>
            </a:pPr>
            <a:endParaRPr lang="en-US" sz="1100" dirty="0"/>
          </a:p>
        </p:txBody>
      </p:sp>
      <p:sp>
        <p:nvSpPr>
          <p:cNvPr id="16" name="Text 13"/>
          <p:cNvSpPr/>
          <p:nvPr/>
        </p:nvSpPr>
        <p:spPr>
          <a:xfrm>
            <a:off x="822960" y="3511296"/>
            <a:ext cx="1371600" cy="384048"/>
          </a:xfrm>
          <a:prstGeom prst="rect">
            <a:avLst/>
          </a:prstGeom>
          <a:noFill/>
          <a:ln/>
        </p:spPr>
        <p:txBody>
          <a:bodyPr wrap="square" lIns="0" tIns="0" rIns="0" bIns="0" rtlCol="0" anchor="ctr"/>
          <a:lstStyle/>
          <a:p>
            <a:pPr indent="0" marL="0">
              <a:buNone/>
            </a:pPr>
            <a:r>
              <a:rPr lang="en-US" sz="1250" dirty="0">
                <a:solidFill>
                  <a:srgbClr val="6B7A8F"/>
                </a:solidFill>
                <a:latin typeface="Courier New" pitchFamily="34" charset="0"/>
                <a:ea typeface="Courier New" pitchFamily="34" charset="-122"/>
                <a:cs typeface="Courier New" pitchFamily="34" charset="-120"/>
              </a:rPr>
              <a:t>KL 0.486</a:t>
            </a:r>
            <a:endParaRPr lang="en-US" sz="1250" dirty="0"/>
          </a:p>
        </p:txBody>
      </p:sp>
      <p:sp>
        <p:nvSpPr>
          <p:cNvPr id="17" name="Text 14"/>
          <p:cNvSpPr/>
          <p:nvPr/>
        </p:nvSpPr>
        <p:spPr>
          <a:xfrm>
            <a:off x="2240280" y="3511296"/>
            <a:ext cx="1188720" cy="384048"/>
          </a:xfrm>
          <a:prstGeom prst="rect">
            <a:avLst/>
          </a:prstGeom>
          <a:noFill/>
          <a:ln/>
        </p:spPr>
        <p:txBody>
          <a:bodyPr wrap="square" lIns="0" tIns="0" rIns="0" bIns="0" rtlCol="0" anchor="ctr"/>
          <a:lstStyle/>
          <a:p>
            <a:pPr indent="0" marL="0">
              <a:buNone/>
            </a:pPr>
            <a:r>
              <a:rPr lang="en-US" sz="1500" b="1" dirty="0">
                <a:solidFill>
                  <a:srgbClr val="16202E"/>
                </a:solidFill>
                <a:latin typeface="Cambria" pitchFamily="34" charset="0"/>
                <a:ea typeface="Cambria" pitchFamily="34" charset="-122"/>
                <a:cs typeface="Cambria" pitchFamily="34" charset="-120"/>
              </a:rPr>
              <a:t>0.3969</a:t>
            </a:r>
            <a:endParaRPr lang="en-US" sz="1500" dirty="0"/>
          </a:p>
        </p:txBody>
      </p:sp>
      <p:sp>
        <p:nvSpPr>
          <p:cNvPr id="18" name="Text 15"/>
          <p:cNvSpPr/>
          <p:nvPr/>
        </p:nvSpPr>
        <p:spPr>
          <a:xfrm>
            <a:off x="3520440" y="3511296"/>
            <a:ext cx="2011680" cy="384048"/>
          </a:xfrm>
          <a:prstGeom prst="rect">
            <a:avLst/>
          </a:prstGeom>
          <a:noFill/>
          <a:ln/>
        </p:spPr>
        <p:txBody>
          <a:bodyPr wrap="square" lIns="0" tIns="0" rIns="0" bIns="0" rtlCol="0" anchor="ctr"/>
          <a:lstStyle/>
          <a:p>
            <a:pPr indent="0" marL="0">
              <a:buNone/>
            </a:pPr>
            <a:r>
              <a:rPr lang="en-US" sz="1100" i="1" dirty="0">
                <a:solidFill>
                  <a:srgbClr val="6B7A8F"/>
                </a:solidFill>
                <a:latin typeface="Calibri" pitchFamily="34" charset="0"/>
                <a:ea typeface="Calibri" pitchFamily="34" charset="-122"/>
                <a:cs typeface="Calibri" pitchFamily="34" charset="-120"/>
              </a:rPr>
              <a:t>destroyed</a:t>
            </a:r>
            <a:endParaRPr lang="en-US" sz="1100" dirty="0"/>
          </a:p>
        </p:txBody>
      </p:sp>
      <p:sp>
        <p:nvSpPr>
          <p:cNvPr id="19" name="Text 16"/>
          <p:cNvSpPr/>
          <p:nvPr/>
        </p:nvSpPr>
        <p:spPr>
          <a:xfrm>
            <a:off x="822960" y="4114800"/>
            <a:ext cx="4663440" cy="1005840"/>
          </a:xfrm>
          <a:prstGeom prst="rect">
            <a:avLst/>
          </a:prstGeom>
          <a:noFill/>
          <a:ln/>
        </p:spPr>
        <p:txBody>
          <a:bodyPr wrap="square" lIns="0" tIns="0" rIns="0" bIns="0" rtlCol="0" anchor="ctr"/>
          <a:lstStyle/>
          <a:p>
            <a:pPr indent="0" marL="0">
              <a:buNone/>
            </a:pPr>
            <a:r>
              <a:rPr lang="en-US" sz="1250" dirty="0">
                <a:solidFill>
                  <a:srgbClr val="16202E"/>
                </a:solidFill>
                <a:latin typeface="Calibri" pitchFamily="34" charset="0"/>
                <a:ea typeface="Calibri" pitchFamily="34" charset="-122"/>
                <a:cs typeface="Calibri" pitchFamily="34" charset="-120"/>
              </a:rPr>
              <a:t>Every reward here helps at small KL and damages at large. #208 ran its arms at KL 0.06–0.10 and to 3.96 — past the peak on every one — while its two smallest never moved at all.</a:t>
            </a:r>
            <a:endParaRPr lang="en-US" sz="1250" dirty="0"/>
          </a:p>
        </p:txBody>
      </p:sp>
      <p:sp>
        <p:nvSpPr>
          <p:cNvPr id="20" name="Text 17"/>
          <p:cNvSpPr/>
          <p:nvPr/>
        </p:nvSpPr>
        <p:spPr>
          <a:xfrm>
            <a:off x="822960" y="5074920"/>
            <a:ext cx="4663440" cy="411480"/>
          </a:xfrm>
          <a:prstGeom prst="rect">
            <a:avLst/>
          </a:prstGeom>
          <a:noFill/>
          <a:ln/>
        </p:spPr>
        <p:txBody>
          <a:bodyPr wrap="square" lIns="0" tIns="0" rIns="0" bIns="0" rtlCol="0" anchor="ctr"/>
          <a:lstStyle/>
          <a:p>
            <a:pPr indent="0" marL="0">
              <a:buNone/>
            </a:pPr>
            <a:r>
              <a:rPr lang="en-US" sz="1250" b="1" dirty="0">
                <a:solidFill>
                  <a:srgbClr val="2A9D8F"/>
                </a:solidFill>
                <a:latin typeface="Calibri" pitchFamily="34" charset="0"/>
                <a:ea typeface="Calibri" pitchFamily="34" charset="-122"/>
                <a:cs typeface="Calibri" pitchFamily="34" charset="-120"/>
              </a:rPr>
              <a:t>The window it needed lay between the two learning rates it tried.</a:t>
            </a:r>
            <a:endParaRPr lang="en-US" sz="1250" dirty="0"/>
          </a:p>
        </p:txBody>
      </p:sp>
      <p:sp>
        <p:nvSpPr>
          <p:cNvPr id="21" name="Text 18"/>
          <p:cNvSpPr/>
          <p:nvPr/>
        </p:nvSpPr>
        <p:spPr>
          <a:xfrm>
            <a:off x="5989320" y="4800600"/>
            <a:ext cx="5669280" cy="731520"/>
          </a:xfrm>
          <a:prstGeom prst="rect">
            <a:avLst/>
          </a:prstGeom>
          <a:noFill/>
          <a:ln/>
        </p:spPr>
        <p:txBody>
          <a:bodyPr wrap="square" lIns="0" tIns="0" rIns="0" bIns="0" rtlCol="0" anchor="ctr"/>
          <a:lstStyle/>
          <a:p>
            <a:pPr indent="0" marL="0">
              <a:buNone/>
            </a:pPr>
            <a:r>
              <a:rPr lang="en-US" sz="1200" i="1" dirty="0">
                <a:solidFill>
                  <a:srgbClr val="6B7A8F"/>
                </a:solidFill>
                <a:latin typeface="Calibri" pitchFamily="34" charset="0"/>
                <a:ea typeface="Calibri" pitchFamily="34" charset="-122"/>
                <a:cs typeface="Calibri" pitchFamily="34" charset="-120"/>
              </a:rPr>
              <a:t>Two runs at a 3.3× different learning rate agree to 0.002 at matched KL — so this is a property of distance, not of the schedule.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74320"/>
            <a:ext cx="11064240" cy="713232"/>
          </a:xfrm>
          <a:prstGeom prst="rect">
            <a:avLst/>
          </a:prstGeom>
          <a:noFill/>
          <a:ln/>
        </p:spPr>
        <p:txBody>
          <a:bodyPr wrap="square" lIns="0" tIns="0" rIns="0" bIns="0" rtlCol="0" anchor="t"/>
          <a:lstStyle/>
          <a:p>
            <a:pPr indent="0" marL="0">
              <a:buNone/>
            </a:pPr>
            <a:r>
              <a:rPr lang="en-US" sz="2800" b="1" dirty="0">
                <a:solidFill>
                  <a:srgbClr val="0F1E3D"/>
                </a:solidFill>
                <a:latin typeface="Cambria" pitchFamily="34" charset="0"/>
                <a:ea typeface="Cambria" pitchFamily="34" charset="-122"/>
                <a:cs typeface="Cambria" pitchFamily="34" charset="-120"/>
              </a:rPr>
              <a:t>Finding 2 — long trajectories do not win</a:t>
            </a:r>
            <a:endParaRPr lang="en-US" sz="2800" dirty="0"/>
          </a:p>
        </p:txBody>
      </p:sp>
      <p:sp>
        <p:nvSpPr>
          <p:cNvPr id="3" name="Text 1"/>
          <p:cNvSpPr/>
          <p:nvPr/>
        </p:nvSpPr>
        <p:spPr>
          <a:xfrm>
            <a:off x="548640" y="1024128"/>
            <a:ext cx="11064240" cy="347472"/>
          </a:xfrm>
          <a:prstGeom prst="rect">
            <a:avLst/>
          </a:prstGeom>
          <a:noFill/>
          <a:ln/>
        </p:spPr>
        <p:txBody>
          <a:bodyPr wrap="square" lIns="0" tIns="0" rIns="0" bIns="0" rtlCol="0" anchor="ctr"/>
          <a:lstStyle/>
          <a:p>
            <a:pPr indent="0" marL="0">
              <a:buNone/>
            </a:pPr>
            <a:r>
              <a:rPr lang="en-US" sz="1350" i="1" dirty="0">
                <a:solidFill>
                  <a:srgbClr val="6B7A8F"/>
                </a:solidFill>
                <a:latin typeface="Calibri" pitchFamily="34" charset="0"/>
                <a:ea typeface="Calibri" pitchFamily="34" charset="-122"/>
                <a:cs typeface="Calibri" pitchFamily="34" charset="-120"/>
              </a:rPr>
              <a:t>Four interventions against the peak. None produced a checkpoint better than the peak it started from.</a:t>
            </a:r>
            <a:endParaRPr lang="en-US" sz="1350" dirty="0"/>
          </a:p>
        </p:txBody>
      </p:sp>
      <p:sp>
        <p:nvSpPr>
          <p:cNvPr id="4" name="Shape 2"/>
          <p:cNvSpPr/>
          <p:nvPr/>
        </p:nvSpPr>
        <p:spPr>
          <a:xfrm>
            <a:off x="548640" y="1591056"/>
            <a:ext cx="5394960" cy="2011680"/>
          </a:xfrm>
          <a:prstGeom prst="roundRect">
            <a:avLst>
              <a:gd name="adj" fmla="val 1818"/>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5" name="Shape 3"/>
          <p:cNvSpPr/>
          <p:nvPr/>
        </p:nvSpPr>
        <p:spPr>
          <a:xfrm>
            <a:off x="804672" y="1819656"/>
            <a:ext cx="310896" cy="310896"/>
          </a:xfrm>
          <a:prstGeom prst="roundRect">
            <a:avLst>
              <a:gd name="adj" fmla="val 14706"/>
            </a:avLst>
          </a:prstGeom>
          <a:solidFill>
            <a:srgbClr val="C1443C"/>
          </a:solidFill>
          <a:ln w="12700">
            <a:solidFill>
              <a:srgbClr val="C1443C"/>
            </a:solidFill>
            <a:prstDash val="solid"/>
          </a:ln>
        </p:spPr>
      </p:sp>
      <p:sp>
        <p:nvSpPr>
          <p:cNvPr id="6" name="Text 4"/>
          <p:cNvSpPr/>
          <p:nvPr/>
        </p:nvSpPr>
        <p:spPr>
          <a:xfrm>
            <a:off x="804672" y="18196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61872" y="1792224"/>
            <a:ext cx="4389120" cy="384048"/>
          </a:xfrm>
          <a:prstGeom prst="rect">
            <a:avLst/>
          </a:prstGeom>
          <a:noFill/>
          <a:ln/>
        </p:spPr>
        <p:txBody>
          <a:bodyPr wrap="square" lIns="0" tIns="0" rIns="0" bIns="0" rtlCol="0" anchor="ctr"/>
          <a:lstStyle/>
          <a:p>
            <a:pPr indent="0" marL="0">
              <a:buNone/>
            </a:pPr>
            <a:r>
              <a:rPr lang="en-US" sz="1400" b="1" dirty="0">
                <a:solidFill>
                  <a:srgbClr val="0F1E3D"/>
                </a:solidFill>
                <a:latin typeface="Cambria" pitchFamily="34" charset="0"/>
                <a:ea typeface="Cambria" pitchFamily="34" charset="-122"/>
                <a:cs typeface="Cambria" pitchFamily="34" charset="-120"/>
              </a:rPr>
              <a:t>3× smaller learning rate</a:t>
            </a:r>
            <a:endParaRPr lang="en-US" sz="1400" dirty="0"/>
          </a:p>
        </p:txBody>
      </p:sp>
      <p:sp>
        <p:nvSpPr>
          <p:cNvPr id="8" name="Text 6"/>
          <p:cNvSpPr/>
          <p:nvPr/>
        </p:nvSpPr>
        <p:spPr>
          <a:xfrm>
            <a:off x="804672" y="2304288"/>
            <a:ext cx="4846320" cy="1097280"/>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Killed at step 180, sections collapsed 20.2 → 11.0. Its four flat evals at steps 60–120 were a plateau in steps while KL climbed 0.0087 → 0.0397.</a:t>
            </a:r>
            <a:endParaRPr lang="en-US" sz="1200" dirty="0"/>
          </a:p>
        </p:txBody>
      </p:sp>
      <p:sp>
        <p:nvSpPr>
          <p:cNvPr id="9" name="Shape 7"/>
          <p:cNvSpPr/>
          <p:nvPr/>
        </p:nvSpPr>
        <p:spPr>
          <a:xfrm>
            <a:off x="6263640" y="1591056"/>
            <a:ext cx="5394960" cy="2011680"/>
          </a:xfrm>
          <a:prstGeom prst="roundRect">
            <a:avLst>
              <a:gd name="adj" fmla="val 1818"/>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10" name="Shape 8"/>
          <p:cNvSpPr/>
          <p:nvPr/>
        </p:nvSpPr>
        <p:spPr>
          <a:xfrm>
            <a:off x="6519672" y="1819656"/>
            <a:ext cx="310896" cy="310896"/>
          </a:xfrm>
          <a:prstGeom prst="roundRect">
            <a:avLst>
              <a:gd name="adj" fmla="val 14706"/>
            </a:avLst>
          </a:prstGeom>
          <a:solidFill>
            <a:srgbClr val="C1443C"/>
          </a:solidFill>
          <a:ln w="12700">
            <a:solidFill>
              <a:srgbClr val="C1443C"/>
            </a:solidFill>
            <a:prstDash val="solid"/>
          </a:ln>
        </p:spPr>
      </p:sp>
      <p:sp>
        <p:nvSpPr>
          <p:cNvPr id="11" name="Text 9"/>
          <p:cNvSpPr/>
          <p:nvPr/>
        </p:nvSpPr>
        <p:spPr>
          <a:xfrm>
            <a:off x="6519672" y="18196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6976872" y="1792224"/>
            <a:ext cx="4389120" cy="384048"/>
          </a:xfrm>
          <a:prstGeom prst="rect">
            <a:avLst/>
          </a:prstGeom>
          <a:noFill/>
          <a:ln/>
        </p:spPr>
        <p:txBody>
          <a:bodyPr wrap="square" lIns="0" tIns="0" rIns="0" bIns="0" rtlCol="0" anchor="ctr"/>
          <a:lstStyle/>
          <a:p>
            <a:pPr indent="0" marL="0">
              <a:buNone/>
            </a:pPr>
            <a:r>
              <a:rPr lang="en-US" sz="1400" b="1" dirty="0">
                <a:solidFill>
                  <a:srgbClr val="0F1E3D"/>
                </a:solidFill>
                <a:latin typeface="Cambria" pitchFamily="34" charset="0"/>
                <a:ea typeface="Cambria" pitchFamily="34" charset="-122"/>
                <a:cs typeface="Cambria" pitchFamily="34" charset="-120"/>
              </a:rPr>
              <a:t>50× KL penalty</a:t>
            </a:r>
            <a:endParaRPr lang="en-US" sz="1400" dirty="0"/>
          </a:p>
        </p:txBody>
      </p:sp>
      <p:sp>
        <p:nvSpPr>
          <p:cNvPr id="13" name="Text 11"/>
          <p:cNvSpPr/>
          <p:nvPr/>
        </p:nvSpPr>
        <p:spPr>
          <a:xfrm>
            <a:off x="6519672" y="2304288"/>
            <a:ext cx="4846320" cy="1097280"/>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Does not hold distance — from step 50 to 130 it tracks the 3× lr run exactly. At matched KL, 3.3× the optimisation scored 0.0094 worse.</a:t>
            </a:r>
            <a:endParaRPr lang="en-US" sz="1200" dirty="0"/>
          </a:p>
        </p:txBody>
      </p:sp>
      <p:sp>
        <p:nvSpPr>
          <p:cNvPr id="14" name="Shape 12"/>
          <p:cNvSpPr/>
          <p:nvPr/>
        </p:nvSpPr>
        <p:spPr>
          <a:xfrm>
            <a:off x="548640" y="3895344"/>
            <a:ext cx="5394960" cy="2011680"/>
          </a:xfrm>
          <a:prstGeom prst="roundRect">
            <a:avLst>
              <a:gd name="adj" fmla="val 1818"/>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15" name="Shape 13"/>
          <p:cNvSpPr/>
          <p:nvPr/>
        </p:nvSpPr>
        <p:spPr>
          <a:xfrm>
            <a:off x="804672" y="4123944"/>
            <a:ext cx="310896" cy="310896"/>
          </a:xfrm>
          <a:prstGeom prst="roundRect">
            <a:avLst>
              <a:gd name="adj" fmla="val 14706"/>
            </a:avLst>
          </a:prstGeom>
          <a:solidFill>
            <a:srgbClr val="E8871E"/>
          </a:solidFill>
          <a:ln w="12700">
            <a:solidFill>
              <a:srgbClr val="E8871E"/>
            </a:solidFill>
            <a:prstDash val="solid"/>
          </a:ln>
        </p:spPr>
      </p:sp>
      <p:sp>
        <p:nvSpPr>
          <p:cNvPr id="16" name="Text 14"/>
          <p:cNvSpPr/>
          <p:nvPr/>
        </p:nvSpPr>
        <p:spPr>
          <a:xfrm>
            <a:off x="804672" y="41239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261872" y="4096512"/>
            <a:ext cx="4389120" cy="384048"/>
          </a:xfrm>
          <a:prstGeom prst="rect">
            <a:avLst/>
          </a:prstGeom>
          <a:noFill/>
          <a:ln/>
        </p:spPr>
        <p:txBody>
          <a:bodyPr wrap="square" lIns="0" tIns="0" rIns="0" bIns="0" rtlCol="0" anchor="ctr"/>
          <a:lstStyle/>
          <a:p>
            <a:pPr indent="0" marL="0">
              <a:buNone/>
            </a:pPr>
            <a:r>
              <a:rPr lang="en-US" sz="1400" b="1" dirty="0">
                <a:solidFill>
                  <a:srgbClr val="0F1E3D"/>
                </a:solidFill>
                <a:latin typeface="Cambria" pitchFamily="34" charset="0"/>
                <a:ea typeface="Cambria" pitchFamily="34" charset="-122"/>
                <a:cs typeface="Cambria" pitchFamily="34" charset="-120"/>
              </a:rPr>
              <a:t>candidate-count floor</a:t>
            </a:r>
            <a:endParaRPr lang="en-US" sz="1400" dirty="0"/>
          </a:p>
        </p:txBody>
      </p:sp>
      <p:sp>
        <p:nvSpPr>
          <p:cNvPr id="18" name="Text 16"/>
          <p:cNvSpPr/>
          <p:nvPr/>
        </p:nvSpPr>
        <p:spPr>
          <a:xfrm>
            <a:off x="804672" y="4608576"/>
            <a:ext cx="4846320" cy="1097280"/>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Worked: fixed the collapse, +0.0178 over the unpenalised run at step 150. Then died 3 steps later of diversity collapse instead.</a:t>
            </a:r>
            <a:endParaRPr lang="en-US" sz="1200" dirty="0"/>
          </a:p>
        </p:txBody>
      </p:sp>
      <p:sp>
        <p:nvSpPr>
          <p:cNvPr id="19" name="Shape 17"/>
          <p:cNvSpPr/>
          <p:nvPr/>
        </p:nvSpPr>
        <p:spPr>
          <a:xfrm>
            <a:off x="6263640" y="3895344"/>
            <a:ext cx="5394960" cy="2011680"/>
          </a:xfrm>
          <a:prstGeom prst="roundRect">
            <a:avLst>
              <a:gd name="adj" fmla="val 1818"/>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20" name="Shape 18"/>
          <p:cNvSpPr/>
          <p:nvPr/>
        </p:nvSpPr>
        <p:spPr>
          <a:xfrm>
            <a:off x="6519672" y="4123944"/>
            <a:ext cx="310896" cy="310896"/>
          </a:xfrm>
          <a:prstGeom prst="roundRect">
            <a:avLst>
              <a:gd name="adj" fmla="val 14706"/>
            </a:avLst>
          </a:prstGeom>
          <a:solidFill>
            <a:srgbClr val="C1443C"/>
          </a:solidFill>
          <a:ln w="12700">
            <a:solidFill>
              <a:srgbClr val="C1443C"/>
            </a:solidFill>
            <a:prstDash val="solid"/>
          </a:ln>
        </p:spPr>
      </p:sp>
      <p:sp>
        <p:nvSpPr>
          <p:cNvPr id="21" name="Text 19"/>
          <p:cNvSpPr/>
          <p:nvPr/>
        </p:nvSpPr>
        <p:spPr>
          <a:xfrm>
            <a:off x="6519672" y="41239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6976872" y="4096512"/>
            <a:ext cx="4389120" cy="384048"/>
          </a:xfrm>
          <a:prstGeom prst="rect">
            <a:avLst/>
          </a:prstGeom>
          <a:noFill/>
          <a:ln/>
        </p:spPr>
        <p:txBody>
          <a:bodyPr wrap="square" lIns="0" tIns="0" rIns="0" bIns="0" rtlCol="0" anchor="ctr"/>
          <a:lstStyle/>
          <a:p>
            <a:pPr indent="0" marL="0">
              <a:buNone/>
            </a:pPr>
            <a:r>
              <a:rPr lang="en-US" sz="1400" b="1" dirty="0">
                <a:solidFill>
                  <a:srgbClr val="0F1E3D"/>
                </a:solidFill>
                <a:latin typeface="Cambria" pitchFamily="34" charset="0"/>
                <a:ea typeface="Cambria" pitchFamily="34" charset="-122"/>
                <a:cs typeface="Cambria" pitchFamily="34" charset="-120"/>
              </a:rPr>
              <a:t>4× larger batch</a:t>
            </a:r>
            <a:endParaRPr lang="en-US" sz="1400" dirty="0"/>
          </a:p>
        </p:txBody>
      </p:sp>
      <p:sp>
        <p:nvSpPr>
          <p:cNvPr id="23" name="Text 21"/>
          <p:cNvSpPr/>
          <p:nvPr/>
        </p:nvSpPr>
        <p:spPr>
          <a:xfrm>
            <a:off x="6519672" y="4608576"/>
            <a:ext cx="4846320" cy="1097280"/>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Cut per-batch noise 2.4×, and at matched KL came out 0.0301 WORSE. Gradient noise was implicit damping, not a constraint.</a:t>
            </a:r>
            <a:endParaRPr lang="en-US" sz="1200" dirty="0"/>
          </a:p>
        </p:txBody>
      </p:sp>
      <p:sp>
        <p:nvSpPr>
          <p:cNvPr id="24" name="Text 22"/>
          <p:cNvSpPr/>
          <p:nvPr/>
        </p:nvSpPr>
        <p:spPr>
          <a:xfrm>
            <a:off x="548640" y="6053328"/>
            <a:ext cx="11064240" cy="548640"/>
          </a:xfrm>
          <a:prstGeom prst="rect">
            <a:avLst/>
          </a:prstGeom>
          <a:noFill/>
          <a:ln/>
        </p:spPr>
        <p:txBody>
          <a:bodyPr wrap="square" lIns="0" tIns="0" rIns="0" bIns="0" rtlCol="0" anchor="ctr"/>
          <a:lstStyle/>
          <a:p>
            <a:pPr indent="0" marL="0">
              <a:buNone/>
            </a:pPr>
            <a:r>
              <a:rPr lang="en-US" sz="1250" i="1" dirty="0">
                <a:solidFill>
                  <a:srgbClr val="0F1E3D"/>
                </a:solidFill>
                <a:latin typeface="Cambria" pitchFamily="34" charset="0"/>
                <a:ea typeface="Cambria" pitchFamily="34" charset="-122"/>
                <a:cs typeface="Cambria" pitchFamily="34" charset="-120"/>
              </a:rPr>
              <a:t>Each changed the size, direction or shape of the step. Whatever bounds this is not the step size, not the distance per step, not the candidate count, and not gradient noise.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E3D"/>
        </a:solidFill>
      </p:bgPr>
    </p:bg>
    <p:spTree>
      <p:nvGrpSpPr>
        <p:cNvPr id="1" name=""/>
        <p:cNvGrpSpPr/>
        <p:nvPr/>
      </p:nvGrpSpPr>
      <p:grpSpPr>
        <a:xfrm>
          <a:off x="0" y="0"/>
          <a:ext cx="0" cy="0"/>
          <a:chOff x="0" y="0"/>
          <a:chExt cx="0" cy="0"/>
        </a:xfrm>
      </p:grpSpPr>
      <p:sp>
        <p:nvSpPr>
          <p:cNvPr id="2" name="Text 0"/>
          <p:cNvSpPr/>
          <p:nvPr/>
        </p:nvSpPr>
        <p:spPr>
          <a:xfrm>
            <a:off x="548640" y="502920"/>
            <a:ext cx="11064240" cy="64008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Finding 3 — noise was a protection</a:t>
            </a:r>
            <a:endParaRPr lang="en-US" sz="3100" dirty="0"/>
          </a:p>
        </p:txBody>
      </p:sp>
      <p:sp>
        <p:nvSpPr>
          <p:cNvPr id="3" name="Text 1"/>
          <p:cNvSpPr/>
          <p:nvPr/>
        </p:nvSpPr>
        <p:spPr>
          <a:xfrm>
            <a:off x="548640" y="1170432"/>
            <a:ext cx="11064240" cy="365760"/>
          </a:xfrm>
          <a:prstGeom prst="rect">
            <a:avLst/>
          </a:prstGeom>
          <a:noFill/>
          <a:ln/>
        </p:spPr>
        <p:txBody>
          <a:bodyPr wrap="square" lIns="0" tIns="0" rIns="0" bIns="0" rtlCol="0" anchor="ctr"/>
          <a:lstStyle/>
          <a:p>
            <a:pPr indent="0" marL="0">
              <a:buNone/>
            </a:pPr>
            <a:r>
              <a:rPr lang="en-US" sz="1400" i="1" dirty="0">
                <a:solidFill>
                  <a:srgbClr val="2A9D8F"/>
                </a:solidFill>
                <a:latin typeface="Calibri" pitchFamily="34" charset="0"/>
                <a:ea typeface="Calibri" pitchFamily="34" charset="-122"/>
                <a:cs typeface="Calibri" pitchFamily="34" charset="-120"/>
              </a:rPr>
              <a:t>Arm M-KB: arm M-K at 4× the batch — 256 rollouts per step against 64</a:t>
            </a:r>
            <a:endParaRPr lang="en-US" sz="1400" dirty="0"/>
          </a:p>
        </p:txBody>
      </p:sp>
      <p:sp>
        <p:nvSpPr>
          <p:cNvPr id="4" name="Shape 2"/>
          <p:cNvSpPr/>
          <p:nvPr/>
        </p:nvSpPr>
        <p:spPr>
          <a:xfrm>
            <a:off x="548640" y="1783080"/>
            <a:ext cx="5394960" cy="1828800"/>
          </a:xfrm>
          <a:prstGeom prst="roundRect">
            <a:avLst>
              <a:gd name="adj" fmla="val 2000"/>
            </a:avLst>
          </a:prstGeom>
          <a:solidFill>
            <a:srgbClr val="1A2E52"/>
          </a:solidFill>
          <a:ln w="12700">
            <a:solidFill>
              <a:srgbClr val="1A2E52"/>
            </a:solidFill>
            <a:prstDash val="solid"/>
          </a:ln>
          <a:effectLst>
            <a:outerShdw sx="100000" sy="100000" kx="0" ky="0" algn="bl" rotWithShape="0" blurRad="101600" dist="12700" dir="5400000">
              <a:srgbClr val="9AA7B4">
                <a:alpha val="22000"/>
              </a:srgbClr>
            </a:outerShdw>
          </a:effectLst>
        </p:spPr>
      </p:sp>
      <p:sp>
        <p:nvSpPr>
          <p:cNvPr id="5" name="Text 3"/>
          <p:cNvSpPr/>
          <p:nvPr/>
        </p:nvSpPr>
        <p:spPr>
          <a:xfrm>
            <a:off x="841248" y="1993392"/>
            <a:ext cx="4754880" cy="274320"/>
          </a:xfrm>
          <a:prstGeom prst="rect">
            <a:avLst/>
          </a:prstGeom>
          <a:noFill/>
          <a:ln/>
        </p:spPr>
        <p:txBody>
          <a:bodyPr wrap="square" lIns="0" tIns="0" rIns="0" bIns="0" rtlCol="0" anchor="ctr"/>
          <a:lstStyle/>
          <a:p>
            <a:pPr indent="0" marL="0">
              <a:buNone/>
            </a:pPr>
            <a:r>
              <a:rPr lang="en-US" sz="1100" b="1" spc="100" kern="0" dirty="0">
                <a:solidFill>
                  <a:srgbClr val="2A9D8F"/>
                </a:solidFill>
                <a:latin typeface="Calibri" pitchFamily="34" charset="0"/>
                <a:ea typeface="Calibri" pitchFamily="34" charset="-122"/>
                <a:cs typeface="Calibri" pitchFamily="34" charset="-120"/>
              </a:rPr>
              <a:t>THE PREMISE HELD</a:t>
            </a:r>
            <a:endParaRPr lang="en-US" sz="1100" dirty="0"/>
          </a:p>
        </p:txBody>
      </p:sp>
      <p:sp>
        <p:nvSpPr>
          <p:cNvPr id="6" name="Text 4"/>
          <p:cNvSpPr/>
          <p:nvPr/>
        </p:nvSpPr>
        <p:spPr>
          <a:xfrm>
            <a:off x="841248" y="2331720"/>
            <a:ext cx="4754880" cy="1143000"/>
          </a:xfrm>
          <a:prstGeom prst="rect">
            <a:avLst/>
          </a:prstGeom>
          <a:noFill/>
          <a:ln/>
        </p:spPr>
        <p:txBody>
          <a:bodyPr wrap="square" lIns="0" tIns="0" rIns="0" bIns="0" rtlCol="0" anchor="ctr"/>
          <a:lstStyle/>
          <a:p>
            <a:pPr indent="0" marL="0">
              <a:buNone/>
            </a:pPr>
            <a:r>
              <a:rPr lang="en-US" sz="1300" dirty="0">
                <a:solidFill>
                  <a:srgbClr val="E4ECF6"/>
                </a:solidFill>
                <a:latin typeface="Calibri" pitchFamily="34" charset="0"/>
                <a:ea typeface="Calibri" pitchFamily="34" charset="-122"/>
                <a:cs typeface="Calibri" pitchFamily="34" charset="-120"/>
              </a:rPr>
              <a:t>Per-batch noise fell on every instrument: sections/rollout 1.75 vs 4.20 (2.4×), consensus 0.036 vs 0.058, union pairs 64 vs 144. The gradient really was noise-dominated.</a:t>
            </a:r>
            <a:endParaRPr lang="en-US" sz="1300" dirty="0"/>
          </a:p>
        </p:txBody>
      </p:sp>
      <p:sp>
        <p:nvSpPr>
          <p:cNvPr id="7" name="Shape 5"/>
          <p:cNvSpPr/>
          <p:nvPr/>
        </p:nvSpPr>
        <p:spPr>
          <a:xfrm>
            <a:off x="6217920" y="1783080"/>
            <a:ext cx="5394960" cy="1828800"/>
          </a:xfrm>
          <a:prstGeom prst="roundRect">
            <a:avLst>
              <a:gd name="adj" fmla="val 2000"/>
            </a:avLst>
          </a:prstGeom>
          <a:solidFill>
            <a:srgbClr val="1A2E52"/>
          </a:solidFill>
          <a:ln w="12700">
            <a:solidFill>
              <a:srgbClr val="1A2E52"/>
            </a:solidFill>
            <a:prstDash val="solid"/>
          </a:ln>
          <a:effectLst>
            <a:outerShdw sx="100000" sy="100000" kx="0" ky="0" algn="bl" rotWithShape="0" blurRad="101600" dist="12700" dir="5400000">
              <a:srgbClr val="9AA7B4">
                <a:alpha val="22000"/>
              </a:srgbClr>
            </a:outerShdw>
          </a:effectLst>
        </p:spPr>
      </p:sp>
      <p:sp>
        <p:nvSpPr>
          <p:cNvPr id="8" name="Text 6"/>
          <p:cNvSpPr/>
          <p:nvPr/>
        </p:nvSpPr>
        <p:spPr>
          <a:xfrm>
            <a:off x="6510528" y="1993392"/>
            <a:ext cx="4754880" cy="274320"/>
          </a:xfrm>
          <a:prstGeom prst="rect">
            <a:avLst/>
          </a:prstGeom>
          <a:noFill/>
          <a:ln/>
        </p:spPr>
        <p:txBody>
          <a:bodyPr wrap="square" lIns="0" tIns="0" rIns="0" bIns="0" rtlCol="0" anchor="ctr"/>
          <a:lstStyle/>
          <a:p>
            <a:pPr indent="0" marL="0">
              <a:buNone/>
            </a:pPr>
            <a:r>
              <a:rPr lang="en-US" sz="1100" b="1" spc="100" kern="0" dirty="0">
                <a:solidFill>
                  <a:srgbClr val="E8871E"/>
                </a:solidFill>
                <a:latin typeface="Calibri" pitchFamily="34" charset="0"/>
                <a:ea typeface="Calibri" pitchFamily="34" charset="-122"/>
                <a:cs typeface="Calibri" pitchFamily="34" charset="-120"/>
              </a:rPr>
              <a:t>THE CONCLUSION INVERTED IT</a:t>
            </a:r>
            <a:endParaRPr lang="en-US" sz="1100" dirty="0"/>
          </a:p>
        </p:txBody>
      </p:sp>
      <p:sp>
        <p:nvSpPr>
          <p:cNvPr id="9" name="Text 7"/>
          <p:cNvSpPr/>
          <p:nvPr/>
        </p:nvSpPr>
        <p:spPr>
          <a:xfrm>
            <a:off x="6510528" y="2331720"/>
            <a:ext cx="4754880" cy="1143000"/>
          </a:xfrm>
          <a:prstGeom prst="rect">
            <a:avLst/>
          </a:prstGeom>
          <a:noFill/>
          <a:ln/>
        </p:spPr>
        <p:txBody>
          <a:bodyPr wrap="square" lIns="0" tIns="0" rIns="0" bIns="0" rtlCol="0" anchor="ctr"/>
          <a:lstStyle/>
          <a:p>
            <a:pPr indent="0" marL="0">
              <a:buNone/>
            </a:pPr>
            <a:r>
              <a:rPr lang="en-US" sz="1300" dirty="0">
                <a:solidFill>
                  <a:srgbClr val="E4ECF6"/>
                </a:solidFill>
                <a:latin typeface="Calibri" pitchFamily="34" charset="0"/>
                <a:ea typeface="Calibri" pitchFamily="34" charset="-122"/>
                <a:cs typeface="Calibri" pitchFamily="34" charset="-120"/>
              </a:rPr>
              <a:t>At matched distance (KL 0.0198 vs 0.0199), the cleaner gradient reads 0.5475 against 0.5776 — 0.0301 worse, 124 wins to 426 losses, CI excluding zero.</a:t>
            </a:r>
            <a:endParaRPr lang="en-US" sz="1300" dirty="0"/>
          </a:p>
        </p:txBody>
      </p:sp>
      <p:sp>
        <p:nvSpPr>
          <p:cNvPr id="10" name="Shape 8"/>
          <p:cNvSpPr/>
          <p:nvPr/>
        </p:nvSpPr>
        <p:spPr>
          <a:xfrm>
            <a:off x="548640" y="3913632"/>
            <a:ext cx="11064240" cy="1417320"/>
          </a:xfrm>
          <a:prstGeom prst="roundRect">
            <a:avLst>
              <a:gd name="adj" fmla="val 2581"/>
            </a:avLst>
          </a:prstGeom>
          <a:solidFill>
            <a:srgbClr val="1A2E52"/>
          </a:solidFill>
          <a:ln w="12700">
            <a:solidFill>
              <a:srgbClr val="1A2E52"/>
            </a:solidFill>
            <a:prstDash val="solid"/>
          </a:ln>
          <a:effectLst>
            <a:outerShdw sx="100000" sy="100000" kx="0" ky="0" algn="bl" rotWithShape="0" blurRad="101600" dist="12700" dir="5400000">
              <a:srgbClr val="9AA7B4">
                <a:alpha val="22000"/>
              </a:srgbClr>
            </a:outerShdw>
          </a:effectLst>
        </p:spPr>
      </p:sp>
      <p:sp>
        <p:nvSpPr>
          <p:cNvPr id="11" name="Text 9"/>
          <p:cNvSpPr/>
          <p:nvPr/>
        </p:nvSpPr>
        <p:spPr>
          <a:xfrm>
            <a:off x="914400" y="4096512"/>
            <a:ext cx="10332720" cy="5486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Noise partly cancels step to step, so the policy dithers. Average it away and the policy commits — to the direction its reward actually points, which is fewer and more similar candidates.</a:t>
            </a:r>
            <a:endParaRPr lang="en-US" sz="1450" dirty="0"/>
          </a:p>
        </p:txBody>
      </p:sp>
      <p:sp>
        <p:nvSpPr>
          <p:cNvPr id="12" name="Text 10"/>
          <p:cNvSpPr/>
          <p:nvPr/>
        </p:nvSpPr>
        <p:spPr>
          <a:xfrm>
            <a:off x="914400" y="4690872"/>
            <a:ext cx="10332720" cy="502920"/>
          </a:xfrm>
          <a:prstGeom prst="rect">
            <a:avLst/>
          </a:prstGeom>
          <a:noFill/>
          <a:ln/>
        </p:spPr>
        <p:txBody>
          <a:bodyPr wrap="square" lIns="0" tIns="0" rIns="0" bIns="0" rtlCol="0" anchor="ctr"/>
          <a:lstStyle/>
          <a:p>
            <a:pPr indent="0" marL="0">
              <a:buNone/>
            </a:pPr>
            <a:r>
              <a:rPr lang="en-US" sz="1450" b="1" dirty="0">
                <a:solidFill>
                  <a:srgbClr val="E8871E"/>
                </a:solidFill>
                <a:latin typeface="Calibri" pitchFamily="34" charset="0"/>
                <a:ea typeface="Calibri" pitchFamily="34" charset="-122"/>
                <a:cs typeface="Calibri" pitchFamily="34" charset="-120"/>
              </a:rPr>
              <a:t>So the peak is not an artifact of a noisy estimate. The reward's own optimum is worse than the warm start — and better optimisation reaches it sooner.</a:t>
            </a:r>
            <a:endParaRPr lang="en-US" sz="1450" dirty="0"/>
          </a:p>
        </p:txBody>
      </p:sp>
      <p:sp>
        <p:nvSpPr>
          <p:cNvPr id="13" name="Text 11"/>
          <p:cNvSpPr/>
          <p:nvPr/>
        </p:nvSpPr>
        <p:spPr>
          <a:xfrm>
            <a:off x="548640" y="5532120"/>
            <a:ext cx="11064240" cy="457200"/>
          </a:xfrm>
          <a:prstGeom prst="rect">
            <a:avLst/>
          </a:prstGeom>
          <a:noFill/>
          <a:ln/>
        </p:spPr>
        <p:txBody>
          <a:bodyPr wrap="square" lIns="0" tIns="0" rIns="0" bIns="0" rtlCol="0" anchor="ctr"/>
          <a:lstStyle/>
          <a:p>
            <a:pPr algn="ctr" indent="0" marL="0">
              <a:buNone/>
            </a:pPr>
            <a:r>
              <a:rPr lang="en-US" sz="1500" b="1" i="1" dirty="0">
                <a:solidFill>
                  <a:srgbClr val="2A9D8F"/>
                </a:solidFill>
                <a:latin typeface="Cambria" pitchFamily="34" charset="0"/>
                <a:ea typeface="Cambria" pitchFamily="34" charset="-122"/>
                <a:cs typeface="Cambria" pitchFamily="34" charset="-120"/>
              </a:rPr>
              <a:t>Corollary: the next arm has to change the reward, not the optimiser.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74320"/>
            <a:ext cx="11064240" cy="713232"/>
          </a:xfrm>
          <a:prstGeom prst="rect">
            <a:avLst/>
          </a:prstGeom>
          <a:noFill/>
          <a:ln/>
        </p:spPr>
        <p:txBody>
          <a:bodyPr wrap="square" lIns="0" tIns="0" rIns="0" bIns="0" rtlCol="0" anchor="t"/>
          <a:lstStyle/>
          <a:p>
            <a:pPr indent="0" marL="0">
              <a:buNone/>
            </a:pPr>
            <a:r>
              <a:rPr lang="en-US" sz="2800" b="1" dirty="0">
                <a:solidFill>
                  <a:srgbClr val="0F1E3D"/>
                </a:solidFill>
                <a:latin typeface="Cambria" pitchFamily="34" charset="0"/>
                <a:ea typeface="Cambria" pitchFamily="34" charset="-122"/>
                <a:cs typeface="Cambria" pitchFamily="34" charset="-120"/>
              </a:rPr>
              <a:t>Finding 4 — E[r] = 0 does not bound scale</a:t>
            </a:r>
            <a:endParaRPr lang="en-US" sz="2800" dirty="0"/>
          </a:p>
        </p:txBody>
      </p:sp>
      <p:sp>
        <p:nvSpPr>
          <p:cNvPr id="3" name="Text 1"/>
          <p:cNvSpPr/>
          <p:nvPr/>
        </p:nvSpPr>
        <p:spPr>
          <a:xfrm>
            <a:off x="548640" y="1024128"/>
            <a:ext cx="11064240" cy="347472"/>
          </a:xfrm>
          <a:prstGeom prst="rect">
            <a:avLst/>
          </a:prstGeom>
          <a:noFill/>
          <a:ln/>
        </p:spPr>
        <p:txBody>
          <a:bodyPr wrap="square" lIns="0" tIns="0" rIns="0" bIns="0" rtlCol="0" anchor="ctr"/>
          <a:lstStyle/>
          <a:p>
            <a:pPr indent="0" marL="0">
              <a:buNone/>
            </a:pPr>
            <a:r>
              <a:rPr lang="en-US" sz="1350" i="1" dirty="0">
                <a:solidFill>
                  <a:srgbClr val="6B7A8F"/>
                </a:solidFill>
                <a:latin typeface="Calibri" pitchFamily="34" charset="0"/>
                <a:ea typeface="Calibri" pitchFamily="34" charset="-122"/>
                <a:cs typeface="Calibri" pitchFamily="34" charset="-120"/>
              </a:rPr>
              <a:t>Arm M-C collapsed because its reward's SCALE depended on the candidate count</a:t>
            </a:r>
            <a:endParaRPr lang="en-US" sz="1350" dirty="0"/>
          </a:p>
        </p:txBody>
      </p:sp>
      <p:pic>
        <p:nvPicPr>
          <p:cNvPr id="4" name="Image 0" descr="/tmp/deck/section_count_incentive.png">    </p:cNvPr>
          <p:cNvPicPr>
            <a:picLocks noChangeAspect="1"/>
          </p:cNvPicPr>
          <p:nvPr/>
        </p:nvPicPr>
        <p:blipFill>
          <a:blip r:embed="rId1"/>
          <a:stretch>
            <a:fillRect/>
          </a:stretch>
        </p:blipFill>
        <p:spPr>
          <a:xfrm>
            <a:off x="6035040" y="1572768"/>
            <a:ext cx="5577840" cy="3493008"/>
          </a:xfrm>
          <a:prstGeom prst="rect">
            <a:avLst/>
          </a:prstGeom>
        </p:spPr>
      </p:pic>
      <p:sp>
        <p:nvSpPr>
          <p:cNvPr id="5" name="Shape 2"/>
          <p:cNvSpPr/>
          <p:nvPr/>
        </p:nvSpPr>
        <p:spPr>
          <a:xfrm>
            <a:off x="548640" y="1572768"/>
            <a:ext cx="5257800" cy="3493008"/>
          </a:xfrm>
          <a:prstGeom prst="roundRect">
            <a:avLst>
              <a:gd name="adj" fmla="val 1047"/>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6" name="Text 3"/>
          <p:cNvSpPr/>
          <p:nvPr/>
        </p:nvSpPr>
        <p:spPr>
          <a:xfrm>
            <a:off x="841248" y="1783080"/>
            <a:ext cx="4663440" cy="274320"/>
          </a:xfrm>
          <a:prstGeom prst="rect">
            <a:avLst/>
          </a:prstGeom>
          <a:noFill/>
          <a:ln/>
        </p:spPr>
        <p:txBody>
          <a:bodyPr wrap="square" lIns="0" tIns="0" rIns="0" bIns="0" rtlCol="0" anchor="ctr"/>
          <a:lstStyle/>
          <a:p>
            <a:pPr indent="0" marL="0">
              <a:buNone/>
            </a:pPr>
            <a:r>
              <a:rPr lang="en-US" sz="1350" b="1" dirty="0">
                <a:solidFill>
                  <a:srgbClr val="0F1E3D"/>
                </a:solidFill>
                <a:latin typeface="Cambria" pitchFamily="34" charset="0"/>
                <a:ea typeface="Cambria" pitchFamily="34" charset="-122"/>
                <a:cs typeface="Cambria" pitchFamily="34" charset="-120"/>
              </a:rPr>
              <a:t>Group-centred advantage vs. sections emitted</a:t>
            </a:r>
            <a:endParaRPr lang="en-US" sz="1350" dirty="0"/>
          </a:p>
        </p:txBody>
      </p:sp>
      <p:sp>
        <p:nvSpPr>
          <p:cNvPr id="7" name="Text 4"/>
          <p:cNvSpPr/>
          <p:nvPr/>
        </p:nvSpPr>
        <p:spPr>
          <a:xfrm>
            <a:off x="868680" y="2212848"/>
            <a:ext cx="1645920" cy="384048"/>
          </a:xfrm>
          <a:prstGeom prst="rect">
            <a:avLst/>
          </a:prstGeom>
          <a:noFill/>
          <a:ln/>
        </p:spPr>
        <p:txBody>
          <a:bodyPr wrap="square" lIns="0" tIns="0" rIns="0" bIns="0" rtlCol="0" anchor="ctr"/>
          <a:lstStyle/>
          <a:p>
            <a:pPr algn="l" indent="0" marL="0">
              <a:buNone/>
            </a:pPr>
            <a:r>
              <a:rPr lang="en-US" sz="1100" b="1" dirty="0">
                <a:solidFill>
                  <a:srgbClr val="6B7A8F"/>
                </a:solidFill>
                <a:latin typeface="Calibri" pitchFamily="34" charset="0"/>
                <a:ea typeface="Calibri" pitchFamily="34" charset="-122"/>
                <a:cs typeface="Calibri" pitchFamily="34" charset="-120"/>
              </a:rPr>
              <a:t>sections</a:t>
            </a:r>
            <a:endParaRPr lang="en-US" sz="1100" dirty="0"/>
          </a:p>
        </p:txBody>
      </p:sp>
      <p:sp>
        <p:nvSpPr>
          <p:cNvPr id="8" name="Text 5"/>
          <p:cNvSpPr/>
          <p:nvPr/>
        </p:nvSpPr>
        <p:spPr>
          <a:xfrm>
            <a:off x="2468880" y="2212848"/>
            <a:ext cx="960120" cy="384048"/>
          </a:xfrm>
          <a:prstGeom prst="rect">
            <a:avLst/>
          </a:prstGeom>
          <a:noFill/>
          <a:ln/>
        </p:spPr>
        <p:txBody>
          <a:bodyPr wrap="square" lIns="0" tIns="0" rIns="0" bIns="0" rtlCol="0" anchor="ctr"/>
          <a:lstStyle/>
          <a:p>
            <a:pPr algn="r" indent="0" marL="0">
              <a:buNone/>
            </a:pPr>
            <a:r>
              <a:rPr lang="en-US" sz="1100" b="1" dirty="0">
                <a:solidFill>
                  <a:srgbClr val="6B7A8F"/>
                </a:solidFill>
                <a:latin typeface="Courier New" pitchFamily="34" charset="0"/>
                <a:ea typeface="Courier New" pitchFamily="34" charset="-122"/>
                <a:cs typeface="Courier New" pitchFamily="34" charset="-120"/>
              </a:rPr>
              <a:t>1</a:t>
            </a:r>
            <a:endParaRPr lang="en-US" sz="1100" dirty="0"/>
          </a:p>
        </p:txBody>
      </p:sp>
      <p:sp>
        <p:nvSpPr>
          <p:cNvPr id="9" name="Text 6"/>
          <p:cNvSpPr/>
          <p:nvPr/>
        </p:nvSpPr>
        <p:spPr>
          <a:xfrm>
            <a:off x="3520440" y="2212848"/>
            <a:ext cx="960120" cy="384048"/>
          </a:xfrm>
          <a:prstGeom prst="rect">
            <a:avLst/>
          </a:prstGeom>
          <a:noFill/>
          <a:ln/>
        </p:spPr>
        <p:txBody>
          <a:bodyPr wrap="square" lIns="0" tIns="0" rIns="0" bIns="0" rtlCol="0" anchor="ctr"/>
          <a:lstStyle/>
          <a:p>
            <a:pPr algn="r" indent="0" marL="0">
              <a:buNone/>
            </a:pPr>
            <a:r>
              <a:rPr lang="en-US" sz="1100" b="1" dirty="0">
                <a:solidFill>
                  <a:srgbClr val="6B7A8F"/>
                </a:solidFill>
                <a:latin typeface="Courier New" pitchFamily="34" charset="0"/>
                <a:ea typeface="Courier New" pitchFamily="34" charset="-122"/>
                <a:cs typeface="Courier New" pitchFamily="34" charset="-120"/>
              </a:rPr>
              <a:t>4</a:t>
            </a:r>
            <a:endParaRPr lang="en-US" sz="1100" dirty="0"/>
          </a:p>
        </p:txBody>
      </p:sp>
      <p:sp>
        <p:nvSpPr>
          <p:cNvPr id="10" name="Text 7"/>
          <p:cNvSpPr/>
          <p:nvPr/>
        </p:nvSpPr>
        <p:spPr>
          <a:xfrm>
            <a:off x="4572000" y="2212848"/>
            <a:ext cx="960120" cy="384048"/>
          </a:xfrm>
          <a:prstGeom prst="rect">
            <a:avLst/>
          </a:prstGeom>
          <a:noFill/>
          <a:ln/>
        </p:spPr>
        <p:txBody>
          <a:bodyPr wrap="square" lIns="0" tIns="0" rIns="0" bIns="0" rtlCol="0" anchor="ctr"/>
          <a:lstStyle/>
          <a:p>
            <a:pPr algn="r" indent="0" marL="0">
              <a:buNone/>
            </a:pPr>
            <a:r>
              <a:rPr lang="en-US" sz="1100" b="1" dirty="0">
                <a:solidFill>
                  <a:srgbClr val="6B7A8F"/>
                </a:solidFill>
                <a:latin typeface="Courier New" pitchFamily="34" charset="0"/>
                <a:ea typeface="Courier New" pitchFamily="34" charset="-122"/>
                <a:cs typeface="Courier New" pitchFamily="34" charset="-120"/>
              </a:rPr>
              <a:t>22</a:t>
            </a:r>
            <a:endParaRPr lang="en-US" sz="1100" dirty="0"/>
          </a:p>
        </p:txBody>
      </p:sp>
      <p:sp>
        <p:nvSpPr>
          <p:cNvPr id="11" name="Text 8"/>
          <p:cNvSpPr/>
          <p:nvPr/>
        </p:nvSpPr>
        <p:spPr>
          <a:xfrm>
            <a:off x="868680" y="2724912"/>
            <a:ext cx="1645920" cy="384048"/>
          </a:xfrm>
          <a:prstGeom prst="rect">
            <a:avLst/>
          </a:prstGeom>
          <a:noFill/>
          <a:ln/>
        </p:spPr>
        <p:txBody>
          <a:bodyPr wrap="square" lIns="0" tIns="0" rIns="0" bIns="0" rtlCol="0" anchor="ctr"/>
          <a:lstStyle/>
          <a:p>
            <a:pPr algn="l" indent="0" marL="0">
              <a:buNone/>
            </a:pPr>
            <a:r>
              <a:rPr lang="en-US" sz="1300" dirty="0">
                <a:solidFill>
                  <a:srgbClr val="16202E"/>
                </a:solidFill>
                <a:latin typeface="Calibri" pitchFamily="34" charset="0"/>
                <a:ea typeface="Calibri" pitchFamily="34" charset="-122"/>
                <a:cs typeface="Calibri" pitchFamily="34" charset="-120"/>
              </a:rPr>
              <a:t>M-C  leave-one-out</a:t>
            </a:r>
            <a:endParaRPr lang="en-US" sz="1300" dirty="0"/>
          </a:p>
        </p:txBody>
      </p:sp>
      <p:sp>
        <p:nvSpPr>
          <p:cNvPr id="12" name="Text 9"/>
          <p:cNvSpPr/>
          <p:nvPr/>
        </p:nvSpPr>
        <p:spPr>
          <a:xfrm>
            <a:off x="2468880" y="2724912"/>
            <a:ext cx="960120" cy="384048"/>
          </a:xfrm>
          <a:prstGeom prst="rect">
            <a:avLst/>
          </a:prstGeom>
          <a:noFill/>
          <a:ln/>
        </p:spPr>
        <p:txBody>
          <a:bodyPr wrap="square" lIns="0" tIns="0" rIns="0" bIns="0" rtlCol="0" anchor="ctr"/>
          <a:lstStyle/>
          <a:p>
            <a:pPr algn="r" indent="0" marL="0">
              <a:buNone/>
            </a:pPr>
            <a:r>
              <a:rPr lang="en-US" sz="1300" dirty="0">
                <a:solidFill>
                  <a:srgbClr val="16202E"/>
                </a:solidFill>
                <a:latin typeface="Courier New" pitchFamily="34" charset="0"/>
                <a:ea typeface="Courier New" pitchFamily="34" charset="-122"/>
                <a:cs typeface="Courier New" pitchFamily="34" charset="-120"/>
              </a:rPr>
              <a:t>+4.79</a:t>
            </a:r>
            <a:endParaRPr lang="en-US" sz="1300" dirty="0"/>
          </a:p>
        </p:txBody>
      </p:sp>
      <p:sp>
        <p:nvSpPr>
          <p:cNvPr id="13" name="Text 10"/>
          <p:cNvSpPr/>
          <p:nvPr/>
        </p:nvSpPr>
        <p:spPr>
          <a:xfrm>
            <a:off x="3520440" y="2724912"/>
            <a:ext cx="960120" cy="384048"/>
          </a:xfrm>
          <a:prstGeom prst="rect">
            <a:avLst/>
          </a:prstGeom>
          <a:noFill/>
          <a:ln/>
        </p:spPr>
        <p:txBody>
          <a:bodyPr wrap="square" lIns="0" tIns="0" rIns="0" bIns="0" rtlCol="0" anchor="ctr"/>
          <a:lstStyle/>
          <a:p>
            <a:pPr algn="r" indent="0" marL="0">
              <a:buNone/>
            </a:pPr>
            <a:r>
              <a:rPr lang="en-US" sz="1300" dirty="0">
                <a:solidFill>
                  <a:srgbClr val="16202E"/>
                </a:solidFill>
                <a:latin typeface="Courier New" pitchFamily="34" charset="0"/>
                <a:ea typeface="Courier New" pitchFamily="34" charset="-122"/>
                <a:cs typeface="Courier New" pitchFamily="34" charset="-120"/>
              </a:rPr>
              <a:t>+0.21</a:t>
            </a:r>
            <a:endParaRPr lang="en-US" sz="1300" dirty="0"/>
          </a:p>
        </p:txBody>
      </p:sp>
      <p:sp>
        <p:nvSpPr>
          <p:cNvPr id="14" name="Text 11"/>
          <p:cNvSpPr/>
          <p:nvPr/>
        </p:nvSpPr>
        <p:spPr>
          <a:xfrm>
            <a:off x="4572000" y="2724912"/>
            <a:ext cx="960120" cy="384048"/>
          </a:xfrm>
          <a:prstGeom prst="rect">
            <a:avLst/>
          </a:prstGeom>
          <a:noFill/>
          <a:ln/>
        </p:spPr>
        <p:txBody>
          <a:bodyPr wrap="square" lIns="0" tIns="0" rIns="0" bIns="0" rtlCol="0" anchor="ctr"/>
          <a:lstStyle/>
          <a:p>
            <a:pPr algn="r" indent="0" marL="0">
              <a:buNone/>
            </a:pPr>
            <a:r>
              <a:rPr lang="en-US" sz="1300" dirty="0">
                <a:solidFill>
                  <a:srgbClr val="16202E"/>
                </a:solidFill>
                <a:latin typeface="Courier New" pitchFamily="34" charset="0"/>
                <a:ea typeface="Courier New" pitchFamily="34" charset="-122"/>
                <a:cs typeface="Courier New" pitchFamily="34" charset="-120"/>
              </a:rPr>
              <a:t>−0.22</a:t>
            </a:r>
            <a:endParaRPr lang="en-US" sz="1300" dirty="0"/>
          </a:p>
        </p:txBody>
      </p:sp>
      <p:sp>
        <p:nvSpPr>
          <p:cNvPr id="15" name="Text 12"/>
          <p:cNvSpPr/>
          <p:nvPr/>
        </p:nvSpPr>
        <p:spPr>
          <a:xfrm>
            <a:off x="868680" y="3236976"/>
            <a:ext cx="1645920" cy="384048"/>
          </a:xfrm>
          <a:prstGeom prst="rect">
            <a:avLst/>
          </a:prstGeom>
          <a:noFill/>
          <a:ln/>
        </p:spPr>
        <p:txBody>
          <a:bodyPr wrap="square" lIns="0" tIns="0" rIns="0" bIns="0" rtlCol="0" anchor="ctr"/>
          <a:lstStyle/>
          <a:p>
            <a:pPr algn="l" indent="0" marL="0">
              <a:buNone/>
            </a:pPr>
            <a:r>
              <a:rPr lang="en-US" sz="1300" dirty="0">
                <a:solidFill>
                  <a:srgbClr val="16202E"/>
                </a:solidFill>
                <a:latin typeface="Calibri" pitchFamily="34" charset="0"/>
                <a:ea typeface="Calibri" pitchFamily="34" charset="-122"/>
                <a:cs typeface="Calibri" pitchFamily="34" charset="-120"/>
              </a:rPr>
              <a:t>causal prefix</a:t>
            </a:r>
            <a:endParaRPr lang="en-US" sz="1300" dirty="0"/>
          </a:p>
        </p:txBody>
      </p:sp>
      <p:sp>
        <p:nvSpPr>
          <p:cNvPr id="16" name="Text 13"/>
          <p:cNvSpPr/>
          <p:nvPr/>
        </p:nvSpPr>
        <p:spPr>
          <a:xfrm>
            <a:off x="2468880" y="3236976"/>
            <a:ext cx="960120" cy="384048"/>
          </a:xfrm>
          <a:prstGeom prst="rect">
            <a:avLst/>
          </a:prstGeom>
          <a:noFill/>
          <a:ln/>
        </p:spPr>
        <p:txBody>
          <a:bodyPr wrap="square" lIns="0" tIns="0" rIns="0" bIns="0" rtlCol="0" anchor="ctr"/>
          <a:lstStyle/>
          <a:p>
            <a:pPr algn="r" indent="0" marL="0">
              <a:buNone/>
            </a:pPr>
            <a:r>
              <a:rPr lang="en-US" sz="1300" dirty="0">
                <a:solidFill>
                  <a:srgbClr val="16202E"/>
                </a:solidFill>
                <a:latin typeface="Courier New" pitchFamily="34" charset="0"/>
                <a:ea typeface="Courier New" pitchFamily="34" charset="-122"/>
                <a:cs typeface="Courier New" pitchFamily="34" charset="-120"/>
              </a:rPr>
              <a:t>+2.03</a:t>
            </a:r>
            <a:endParaRPr lang="en-US" sz="1300" dirty="0"/>
          </a:p>
        </p:txBody>
      </p:sp>
      <p:sp>
        <p:nvSpPr>
          <p:cNvPr id="17" name="Text 14"/>
          <p:cNvSpPr/>
          <p:nvPr/>
        </p:nvSpPr>
        <p:spPr>
          <a:xfrm>
            <a:off x="3520440" y="3236976"/>
            <a:ext cx="960120" cy="384048"/>
          </a:xfrm>
          <a:prstGeom prst="rect">
            <a:avLst/>
          </a:prstGeom>
          <a:noFill/>
          <a:ln/>
        </p:spPr>
        <p:txBody>
          <a:bodyPr wrap="square" lIns="0" tIns="0" rIns="0" bIns="0" rtlCol="0" anchor="ctr"/>
          <a:lstStyle/>
          <a:p>
            <a:pPr algn="r" indent="0" marL="0">
              <a:buNone/>
            </a:pPr>
            <a:r>
              <a:rPr lang="en-US" sz="1300" dirty="0">
                <a:solidFill>
                  <a:srgbClr val="16202E"/>
                </a:solidFill>
                <a:latin typeface="Courier New" pitchFamily="34" charset="0"/>
                <a:ea typeface="Courier New" pitchFamily="34" charset="-122"/>
                <a:cs typeface="Courier New" pitchFamily="34" charset="-120"/>
              </a:rPr>
              <a:t>+0.48</a:t>
            </a:r>
            <a:endParaRPr lang="en-US" sz="1300" dirty="0"/>
          </a:p>
        </p:txBody>
      </p:sp>
      <p:sp>
        <p:nvSpPr>
          <p:cNvPr id="18" name="Text 15"/>
          <p:cNvSpPr/>
          <p:nvPr/>
        </p:nvSpPr>
        <p:spPr>
          <a:xfrm>
            <a:off x="4572000" y="3236976"/>
            <a:ext cx="960120" cy="384048"/>
          </a:xfrm>
          <a:prstGeom prst="rect">
            <a:avLst/>
          </a:prstGeom>
          <a:noFill/>
          <a:ln/>
        </p:spPr>
        <p:txBody>
          <a:bodyPr wrap="square" lIns="0" tIns="0" rIns="0" bIns="0" rtlCol="0" anchor="ctr"/>
          <a:lstStyle/>
          <a:p>
            <a:pPr algn="r" indent="0" marL="0">
              <a:buNone/>
            </a:pPr>
            <a:r>
              <a:rPr lang="en-US" sz="1300" dirty="0">
                <a:solidFill>
                  <a:srgbClr val="16202E"/>
                </a:solidFill>
                <a:latin typeface="Courier New" pitchFamily="34" charset="0"/>
                <a:ea typeface="Courier New" pitchFamily="34" charset="-122"/>
                <a:cs typeface="Courier New" pitchFamily="34" charset="-120"/>
              </a:rPr>
              <a:t>−0.22</a:t>
            </a:r>
            <a:endParaRPr lang="en-US" sz="1300" dirty="0"/>
          </a:p>
        </p:txBody>
      </p:sp>
      <p:sp>
        <p:nvSpPr>
          <p:cNvPr id="19" name="Shape 16"/>
          <p:cNvSpPr/>
          <p:nvPr/>
        </p:nvSpPr>
        <p:spPr>
          <a:xfrm>
            <a:off x="777240" y="3694176"/>
            <a:ext cx="4617720" cy="457200"/>
          </a:xfrm>
          <a:prstGeom prst="roundRect">
            <a:avLst>
              <a:gd name="adj" fmla="val 8000"/>
            </a:avLst>
          </a:prstGeom>
          <a:solidFill>
            <a:srgbClr val="FDF1E1"/>
          </a:solidFill>
          <a:ln w="12700">
            <a:solidFill>
              <a:srgbClr val="FDF1E1"/>
            </a:solidFill>
            <a:prstDash val="solid"/>
          </a:ln>
          <a:effectLst>
            <a:outerShdw sx="100000" sy="100000" kx="0" ky="0" algn="bl" rotWithShape="0" blurRad="101600" dist="12700" dir="5400000">
              <a:srgbClr val="9AA7B4">
                <a:alpha val="22000"/>
              </a:srgbClr>
            </a:outerShdw>
          </a:effectLst>
        </p:spPr>
      </p:sp>
      <p:sp>
        <p:nvSpPr>
          <p:cNvPr id="20" name="Text 17"/>
          <p:cNvSpPr/>
          <p:nvPr/>
        </p:nvSpPr>
        <p:spPr>
          <a:xfrm>
            <a:off x="868680" y="3749040"/>
            <a:ext cx="1645920" cy="384048"/>
          </a:xfrm>
          <a:prstGeom prst="rect">
            <a:avLst/>
          </a:prstGeom>
          <a:noFill/>
          <a:ln/>
        </p:spPr>
        <p:txBody>
          <a:bodyPr wrap="square" lIns="0" tIns="0" rIns="0" bIns="0" rtlCol="0" anchor="ctr"/>
          <a:lstStyle/>
          <a:p>
            <a:pPr algn="l" indent="0" marL="0">
              <a:buNone/>
            </a:pPr>
            <a:r>
              <a:rPr lang="en-US" sz="1300" b="1" dirty="0">
                <a:solidFill>
                  <a:srgbClr val="E8871E"/>
                </a:solidFill>
                <a:latin typeface="Calibri" pitchFamily="34" charset="0"/>
                <a:ea typeface="Calibri" pitchFamily="34" charset="-122"/>
                <a:cs typeface="Calibri" pitchFamily="34" charset="-120"/>
              </a:rPr>
              <a:t>M-K  C(all)</a:t>
            </a:r>
            <a:endParaRPr lang="en-US" sz="1300" dirty="0"/>
          </a:p>
        </p:txBody>
      </p:sp>
      <p:sp>
        <p:nvSpPr>
          <p:cNvPr id="21" name="Text 18"/>
          <p:cNvSpPr/>
          <p:nvPr/>
        </p:nvSpPr>
        <p:spPr>
          <a:xfrm>
            <a:off x="2468880" y="3749040"/>
            <a:ext cx="960120" cy="384048"/>
          </a:xfrm>
          <a:prstGeom prst="rect">
            <a:avLst/>
          </a:prstGeom>
          <a:noFill/>
          <a:ln/>
        </p:spPr>
        <p:txBody>
          <a:bodyPr wrap="square" lIns="0" tIns="0" rIns="0" bIns="0" rtlCol="0" anchor="ctr"/>
          <a:lstStyle/>
          <a:p>
            <a:pPr algn="r" indent="0" marL="0">
              <a:buNone/>
            </a:pPr>
            <a:r>
              <a:rPr lang="en-US" sz="1300" b="1" dirty="0">
                <a:solidFill>
                  <a:srgbClr val="E8871E"/>
                </a:solidFill>
                <a:latin typeface="Courier New" pitchFamily="34" charset="0"/>
                <a:ea typeface="Courier New" pitchFamily="34" charset="-122"/>
                <a:cs typeface="Courier New" pitchFamily="34" charset="-120"/>
              </a:rPr>
              <a:t>−1.37</a:t>
            </a:r>
            <a:endParaRPr lang="en-US" sz="1300" dirty="0"/>
          </a:p>
        </p:txBody>
      </p:sp>
      <p:sp>
        <p:nvSpPr>
          <p:cNvPr id="22" name="Text 19"/>
          <p:cNvSpPr/>
          <p:nvPr/>
        </p:nvSpPr>
        <p:spPr>
          <a:xfrm>
            <a:off x="3520440" y="3749040"/>
            <a:ext cx="960120" cy="384048"/>
          </a:xfrm>
          <a:prstGeom prst="rect">
            <a:avLst/>
          </a:prstGeom>
          <a:noFill/>
          <a:ln/>
        </p:spPr>
        <p:txBody>
          <a:bodyPr wrap="square" lIns="0" tIns="0" rIns="0" bIns="0" rtlCol="0" anchor="ctr"/>
          <a:lstStyle/>
          <a:p>
            <a:pPr algn="r" indent="0" marL="0">
              <a:buNone/>
            </a:pPr>
            <a:r>
              <a:rPr lang="en-US" sz="1300" b="1" dirty="0">
                <a:solidFill>
                  <a:srgbClr val="E8871E"/>
                </a:solidFill>
                <a:latin typeface="Courier New" pitchFamily="34" charset="0"/>
                <a:ea typeface="Courier New" pitchFamily="34" charset="-122"/>
                <a:cs typeface="Courier New" pitchFamily="34" charset="-120"/>
              </a:rPr>
              <a:t>−0.14</a:t>
            </a:r>
            <a:endParaRPr lang="en-US" sz="1300" dirty="0"/>
          </a:p>
        </p:txBody>
      </p:sp>
      <p:sp>
        <p:nvSpPr>
          <p:cNvPr id="23" name="Text 20"/>
          <p:cNvSpPr/>
          <p:nvPr/>
        </p:nvSpPr>
        <p:spPr>
          <a:xfrm>
            <a:off x="4572000" y="3749040"/>
            <a:ext cx="960120" cy="384048"/>
          </a:xfrm>
          <a:prstGeom prst="rect">
            <a:avLst/>
          </a:prstGeom>
          <a:noFill/>
          <a:ln/>
        </p:spPr>
        <p:txBody>
          <a:bodyPr wrap="square" lIns="0" tIns="0" rIns="0" bIns="0" rtlCol="0" anchor="ctr"/>
          <a:lstStyle/>
          <a:p>
            <a:pPr algn="r" indent="0" marL="0">
              <a:buNone/>
            </a:pPr>
            <a:r>
              <a:rPr lang="en-US" sz="1300" b="1" dirty="0">
                <a:solidFill>
                  <a:srgbClr val="E8871E"/>
                </a:solidFill>
                <a:latin typeface="Courier New" pitchFamily="34" charset="0"/>
                <a:ea typeface="Courier New" pitchFamily="34" charset="-122"/>
                <a:cs typeface="Courier New" pitchFamily="34" charset="-120"/>
              </a:rPr>
              <a:t>+0.79</a:t>
            </a:r>
            <a:endParaRPr lang="en-US" sz="1300" dirty="0"/>
          </a:p>
        </p:txBody>
      </p:sp>
      <p:sp>
        <p:nvSpPr>
          <p:cNvPr id="24" name="Text 21"/>
          <p:cNvSpPr/>
          <p:nvPr/>
        </p:nvSpPr>
        <p:spPr>
          <a:xfrm>
            <a:off x="841248" y="4315968"/>
            <a:ext cx="4663440" cy="685800"/>
          </a:xfrm>
          <a:prstGeom prst="rect">
            <a:avLst/>
          </a:prstGeom>
          <a:noFill/>
          <a:ln/>
        </p:spPr>
        <p:txBody>
          <a:bodyPr wrap="square" lIns="0" tIns="0" rIns="0" bIns="0" rtlCol="0" anchor="ctr"/>
          <a:lstStyle/>
          <a:p>
            <a:pPr indent="0" marL="0">
              <a:buNone/>
            </a:pPr>
            <a:r>
              <a:rPr lang="en-US" sz="1100" dirty="0">
                <a:solidFill>
                  <a:srgbClr val="6B7A8F"/>
                </a:solidFill>
                <a:latin typeface="Calibri" pitchFamily="34" charset="0"/>
                <a:ea typeface="Calibri" pitchFamily="34" charset="-122"/>
                <a:cs typeface="Calibri" pitchFamily="34" charset="-120"/>
              </a:rPr>
              <a:t>M-C's marginal is 366× larger at one section than at 22 — it paid the policy to emit a worse answer — while E[A] = 0 held exactly, because the centring is computed inside the quantity being gamed.</a:t>
            </a:r>
            <a:endParaRPr lang="en-US" sz="1100" dirty="0"/>
          </a:p>
        </p:txBody>
      </p:sp>
      <p:sp>
        <p:nvSpPr>
          <p:cNvPr id="25" name="Text 22"/>
          <p:cNvSpPr/>
          <p:nvPr/>
        </p:nvSpPr>
        <p:spPr>
          <a:xfrm>
            <a:off x="548640" y="5257800"/>
            <a:ext cx="11064240" cy="640080"/>
          </a:xfrm>
          <a:prstGeom prst="rect">
            <a:avLst/>
          </a:prstGeom>
          <a:noFill/>
          <a:ln/>
        </p:spPr>
        <p:txBody>
          <a:bodyPr wrap="square" lIns="0" tIns="0" rIns="0" bIns="0" rtlCol="0" anchor="ctr"/>
          <a:lstStyle/>
          <a:p>
            <a:pPr indent="0" marL="0">
              <a:buNone/>
            </a:pPr>
            <a:r>
              <a:rPr lang="en-US" sz="1350" i="1" dirty="0">
                <a:solidFill>
                  <a:srgbClr val="0F1E3D"/>
                </a:solidFill>
                <a:latin typeface="Cambria" pitchFamily="34" charset="0"/>
                <a:ea typeface="Cambria" pitchFamily="34" charset="-122"/>
                <a:cs typeface="Cambria" pitchFamily="34" charset="-120"/>
              </a:rPr>
              <a:t>“Scale-correct” means the reward's dependence on the candidate count has the same SIGN as the deployed metric's — not that it is invariant. It is checkable from a histogram before any GPU time.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74320"/>
            <a:ext cx="11064240" cy="713232"/>
          </a:xfrm>
          <a:prstGeom prst="rect">
            <a:avLst/>
          </a:prstGeom>
          <a:noFill/>
          <a:ln/>
        </p:spPr>
        <p:txBody>
          <a:bodyPr wrap="square" lIns="0" tIns="0" rIns="0" bIns="0" rtlCol="0" anchor="t"/>
          <a:lstStyle/>
          <a:p>
            <a:pPr indent="0" marL="0">
              <a:buNone/>
            </a:pPr>
            <a:r>
              <a:rPr lang="en-US" sz="2800" b="1" dirty="0">
                <a:solidFill>
                  <a:srgbClr val="0F1E3D"/>
                </a:solidFill>
                <a:latin typeface="Cambria" pitchFamily="34" charset="0"/>
                <a:ea typeface="Cambria" pitchFamily="34" charset="-122"/>
                <a:cs typeface="Cambria" pitchFamily="34" charset="-120"/>
              </a:rPr>
              <a:t>The shaping line — two failures, one success</a:t>
            </a:r>
            <a:endParaRPr lang="en-US" sz="2800" dirty="0"/>
          </a:p>
        </p:txBody>
      </p:sp>
      <p:sp>
        <p:nvSpPr>
          <p:cNvPr id="3" name="Text 1"/>
          <p:cNvSpPr/>
          <p:nvPr/>
        </p:nvSpPr>
        <p:spPr>
          <a:xfrm>
            <a:off x="548640" y="1024128"/>
            <a:ext cx="11064240" cy="347472"/>
          </a:xfrm>
          <a:prstGeom prst="rect">
            <a:avLst/>
          </a:prstGeom>
          <a:noFill/>
          <a:ln/>
        </p:spPr>
        <p:txBody>
          <a:bodyPr wrap="square" lIns="0" tIns="0" rIns="0" bIns="0" rtlCol="0" anchor="ctr"/>
          <a:lstStyle/>
          <a:p>
            <a:pPr indent="0" marL="0">
              <a:buNone/>
            </a:pPr>
            <a:r>
              <a:rPr lang="en-US" sz="1350" i="1" dirty="0">
                <a:solidFill>
                  <a:srgbClr val="6B7A8F"/>
                </a:solidFill>
                <a:latin typeface="Calibri" pitchFamily="34" charset="0"/>
                <a:ea typeface="Calibri" pitchFamily="34" charset="-122"/>
                <a:cs typeface="Calibri" pitchFamily="34" charset="-120"/>
              </a:rPr>
              <a:t>Credit a section for what it ADDED, rather than reinforcing every section equally</a:t>
            </a:r>
            <a:endParaRPr lang="en-US" sz="1350" dirty="0"/>
          </a:p>
        </p:txBody>
      </p:sp>
      <p:sp>
        <p:nvSpPr>
          <p:cNvPr id="4" name="Shape 2"/>
          <p:cNvSpPr/>
          <p:nvPr/>
        </p:nvSpPr>
        <p:spPr>
          <a:xfrm>
            <a:off x="548640" y="1481328"/>
            <a:ext cx="11064240" cy="1325880"/>
          </a:xfrm>
          <a:prstGeom prst="roundRect">
            <a:avLst>
              <a:gd name="adj" fmla="val 2759"/>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5" name="Shape 3"/>
          <p:cNvSpPr/>
          <p:nvPr/>
        </p:nvSpPr>
        <p:spPr>
          <a:xfrm>
            <a:off x="822960" y="1700784"/>
            <a:ext cx="841248" cy="274320"/>
          </a:xfrm>
          <a:prstGeom prst="roundRect">
            <a:avLst>
              <a:gd name="adj" fmla="val 20000"/>
            </a:avLst>
          </a:prstGeom>
          <a:solidFill>
            <a:srgbClr val="C1443C"/>
          </a:solidFill>
          <a:ln w="12700">
            <a:solidFill>
              <a:srgbClr val="C1443C"/>
            </a:solidFill>
            <a:prstDash val="solid"/>
          </a:ln>
        </p:spPr>
      </p:sp>
      <p:sp>
        <p:nvSpPr>
          <p:cNvPr id="6" name="Text 4"/>
          <p:cNvSpPr/>
          <p:nvPr/>
        </p:nvSpPr>
        <p:spPr>
          <a:xfrm>
            <a:off x="822960" y="1700784"/>
            <a:ext cx="8412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M-KS</a:t>
            </a:r>
            <a:endParaRPr lang="en-US" sz="1100" dirty="0"/>
          </a:p>
        </p:txBody>
      </p:sp>
      <p:sp>
        <p:nvSpPr>
          <p:cNvPr id="7" name="Text 5"/>
          <p:cNvSpPr/>
          <p:nvPr/>
        </p:nvSpPr>
        <p:spPr>
          <a:xfrm>
            <a:off x="1828800" y="1645920"/>
            <a:ext cx="9418320" cy="329184"/>
          </a:xfrm>
          <a:prstGeom prst="rect">
            <a:avLst/>
          </a:prstGeom>
          <a:noFill/>
          <a:ln/>
        </p:spPr>
        <p:txBody>
          <a:bodyPr wrap="square" lIns="0" tIns="0" rIns="0" bIns="0" rtlCol="0" anchor="ctr"/>
          <a:lstStyle/>
          <a:p>
            <a:pPr indent="0" marL="0">
              <a:buNone/>
            </a:pPr>
            <a:r>
              <a:rPr lang="en-US" sz="1300" b="1" dirty="0">
                <a:solidFill>
                  <a:srgbClr val="0F1E3D"/>
                </a:solidFill>
                <a:latin typeface="Cambria" pitchFamily="34" charset="0"/>
                <a:ea typeface="Cambria" pitchFamily="34" charset="-122"/>
                <a:cs typeface="Cambria" pitchFamily="34" charset="-120"/>
              </a:rPr>
              <a:t>raw prefix marginal, centred within the rollout</a:t>
            </a:r>
            <a:endParaRPr lang="en-US" sz="1300" dirty="0"/>
          </a:p>
        </p:txBody>
      </p:sp>
      <p:sp>
        <p:nvSpPr>
          <p:cNvPr id="8" name="Text 6"/>
          <p:cNvSpPr/>
          <p:nvPr/>
        </p:nvSpPr>
        <p:spPr>
          <a:xfrm>
            <a:off x="1828800" y="2011680"/>
            <a:ext cx="9418320" cy="713232"/>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Count COLLAPSE to 10.7 by step 21 — the fastest death here. Zero-sum bounded the rollout's LEVEL while leaving its SHAPE decaying in section index. A section owns the token that opens it, so that is a stop-early signal.</a:t>
            </a:r>
            <a:endParaRPr lang="en-US" sz="1200" dirty="0"/>
          </a:p>
        </p:txBody>
      </p:sp>
      <p:sp>
        <p:nvSpPr>
          <p:cNvPr id="9" name="Shape 7"/>
          <p:cNvSpPr/>
          <p:nvPr/>
        </p:nvSpPr>
        <p:spPr>
          <a:xfrm>
            <a:off x="548640" y="2962656"/>
            <a:ext cx="11064240" cy="1325880"/>
          </a:xfrm>
          <a:prstGeom prst="roundRect">
            <a:avLst>
              <a:gd name="adj" fmla="val 2759"/>
            </a:avLst>
          </a:prstGeom>
          <a:solidFill>
            <a:srgbClr val="FDF1E1"/>
          </a:solidFill>
          <a:ln w="12700">
            <a:solidFill>
              <a:srgbClr val="FDF1E1"/>
            </a:solidFill>
            <a:prstDash val="solid"/>
          </a:ln>
          <a:effectLst>
            <a:outerShdw sx="100000" sy="100000" kx="0" ky="0" algn="bl" rotWithShape="0" blurRad="101600" dist="12700" dir="5400000">
              <a:srgbClr val="9AA7B4">
                <a:alpha val="22000"/>
              </a:srgbClr>
            </a:outerShdw>
          </a:effectLst>
        </p:spPr>
      </p:sp>
      <p:sp>
        <p:nvSpPr>
          <p:cNvPr id="10" name="Shape 8"/>
          <p:cNvSpPr/>
          <p:nvPr/>
        </p:nvSpPr>
        <p:spPr>
          <a:xfrm>
            <a:off x="822960" y="3182112"/>
            <a:ext cx="841248" cy="274320"/>
          </a:xfrm>
          <a:prstGeom prst="roundRect">
            <a:avLst>
              <a:gd name="adj" fmla="val 20000"/>
            </a:avLst>
          </a:prstGeom>
          <a:solidFill>
            <a:srgbClr val="E8871E"/>
          </a:solidFill>
          <a:ln w="12700">
            <a:solidFill>
              <a:srgbClr val="E8871E"/>
            </a:solidFill>
            <a:prstDash val="solid"/>
          </a:ln>
        </p:spPr>
      </p:sp>
      <p:sp>
        <p:nvSpPr>
          <p:cNvPr id="11" name="Text 9"/>
          <p:cNvSpPr/>
          <p:nvPr/>
        </p:nvSpPr>
        <p:spPr>
          <a:xfrm>
            <a:off x="822960" y="3182112"/>
            <a:ext cx="8412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M-KS2</a:t>
            </a:r>
            <a:endParaRPr lang="en-US" sz="1100" dirty="0"/>
          </a:p>
        </p:txBody>
      </p:sp>
      <p:sp>
        <p:nvSpPr>
          <p:cNvPr id="12" name="Text 10"/>
          <p:cNvSpPr/>
          <p:nvPr/>
        </p:nvSpPr>
        <p:spPr>
          <a:xfrm>
            <a:off x="1828800" y="3127248"/>
            <a:ext cx="9418320" cy="329184"/>
          </a:xfrm>
          <a:prstGeom prst="rect">
            <a:avLst/>
          </a:prstGeom>
          <a:noFill/>
          <a:ln/>
        </p:spPr>
        <p:txBody>
          <a:bodyPr wrap="square" lIns="0" tIns="0" rIns="0" bIns="0" rtlCol="0" anchor="ctr"/>
          <a:lstStyle/>
          <a:p>
            <a:pPr indent="0" marL="0">
              <a:buNone/>
            </a:pPr>
            <a:r>
              <a:rPr lang="en-US" sz="1300" b="1" dirty="0">
                <a:solidFill>
                  <a:srgbClr val="0F1E3D"/>
                </a:solidFill>
                <a:latin typeface="Cambria" pitchFamily="34" charset="0"/>
                <a:ea typeface="Cambria" pitchFamily="34" charset="-122"/>
                <a:cs typeface="Cambria" pitchFamily="34" charset="-120"/>
              </a:rPr>
              <a:t>+ subtract the group's marginal at the same position</a:t>
            </a:r>
            <a:endParaRPr lang="en-US" sz="1300" dirty="0"/>
          </a:p>
        </p:txBody>
      </p:sp>
      <p:sp>
        <p:nvSpPr>
          <p:cNvPr id="13" name="Text 11"/>
          <p:cNvSpPr/>
          <p:nvPr/>
        </p:nvSpPr>
        <p:spPr>
          <a:xfrm>
            <a:off x="1828800" y="3493008"/>
            <a:ext cx="9418320" cy="713232"/>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48 steps, no gate strike. ORACLE-best 0.5602 → 0.5677, +0.0074 with the CI excluding zero, at no cost to consensus. Quality shifted EARLIER in the rollout.</a:t>
            </a:r>
            <a:endParaRPr lang="en-US" sz="1200" dirty="0"/>
          </a:p>
        </p:txBody>
      </p:sp>
      <p:sp>
        <p:nvSpPr>
          <p:cNvPr id="14" name="Shape 12"/>
          <p:cNvSpPr/>
          <p:nvPr/>
        </p:nvSpPr>
        <p:spPr>
          <a:xfrm>
            <a:off x="548640" y="4443984"/>
            <a:ext cx="11064240" cy="1325880"/>
          </a:xfrm>
          <a:prstGeom prst="roundRect">
            <a:avLst>
              <a:gd name="adj" fmla="val 2759"/>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15" name="Shape 13"/>
          <p:cNvSpPr/>
          <p:nvPr/>
        </p:nvSpPr>
        <p:spPr>
          <a:xfrm>
            <a:off x="822960" y="4663440"/>
            <a:ext cx="841248" cy="274320"/>
          </a:xfrm>
          <a:prstGeom prst="roundRect">
            <a:avLst>
              <a:gd name="adj" fmla="val 20000"/>
            </a:avLst>
          </a:prstGeom>
          <a:solidFill>
            <a:srgbClr val="C1443C"/>
          </a:solidFill>
          <a:ln w="12700">
            <a:solidFill>
              <a:srgbClr val="C1443C"/>
            </a:solidFill>
            <a:prstDash val="solid"/>
          </a:ln>
        </p:spPr>
      </p:sp>
      <p:sp>
        <p:nvSpPr>
          <p:cNvPr id="16" name="Text 14"/>
          <p:cNvSpPr/>
          <p:nvPr/>
        </p:nvSpPr>
        <p:spPr>
          <a:xfrm>
            <a:off x="822960" y="4663440"/>
            <a:ext cx="8412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M-KS3</a:t>
            </a:r>
            <a:endParaRPr lang="en-US" sz="1100" dirty="0"/>
          </a:p>
        </p:txBody>
      </p:sp>
      <p:sp>
        <p:nvSpPr>
          <p:cNvPr id="17" name="Text 15"/>
          <p:cNvSpPr/>
          <p:nvPr/>
        </p:nvSpPr>
        <p:spPr>
          <a:xfrm>
            <a:off x="1828800" y="4608576"/>
            <a:ext cx="9418320" cy="329184"/>
          </a:xfrm>
          <a:prstGeom prst="rect">
            <a:avLst/>
          </a:prstGeom>
          <a:noFill/>
          <a:ln/>
        </p:spPr>
        <p:txBody>
          <a:bodyPr wrap="square" lIns="0" tIns="0" rIns="0" bIns="0" rtlCol="0" anchor="ctr"/>
          <a:lstStyle/>
          <a:p>
            <a:pPr indent="0" marL="0">
              <a:buNone/>
            </a:pPr>
            <a:r>
              <a:rPr lang="en-US" sz="1300" b="1" dirty="0">
                <a:solidFill>
                  <a:srgbClr val="0F1E3D"/>
                </a:solidFill>
                <a:latin typeface="Cambria" pitchFamily="34" charset="0"/>
                <a:ea typeface="Cambria" pitchFamily="34" charset="-122"/>
                <a:cs typeface="Cambria" pitchFamily="34" charset="-120"/>
              </a:rPr>
              <a:t>direct novelty: (new true − new false) / R</a:t>
            </a:r>
            <a:endParaRPr lang="en-US" sz="1300" dirty="0"/>
          </a:p>
        </p:txBody>
      </p:sp>
      <p:sp>
        <p:nvSpPr>
          <p:cNvPr id="18" name="Text 16"/>
          <p:cNvSpPr/>
          <p:nvPr/>
        </p:nvSpPr>
        <p:spPr>
          <a:xfrm>
            <a:off x="1828800" y="4974336"/>
            <a:ext cx="9418320" cy="713232"/>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Count RUNAWAY to 102 by step 15, Jaccard 0.14 → 0.01. The false-pair term prices padding with junk but not SPLITTING — slicing the same content finer raises the mean 7.4× while the sum is invariant.</a:t>
            </a:r>
            <a:endParaRPr lang="en-US" sz="1200" dirty="0"/>
          </a:p>
        </p:txBody>
      </p:sp>
      <p:sp>
        <p:nvSpPr>
          <p:cNvPr id="19" name="Text 17"/>
          <p:cNvSpPr/>
          <p:nvPr/>
        </p:nvSpPr>
        <p:spPr>
          <a:xfrm>
            <a:off x="548640" y="5989320"/>
            <a:ext cx="11064240" cy="548640"/>
          </a:xfrm>
          <a:prstGeom prst="rect">
            <a:avLst/>
          </a:prstGeom>
          <a:noFill/>
          <a:ln/>
        </p:spPr>
        <p:txBody>
          <a:bodyPr wrap="square" lIns="0" tIns="0" rIns="0" bIns="0" rtlCol="0" anchor="ctr"/>
          <a:lstStyle/>
          <a:p>
            <a:pPr indent="0" marL="0">
              <a:buNone/>
            </a:pPr>
            <a:r>
              <a:rPr lang="en-US" sz="1250" i="1" dirty="0">
                <a:solidFill>
                  <a:srgbClr val="0F1E3D"/>
                </a:solidFill>
                <a:latin typeface="Cambria" pitchFamily="34" charset="0"/>
                <a:ea typeface="Cambria" pitchFamily="34" charset="-122"/>
                <a:cs typeface="Cambria" pitchFamily="34" charset="-120"/>
              </a:rPr>
              <a:t>Both failures are the same bug: a per-section reward whose value depends on the PARTITION rather than the content. M-KS2 survives because its proxy is weak (r = 0.194) and partition-insensitive — sharpening it destroyed the property that made it safe.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74320"/>
            <a:ext cx="11064240" cy="713232"/>
          </a:xfrm>
          <a:prstGeom prst="rect">
            <a:avLst/>
          </a:prstGeom>
          <a:noFill/>
          <a:ln/>
        </p:spPr>
        <p:txBody>
          <a:bodyPr wrap="square" lIns="0" tIns="0" rIns="0" bIns="0" rtlCol="0" anchor="t"/>
          <a:lstStyle/>
          <a:p>
            <a:pPr indent="0" marL="0">
              <a:buNone/>
            </a:pPr>
            <a:r>
              <a:rPr lang="en-US" sz="2800" b="1" dirty="0">
                <a:solidFill>
                  <a:srgbClr val="0F1E3D"/>
                </a:solidFill>
                <a:latin typeface="Cambria" pitchFamily="34" charset="0"/>
                <a:ea typeface="Cambria" pitchFamily="34" charset="-122"/>
                <a:cs typeface="Cambria" pitchFamily="34" charset="-120"/>
              </a:rPr>
              <a:t>The one lever that moved a number</a:t>
            </a:r>
            <a:endParaRPr lang="en-US" sz="2800" dirty="0"/>
          </a:p>
        </p:txBody>
      </p:sp>
      <p:sp>
        <p:nvSpPr>
          <p:cNvPr id="3" name="Text 1"/>
          <p:cNvSpPr/>
          <p:nvPr/>
        </p:nvSpPr>
        <p:spPr>
          <a:xfrm>
            <a:off x="548640" y="1024128"/>
            <a:ext cx="11064240" cy="347472"/>
          </a:xfrm>
          <a:prstGeom prst="rect">
            <a:avLst/>
          </a:prstGeom>
          <a:noFill/>
          <a:ln/>
        </p:spPr>
        <p:txBody>
          <a:bodyPr wrap="square" lIns="0" tIns="0" rIns="0" bIns="0" rtlCol="0" anchor="ctr"/>
          <a:lstStyle/>
          <a:p>
            <a:pPr indent="0" marL="0">
              <a:buNone/>
            </a:pPr>
            <a:r>
              <a:rPr lang="en-US" sz="1350" i="1" dirty="0">
                <a:solidFill>
                  <a:srgbClr val="6B7A8F"/>
                </a:solidFill>
                <a:latin typeface="Calibri" pitchFamily="34" charset="0"/>
                <a:ea typeface="Calibri" pitchFamily="34" charset="-122"/>
                <a:cs typeface="Calibri" pitchFamily="34" charset="-120"/>
              </a:rPr>
              <a:t>Arm M-KS2 step-24 vs arm M-K's own best checkpoint, paired per protein</a:t>
            </a:r>
            <a:endParaRPr lang="en-US" sz="1350" dirty="0"/>
          </a:p>
        </p:txBody>
      </p:sp>
      <p:sp>
        <p:nvSpPr>
          <p:cNvPr id="4" name="Shape 2"/>
          <p:cNvSpPr/>
          <p:nvPr/>
        </p:nvSpPr>
        <p:spPr>
          <a:xfrm>
            <a:off x="548640" y="1572768"/>
            <a:ext cx="3520440" cy="2148840"/>
          </a:xfrm>
          <a:prstGeom prst="roundRect">
            <a:avLst>
              <a:gd name="adj" fmla="val 1702"/>
            </a:avLst>
          </a:prstGeom>
          <a:solidFill>
            <a:srgbClr val="FDF1E1"/>
          </a:solidFill>
          <a:ln w="12700">
            <a:solidFill>
              <a:srgbClr val="FDF1E1"/>
            </a:solidFill>
            <a:prstDash val="solid"/>
          </a:ln>
          <a:effectLst>
            <a:outerShdw sx="100000" sy="100000" kx="0" ky="0" algn="bl" rotWithShape="0" blurRad="101600" dist="12700" dir="5400000">
              <a:srgbClr val="9AA7B4">
                <a:alpha val="22000"/>
              </a:srgbClr>
            </a:outerShdw>
          </a:effectLst>
        </p:spPr>
      </p:sp>
      <p:sp>
        <p:nvSpPr>
          <p:cNvPr id="5" name="Text 3"/>
          <p:cNvSpPr/>
          <p:nvPr/>
        </p:nvSpPr>
        <p:spPr>
          <a:xfrm>
            <a:off x="548640" y="1801368"/>
            <a:ext cx="3520440" cy="713232"/>
          </a:xfrm>
          <a:prstGeom prst="rect">
            <a:avLst/>
          </a:prstGeom>
          <a:noFill/>
          <a:ln/>
        </p:spPr>
        <p:txBody>
          <a:bodyPr wrap="square" lIns="0" tIns="0" rIns="0" bIns="0" rtlCol="0" anchor="ctr"/>
          <a:lstStyle/>
          <a:p>
            <a:pPr algn="ctr" indent="0" marL="0">
              <a:buNone/>
            </a:pPr>
            <a:r>
              <a:rPr lang="en-US" sz="4000" b="1" dirty="0">
                <a:solidFill>
                  <a:srgbClr val="E8871E"/>
                </a:solidFill>
                <a:latin typeface="Cambria" pitchFamily="34" charset="0"/>
                <a:ea typeface="Cambria" pitchFamily="34" charset="-122"/>
                <a:cs typeface="Cambria" pitchFamily="34" charset="-120"/>
              </a:rPr>
              <a:t>+0.0074</a:t>
            </a:r>
            <a:endParaRPr lang="en-US" sz="4000" dirty="0"/>
          </a:p>
        </p:txBody>
      </p:sp>
      <p:sp>
        <p:nvSpPr>
          <p:cNvPr id="6" name="Text 4"/>
          <p:cNvSpPr/>
          <p:nvPr/>
        </p:nvSpPr>
        <p:spPr>
          <a:xfrm>
            <a:off x="548640" y="2514600"/>
            <a:ext cx="3520440" cy="548640"/>
          </a:xfrm>
          <a:prstGeom prst="rect">
            <a:avLst/>
          </a:prstGeom>
          <a:noFill/>
          <a:ln/>
        </p:spPr>
        <p:txBody>
          <a:bodyPr wrap="square" lIns="0" tIns="0" rIns="0" bIns="0" rtlCol="0" anchor="t"/>
          <a:lstStyle/>
          <a:p>
            <a:pPr algn="ctr" indent="0" marL="0">
              <a:buNone/>
            </a:pPr>
            <a:r>
              <a:rPr lang="en-US" sz="1050" dirty="0">
                <a:solidFill>
                  <a:srgbClr val="6B7A8F"/>
                </a:solidFill>
                <a:latin typeface="Calibri" pitchFamily="34" charset="0"/>
                <a:ea typeface="Calibri" pitchFamily="34" charset="-122"/>
                <a:cs typeface="Calibri" pitchFamily="34" charset="-120"/>
              </a:rPr>
              <a:t>ORACLE-best</a:t>
            </a:r>
            <a:endParaRPr lang="en-US" sz="1050" dirty="0"/>
          </a:p>
          <a:p>
            <a:pPr algn="ctr" indent="0" marL="0">
              <a:buNone/>
            </a:pPr>
            <a:r>
              <a:rPr lang="en-US" sz="1050" dirty="0">
                <a:solidFill>
                  <a:srgbClr val="6B7A8F"/>
                </a:solidFill>
                <a:latin typeface="Calibri" pitchFamily="34" charset="0"/>
                <a:ea typeface="Calibri" pitchFamily="34" charset="-122"/>
                <a:cs typeface="Calibri" pitchFamily="34" charset="-120"/>
              </a:rPr>
              <a:t>[+0.0043, +0.0105] · 314/231</a:t>
            </a:r>
            <a:endParaRPr lang="en-US" sz="1050" dirty="0"/>
          </a:p>
        </p:txBody>
      </p:sp>
      <p:sp>
        <p:nvSpPr>
          <p:cNvPr id="7" name="Shape 5"/>
          <p:cNvSpPr/>
          <p:nvPr/>
        </p:nvSpPr>
        <p:spPr>
          <a:xfrm>
            <a:off x="4320540" y="1572768"/>
            <a:ext cx="3520440" cy="2148840"/>
          </a:xfrm>
          <a:prstGeom prst="roundRect">
            <a:avLst>
              <a:gd name="adj" fmla="val 1702"/>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8" name="Text 6"/>
          <p:cNvSpPr/>
          <p:nvPr/>
        </p:nvSpPr>
        <p:spPr>
          <a:xfrm>
            <a:off x="4320540" y="1801368"/>
            <a:ext cx="3520440" cy="713232"/>
          </a:xfrm>
          <a:prstGeom prst="rect">
            <a:avLst/>
          </a:prstGeom>
          <a:noFill/>
          <a:ln/>
        </p:spPr>
        <p:txBody>
          <a:bodyPr wrap="square" lIns="0" tIns="0" rIns="0" bIns="0" rtlCol="0" anchor="ctr"/>
          <a:lstStyle/>
          <a:p>
            <a:pPr algn="ctr" indent="0" marL="0">
              <a:buNone/>
            </a:pPr>
            <a:r>
              <a:rPr lang="en-US" sz="4000" b="1" dirty="0">
                <a:solidFill>
                  <a:srgbClr val="0F1E3D"/>
                </a:solidFill>
                <a:latin typeface="Cambria" pitchFamily="34" charset="0"/>
                <a:ea typeface="Cambria" pitchFamily="34" charset="-122"/>
                <a:cs typeface="Cambria" pitchFamily="34" charset="-120"/>
              </a:rPr>
              <a:t>−0.0007</a:t>
            </a:r>
            <a:endParaRPr lang="en-US" sz="4000" dirty="0"/>
          </a:p>
        </p:txBody>
      </p:sp>
      <p:sp>
        <p:nvSpPr>
          <p:cNvPr id="9" name="Text 7"/>
          <p:cNvSpPr/>
          <p:nvPr/>
        </p:nvSpPr>
        <p:spPr>
          <a:xfrm>
            <a:off x="4320540" y="2514600"/>
            <a:ext cx="3520440" cy="548640"/>
          </a:xfrm>
          <a:prstGeom prst="rect">
            <a:avLst/>
          </a:prstGeom>
          <a:noFill/>
          <a:ln/>
        </p:spPr>
        <p:txBody>
          <a:bodyPr wrap="square" lIns="0" tIns="0" rIns="0" bIns="0" rtlCol="0" anchor="t"/>
          <a:lstStyle/>
          <a:p>
            <a:pPr algn="ctr" indent="0" marL="0">
              <a:buNone/>
            </a:pPr>
            <a:r>
              <a:rPr lang="en-US" sz="1050" dirty="0">
                <a:solidFill>
                  <a:srgbClr val="6B7A8F"/>
                </a:solidFill>
                <a:latin typeface="Calibri" pitchFamily="34" charset="0"/>
                <a:ea typeface="Calibri" pitchFamily="34" charset="-122"/>
                <a:cs typeface="Calibri" pitchFamily="34" charset="-120"/>
              </a:rPr>
              <a:t>consensus — a tie</a:t>
            </a:r>
            <a:endParaRPr lang="en-US" sz="1050" dirty="0"/>
          </a:p>
          <a:p>
            <a:pPr algn="ctr" indent="0" marL="0">
              <a:buNone/>
            </a:pPr>
            <a:r>
              <a:rPr lang="en-US" sz="1050" dirty="0">
                <a:solidFill>
                  <a:srgbClr val="6B7A8F"/>
                </a:solidFill>
                <a:latin typeface="Calibri" pitchFamily="34" charset="0"/>
                <a:ea typeface="Calibri" pitchFamily="34" charset="-122"/>
                <a:cs typeface="Calibri" pitchFamily="34" charset="-120"/>
              </a:rPr>
              <a:t>[−0.0032, +0.0018] · 291/248</a:t>
            </a:r>
            <a:endParaRPr lang="en-US" sz="1050" dirty="0"/>
          </a:p>
        </p:txBody>
      </p:sp>
      <p:sp>
        <p:nvSpPr>
          <p:cNvPr id="10" name="Shape 8"/>
          <p:cNvSpPr/>
          <p:nvPr/>
        </p:nvSpPr>
        <p:spPr>
          <a:xfrm>
            <a:off x="8092440" y="1572768"/>
            <a:ext cx="3520440" cy="2148840"/>
          </a:xfrm>
          <a:prstGeom prst="roundRect">
            <a:avLst>
              <a:gd name="adj" fmla="val 1702"/>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11" name="Text 9"/>
          <p:cNvSpPr/>
          <p:nvPr/>
        </p:nvSpPr>
        <p:spPr>
          <a:xfrm>
            <a:off x="8092440" y="1801368"/>
            <a:ext cx="3520440" cy="713232"/>
          </a:xfrm>
          <a:prstGeom prst="rect">
            <a:avLst/>
          </a:prstGeom>
          <a:noFill/>
          <a:ln/>
        </p:spPr>
        <p:txBody>
          <a:bodyPr wrap="square" lIns="0" tIns="0" rIns="0" bIns="0" rtlCol="0" anchor="ctr"/>
          <a:lstStyle/>
          <a:p>
            <a:pPr algn="ctr" indent="0" marL="0">
              <a:buNone/>
            </a:pPr>
            <a:r>
              <a:rPr lang="en-US" sz="4000" b="1" dirty="0">
                <a:solidFill>
                  <a:srgbClr val="2A9D8F"/>
                </a:solidFill>
                <a:latin typeface="Cambria" pitchFamily="34" charset="0"/>
                <a:ea typeface="Cambria" pitchFamily="34" charset="-122"/>
                <a:cs typeface="Cambria" pitchFamily="34" charset="-120"/>
              </a:rPr>
              <a:t>+0.0121</a:t>
            </a:r>
            <a:endParaRPr lang="en-US" sz="4000" dirty="0"/>
          </a:p>
        </p:txBody>
      </p:sp>
      <p:sp>
        <p:nvSpPr>
          <p:cNvPr id="12" name="Text 10"/>
          <p:cNvSpPr/>
          <p:nvPr/>
        </p:nvSpPr>
        <p:spPr>
          <a:xfrm>
            <a:off x="8092440" y="2514600"/>
            <a:ext cx="3520440" cy="548640"/>
          </a:xfrm>
          <a:prstGeom prst="rect">
            <a:avLst/>
          </a:prstGeom>
          <a:noFill/>
          <a:ln/>
        </p:spPr>
        <p:txBody>
          <a:bodyPr wrap="square" lIns="0" tIns="0" rIns="0" bIns="0" rtlCol="0" anchor="t"/>
          <a:lstStyle/>
          <a:p>
            <a:pPr algn="ctr" indent="0" marL="0">
              <a:buNone/>
            </a:pPr>
            <a:r>
              <a:rPr lang="en-US" sz="1050" dirty="0">
                <a:solidFill>
                  <a:srgbClr val="6B7A8F"/>
                </a:solidFill>
                <a:latin typeface="Calibri" pitchFamily="34" charset="0"/>
                <a:ea typeface="Calibri" pitchFamily="34" charset="-122"/>
                <a:cs typeface="Calibri" pitchFamily="34" charset="-120"/>
              </a:rPr>
              <a:t>second-to-last section</a:t>
            </a:r>
            <a:endParaRPr lang="en-US" sz="1050" dirty="0"/>
          </a:p>
          <a:p>
            <a:pPr algn="ctr" indent="0" marL="0">
              <a:buNone/>
            </a:pPr>
            <a:r>
              <a:rPr lang="en-US" sz="1050" dirty="0">
                <a:solidFill>
                  <a:srgbClr val="6B7A8F"/>
                </a:solidFill>
                <a:latin typeface="Calibri" pitchFamily="34" charset="0"/>
                <a:ea typeface="Calibri" pitchFamily="34" charset="-122"/>
                <a:cs typeface="Calibri" pitchFamily="34" charset="-120"/>
              </a:rPr>
              <a:t>[+0.0084, +0.0159]</a:t>
            </a:r>
            <a:endParaRPr lang="en-US" sz="1050" dirty="0"/>
          </a:p>
        </p:txBody>
      </p:sp>
      <p:sp>
        <p:nvSpPr>
          <p:cNvPr id="13" name="Text 11"/>
          <p:cNvSpPr/>
          <p:nvPr/>
        </p:nvSpPr>
        <p:spPr>
          <a:xfrm>
            <a:off x="548640" y="3931920"/>
            <a:ext cx="11064240" cy="347472"/>
          </a:xfrm>
          <a:prstGeom prst="rect">
            <a:avLst/>
          </a:prstGeom>
          <a:noFill/>
          <a:ln/>
        </p:spPr>
        <p:txBody>
          <a:bodyPr wrap="square" lIns="0" tIns="0" rIns="0" bIns="0" rtlCol="0" anchor="ctr"/>
          <a:lstStyle/>
          <a:p>
            <a:pPr indent="0" marL="0">
              <a:buNone/>
            </a:pPr>
            <a:r>
              <a:rPr lang="en-US" sz="1700" b="1" dirty="0">
                <a:solidFill>
                  <a:srgbClr val="0F1E3D"/>
                </a:solidFill>
                <a:latin typeface="Cambria" pitchFamily="34" charset="0"/>
                <a:ea typeface="Cambria" pitchFamily="34" charset="-122"/>
                <a:cs typeface="Cambria" pitchFamily="34" charset="-120"/>
              </a:rPr>
              <a:t>The signature the term was built to produce</a:t>
            </a:r>
            <a:endParaRPr lang="en-US" sz="1700" dirty="0"/>
          </a:p>
        </p:txBody>
      </p:sp>
      <p:sp>
        <p:nvSpPr>
          <p:cNvPr id="14" name="Text 12"/>
          <p:cNvSpPr/>
          <p:nvPr/>
        </p:nvSpPr>
        <p:spPr>
          <a:xfrm>
            <a:off x="731520" y="4343400"/>
            <a:ext cx="10789920" cy="155448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6202E"/>
                </a:solidFill>
                <a:latin typeface="Calibri" pitchFamily="34" charset="0"/>
                <a:ea typeface="Calibri" pitchFamily="34" charset="-122"/>
                <a:cs typeface="Calibri" pitchFamily="34" charset="-120"/>
              </a:rPr>
              <a:t>second_last +0.0121 and last −0.0131, both CIs excluding zero — quality moved EARLIER in the rollout, toward the sections that had something to add.</a:t>
            </a:r>
            <a:endParaRPr lang="en-US" sz="1350" dirty="0"/>
          </a:p>
          <a:p>
            <a:pPr marL="342900" indent="-342900">
              <a:spcAft>
                <a:spcPts val="800"/>
              </a:spcAft>
              <a:buSzPct val="100000"/>
              <a:buChar char="•"/>
            </a:pPr>
            <a:r>
              <a:rPr lang="en-US" sz="1350" dirty="0">
                <a:solidFill>
                  <a:srgbClr val="16202E"/>
                </a:solidFill>
                <a:latin typeface="Calibri" pitchFamily="34" charset="0"/>
                <a:ea typeface="Calibri" pitchFamily="34" charset="-122"/>
                <a:cs typeface="Calibri" pitchFamily="34" charset="-120"/>
              </a:rPr>
              <a:t>0.5677 is the best ORACLE-best in the experiment, edging arm M-B's 0.5663 record (though that margin is inside noise).</a:t>
            </a:r>
            <a:endParaRPr lang="en-US" sz="1350" dirty="0"/>
          </a:p>
          <a:p>
            <a:pPr marL="342900" indent="-342900">
              <a:spcAft>
                <a:spcPts val="800"/>
              </a:spcAft>
              <a:buSzPct val="100000"/>
              <a:buChar char="•"/>
            </a:pPr>
            <a:r>
              <a:rPr lang="en-US" sz="1350" b="1" dirty="0">
                <a:solidFill>
                  <a:srgbClr val="16202E"/>
                </a:solidFill>
                <a:latin typeface="Calibri" pitchFamily="34" charset="0"/>
                <a:ea typeface="Calibri" pitchFamily="34" charset="-122"/>
                <a:cs typeface="Calibri" pitchFamily="34" charset="-120"/>
              </a:rPr>
              <a:t>It is the only arm here whose gain is in candidate QUALITY rather than in aggregation.</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74320"/>
            <a:ext cx="11064240" cy="713232"/>
          </a:xfrm>
          <a:prstGeom prst="rect">
            <a:avLst/>
          </a:prstGeom>
          <a:noFill/>
          <a:ln/>
        </p:spPr>
        <p:txBody>
          <a:bodyPr wrap="square" lIns="0" tIns="0" rIns="0" bIns="0" rtlCol="0" anchor="t"/>
          <a:lstStyle/>
          <a:p>
            <a:pPr indent="0" marL="0">
              <a:buNone/>
            </a:pPr>
            <a:r>
              <a:rPr lang="en-US" sz="2800" b="1" dirty="0">
                <a:solidFill>
                  <a:srgbClr val="0F1E3D"/>
                </a:solidFill>
                <a:latin typeface="Cambria" pitchFamily="34" charset="0"/>
                <a:ea typeface="Cambria" pitchFamily="34" charset="-122"/>
                <a:cs typeface="Cambria" pitchFamily="34" charset="-120"/>
              </a:rPr>
              <a:t>Compute — the trainer is the bottleneck</a:t>
            </a:r>
            <a:endParaRPr lang="en-US" sz="2800" dirty="0"/>
          </a:p>
        </p:txBody>
      </p:sp>
      <p:sp>
        <p:nvSpPr>
          <p:cNvPr id="3" name="Text 1"/>
          <p:cNvSpPr/>
          <p:nvPr/>
        </p:nvSpPr>
        <p:spPr>
          <a:xfrm>
            <a:off x="548640" y="1024128"/>
            <a:ext cx="11064240" cy="347472"/>
          </a:xfrm>
          <a:prstGeom prst="rect">
            <a:avLst/>
          </a:prstGeom>
          <a:noFill/>
          <a:ln/>
        </p:spPr>
        <p:txBody>
          <a:bodyPr wrap="square" lIns="0" tIns="0" rIns="0" bIns="0" rtlCol="0" anchor="ctr"/>
          <a:lstStyle/>
          <a:p>
            <a:pPr indent="0" marL="0">
              <a:buNone/>
            </a:pPr>
            <a:r>
              <a:rPr lang="en-US" sz="1350" i="1" dirty="0">
                <a:solidFill>
                  <a:srgbClr val="6B7A8F"/>
                </a:solidFill>
                <a:latin typeface="Calibri" pitchFamily="34" charset="0"/>
                <a:ea typeface="Calibri" pitchFamily="34" charset="-122"/>
                <a:cs typeface="Calibri" pitchFamily="34" charset="-120"/>
              </a:rPr>
              <a:t>8 × A100-80GB · measured over 468 training steps</a:t>
            </a:r>
            <a:endParaRPr lang="en-US" sz="1350" dirty="0"/>
          </a:p>
        </p:txBody>
      </p:sp>
      <p:sp>
        <p:nvSpPr>
          <p:cNvPr id="4" name="Text 2"/>
          <p:cNvSpPr/>
          <p:nvPr/>
        </p:nvSpPr>
        <p:spPr>
          <a:xfrm>
            <a:off x="548640" y="1627632"/>
            <a:ext cx="1600200" cy="438912"/>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generate</a:t>
            </a:r>
            <a:endParaRPr lang="en-US" sz="1200" dirty="0"/>
          </a:p>
        </p:txBody>
      </p:sp>
      <p:sp>
        <p:nvSpPr>
          <p:cNvPr id="5" name="Shape 3"/>
          <p:cNvSpPr/>
          <p:nvPr/>
        </p:nvSpPr>
        <p:spPr>
          <a:xfrm>
            <a:off x="2194560" y="1691640"/>
            <a:ext cx="2524633" cy="310896"/>
          </a:xfrm>
          <a:prstGeom prst="roundRect">
            <a:avLst>
              <a:gd name="adj" fmla="val 11765"/>
            </a:avLst>
          </a:prstGeom>
          <a:solidFill>
            <a:srgbClr val="2A9D8F"/>
          </a:solidFill>
          <a:ln w="12700">
            <a:solidFill>
              <a:srgbClr val="2A9D8F"/>
            </a:solidFill>
            <a:prstDash val="solid"/>
          </a:ln>
        </p:spPr>
      </p:sp>
      <p:sp>
        <p:nvSpPr>
          <p:cNvPr id="6" name="Text 4"/>
          <p:cNvSpPr/>
          <p:nvPr/>
        </p:nvSpPr>
        <p:spPr>
          <a:xfrm>
            <a:off x="5120640" y="1627632"/>
            <a:ext cx="868680" cy="438912"/>
          </a:xfrm>
          <a:prstGeom prst="rect">
            <a:avLst/>
          </a:prstGeom>
          <a:noFill/>
          <a:ln/>
        </p:spPr>
        <p:txBody>
          <a:bodyPr wrap="square" lIns="0" tIns="0" rIns="0" bIns="0" rtlCol="0" anchor="ctr"/>
          <a:lstStyle/>
          <a:p>
            <a:pPr algn="r" indent="0" marL="0">
              <a:buNone/>
            </a:pPr>
            <a:r>
              <a:rPr lang="en-US" sz="1200" b="1" dirty="0">
                <a:solidFill>
                  <a:srgbClr val="16202E"/>
                </a:solidFill>
                <a:latin typeface="Calibri" pitchFamily="34" charset="0"/>
                <a:ea typeface="Calibri" pitchFamily="34" charset="-122"/>
                <a:cs typeface="Calibri" pitchFamily="34" charset="-120"/>
              </a:rPr>
              <a:t>36.3 s</a:t>
            </a:r>
            <a:endParaRPr lang="en-US" sz="1200" dirty="0"/>
          </a:p>
        </p:txBody>
      </p:sp>
      <p:sp>
        <p:nvSpPr>
          <p:cNvPr id="7" name="Text 5"/>
          <p:cNvSpPr/>
          <p:nvPr/>
        </p:nvSpPr>
        <p:spPr>
          <a:xfrm>
            <a:off x="6080760" y="1627632"/>
            <a:ext cx="960120" cy="438912"/>
          </a:xfrm>
          <a:prstGeom prst="rect">
            <a:avLst/>
          </a:prstGeom>
          <a:noFill/>
          <a:ln/>
        </p:spPr>
        <p:txBody>
          <a:bodyPr wrap="square" lIns="0" tIns="0" rIns="0" bIns="0" rtlCol="0" anchor="ctr"/>
          <a:lstStyle/>
          <a:p>
            <a:pPr indent="0" marL="0">
              <a:buNone/>
            </a:pPr>
            <a:r>
              <a:rPr lang="en-US" sz="1100" dirty="0">
                <a:solidFill>
                  <a:srgbClr val="6B7A8F"/>
                </a:solidFill>
                <a:latin typeface="Calibri" pitchFamily="34" charset="0"/>
                <a:ea typeface="Calibri" pitchFamily="34" charset="-122"/>
                <a:cs typeface="Calibri" pitchFamily="34" charset="-120"/>
              </a:rPr>
              <a:t>6 GPUs</a:t>
            </a:r>
            <a:endParaRPr lang="en-US" sz="1100" dirty="0"/>
          </a:p>
        </p:txBody>
      </p:sp>
      <p:sp>
        <p:nvSpPr>
          <p:cNvPr id="8" name="Text 6"/>
          <p:cNvSpPr/>
          <p:nvPr/>
        </p:nvSpPr>
        <p:spPr>
          <a:xfrm>
            <a:off x="548640" y="2267712"/>
            <a:ext cx="1600200" cy="438912"/>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fwd_logprobs</a:t>
            </a:r>
            <a:endParaRPr lang="en-US" sz="1200" dirty="0"/>
          </a:p>
        </p:txBody>
      </p:sp>
      <p:sp>
        <p:nvSpPr>
          <p:cNvPr id="9" name="Shape 7"/>
          <p:cNvSpPr/>
          <p:nvPr/>
        </p:nvSpPr>
        <p:spPr>
          <a:xfrm>
            <a:off x="2194560" y="2331720"/>
            <a:ext cx="1516171" cy="310896"/>
          </a:xfrm>
          <a:prstGeom prst="roundRect">
            <a:avLst>
              <a:gd name="adj" fmla="val 11765"/>
            </a:avLst>
          </a:prstGeom>
          <a:solidFill>
            <a:srgbClr val="2A9D8F"/>
          </a:solidFill>
          <a:ln w="12700">
            <a:solidFill>
              <a:srgbClr val="2A9D8F"/>
            </a:solidFill>
            <a:prstDash val="solid"/>
          </a:ln>
        </p:spPr>
      </p:sp>
      <p:sp>
        <p:nvSpPr>
          <p:cNvPr id="10" name="Text 8"/>
          <p:cNvSpPr/>
          <p:nvPr/>
        </p:nvSpPr>
        <p:spPr>
          <a:xfrm>
            <a:off x="5120640" y="2267712"/>
            <a:ext cx="868680" cy="438912"/>
          </a:xfrm>
          <a:prstGeom prst="rect">
            <a:avLst/>
          </a:prstGeom>
          <a:noFill/>
          <a:ln/>
        </p:spPr>
        <p:txBody>
          <a:bodyPr wrap="square" lIns="0" tIns="0" rIns="0" bIns="0" rtlCol="0" anchor="ctr"/>
          <a:lstStyle/>
          <a:p>
            <a:pPr algn="r" indent="0" marL="0">
              <a:buNone/>
            </a:pPr>
            <a:r>
              <a:rPr lang="en-US" sz="1200" b="1" dirty="0">
                <a:solidFill>
                  <a:srgbClr val="16202E"/>
                </a:solidFill>
                <a:latin typeface="Calibri" pitchFamily="34" charset="0"/>
                <a:ea typeface="Calibri" pitchFamily="34" charset="-122"/>
                <a:cs typeface="Calibri" pitchFamily="34" charset="-120"/>
              </a:rPr>
              <a:t>21.8 s</a:t>
            </a:r>
            <a:endParaRPr lang="en-US" sz="1200" dirty="0"/>
          </a:p>
        </p:txBody>
      </p:sp>
      <p:sp>
        <p:nvSpPr>
          <p:cNvPr id="11" name="Text 9"/>
          <p:cNvSpPr/>
          <p:nvPr/>
        </p:nvSpPr>
        <p:spPr>
          <a:xfrm>
            <a:off x="6080760" y="2267712"/>
            <a:ext cx="960120" cy="438912"/>
          </a:xfrm>
          <a:prstGeom prst="rect">
            <a:avLst/>
          </a:prstGeom>
          <a:noFill/>
          <a:ln/>
        </p:spPr>
        <p:txBody>
          <a:bodyPr wrap="square" lIns="0" tIns="0" rIns="0" bIns="0" rtlCol="0" anchor="ctr"/>
          <a:lstStyle/>
          <a:p>
            <a:pPr indent="0" marL="0">
              <a:buNone/>
            </a:pPr>
            <a:r>
              <a:rPr lang="en-US" sz="1100" dirty="0">
                <a:solidFill>
                  <a:srgbClr val="6B7A8F"/>
                </a:solidFill>
                <a:latin typeface="Calibri" pitchFamily="34" charset="0"/>
                <a:ea typeface="Calibri" pitchFamily="34" charset="-122"/>
                <a:cs typeface="Calibri" pitchFamily="34" charset="-120"/>
              </a:rPr>
              <a:t>2 GPUs</a:t>
            </a:r>
            <a:endParaRPr lang="en-US" sz="1100" dirty="0"/>
          </a:p>
        </p:txBody>
      </p:sp>
      <p:sp>
        <p:nvSpPr>
          <p:cNvPr id="12" name="Text 10"/>
          <p:cNvSpPr/>
          <p:nvPr/>
        </p:nvSpPr>
        <p:spPr>
          <a:xfrm>
            <a:off x="548640" y="2907792"/>
            <a:ext cx="1600200" cy="438912"/>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policy_train</a:t>
            </a:r>
            <a:endParaRPr lang="en-US" sz="1200" dirty="0"/>
          </a:p>
        </p:txBody>
      </p:sp>
      <p:sp>
        <p:nvSpPr>
          <p:cNvPr id="13" name="Shape 11"/>
          <p:cNvSpPr/>
          <p:nvPr/>
        </p:nvSpPr>
        <p:spPr>
          <a:xfrm>
            <a:off x="2194560" y="2971800"/>
            <a:ext cx="2788920" cy="310896"/>
          </a:xfrm>
          <a:prstGeom prst="roundRect">
            <a:avLst>
              <a:gd name="adj" fmla="val 11765"/>
            </a:avLst>
          </a:prstGeom>
          <a:solidFill>
            <a:srgbClr val="E8871E"/>
          </a:solidFill>
          <a:ln w="12700">
            <a:solidFill>
              <a:srgbClr val="E8871E"/>
            </a:solidFill>
            <a:prstDash val="solid"/>
          </a:ln>
        </p:spPr>
      </p:sp>
      <p:sp>
        <p:nvSpPr>
          <p:cNvPr id="14" name="Text 12"/>
          <p:cNvSpPr/>
          <p:nvPr/>
        </p:nvSpPr>
        <p:spPr>
          <a:xfrm>
            <a:off x="5120640" y="2907792"/>
            <a:ext cx="868680" cy="438912"/>
          </a:xfrm>
          <a:prstGeom prst="rect">
            <a:avLst/>
          </a:prstGeom>
          <a:noFill/>
          <a:ln/>
        </p:spPr>
        <p:txBody>
          <a:bodyPr wrap="square" lIns="0" tIns="0" rIns="0" bIns="0" rtlCol="0" anchor="ctr"/>
          <a:lstStyle/>
          <a:p>
            <a:pPr algn="r" indent="0" marL="0">
              <a:buNone/>
            </a:pPr>
            <a:r>
              <a:rPr lang="en-US" sz="1200" b="1" dirty="0">
                <a:solidFill>
                  <a:srgbClr val="16202E"/>
                </a:solidFill>
                <a:latin typeface="Calibri" pitchFamily="34" charset="0"/>
                <a:ea typeface="Calibri" pitchFamily="34" charset="-122"/>
                <a:cs typeface="Calibri" pitchFamily="34" charset="-120"/>
              </a:rPr>
              <a:t>40.1 s</a:t>
            </a:r>
            <a:endParaRPr lang="en-US" sz="1200" dirty="0"/>
          </a:p>
        </p:txBody>
      </p:sp>
      <p:sp>
        <p:nvSpPr>
          <p:cNvPr id="15" name="Text 13"/>
          <p:cNvSpPr/>
          <p:nvPr/>
        </p:nvSpPr>
        <p:spPr>
          <a:xfrm>
            <a:off x="6080760" y="2907792"/>
            <a:ext cx="960120" cy="438912"/>
          </a:xfrm>
          <a:prstGeom prst="rect">
            <a:avLst/>
          </a:prstGeom>
          <a:noFill/>
          <a:ln/>
        </p:spPr>
        <p:txBody>
          <a:bodyPr wrap="square" lIns="0" tIns="0" rIns="0" bIns="0" rtlCol="0" anchor="ctr"/>
          <a:lstStyle/>
          <a:p>
            <a:pPr indent="0" marL="0">
              <a:buNone/>
            </a:pPr>
            <a:r>
              <a:rPr lang="en-US" sz="1100" dirty="0">
                <a:solidFill>
                  <a:srgbClr val="6B7A8F"/>
                </a:solidFill>
                <a:latin typeface="Calibri" pitchFamily="34" charset="0"/>
                <a:ea typeface="Calibri" pitchFamily="34" charset="-122"/>
                <a:cs typeface="Calibri" pitchFamily="34" charset="-120"/>
              </a:rPr>
              <a:t>1 GPU</a:t>
            </a:r>
            <a:endParaRPr lang="en-US" sz="1100" dirty="0"/>
          </a:p>
        </p:txBody>
      </p:sp>
      <p:sp>
        <p:nvSpPr>
          <p:cNvPr id="16" name="Text 14"/>
          <p:cNvSpPr/>
          <p:nvPr/>
        </p:nvSpPr>
        <p:spPr>
          <a:xfrm>
            <a:off x="548640" y="3547872"/>
            <a:ext cx="1600200" cy="438912"/>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sync_weights</a:t>
            </a:r>
            <a:endParaRPr lang="en-US" sz="1200" dirty="0"/>
          </a:p>
        </p:txBody>
      </p:sp>
      <p:sp>
        <p:nvSpPr>
          <p:cNvPr id="17" name="Shape 15"/>
          <p:cNvSpPr/>
          <p:nvPr/>
        </p:nvSpPr>
        <p:spPr>
          <a:xfrm>
            <a:off x="2194560" y="3611880"/>
            <a:ext cx="411480" cy="310896"/>
          </a:xfrm>
          <a:prstGeom prst="roundRect">
            <a:avLst>
              <a:gd name="adj" fmla="val 11765"/>
            </a:avLst>
          </a:prstGeom>
          <a:solidFill>
            <a:srgbClr val="2A9D8F"/>
          </a:solidFill>
          <a:ln w="12700">
            <a:solidFill>
              <a:srgbClr val="2A9D8F"/>
            </a:solidFill>
            <a:prstDash val="solid"/>
          </a:ln>
        </p:spPr>
      </p:sp>
      <p:sp>
        <p:nvSpPr>
          <p:cNvPr id="18" name="Text 16"/>
          <p:cNvSpPr/>
          <p:nvPr/>
        </p:nvSpPr>
        <p:spPr>
          <a:xfrm>
            <a:off x="5120640" y="3547872"/>
            <a:ext cx="868680" cy="438912"/>
          </a:xfrm>
          <a:prstGeom prst="rect">
            <a:avLst/>
          </a:prstGeom>
          <a:noFill/>
          <a:ln/>
        </p:spPr>
        <p:txBody>
          <a:bodyPr wrap="square" lIns="0" tIns="0" rIns="0" bIns="0" rtlCol="0" anchor="ctr"/>
          <a:lstStyle/>
          <a:p>
            <a:pPr algn="r" indent="0" marL="0">
              <a:buNone/>
            </a:pPr>
            <a:r>
              <a:rPr lang="en-US" sz="1200" b="1" dirty="0">
                <a:solidFill>
                  <a:srgbClr val="16202E"/>
                </a:solidFill>
                <a:latin typeface="Calibri" pitchFamily="34" charset="0"/>
                <a:ea typeface="Calibri" pitchFamily="34" charset="-122"/>
                <a:cs typeface="Calibri" pitchFamily="34" charset="-120"/>
              </a:rPr>
              <a:t>2.3 s</a:t>
            </a:r>
            <a:endParaRPr lang="en-US" sz="1200" dirty="0"/>
          </a:p>
        </p:txBody>
      </p:sp>
      <p:sp>
        <p:nvSpPr>
          <p:cNvPr id="19" name="Text 17"/>
          <p:cNvSpPr/>
          <p:nvPr/>
        </p:nvSpPr>
        <p:spPr>
          <a:xfrm>
            <a:off x="6080760" y="3547872"/>
            <a:ext cx="960120" cy="438912"/>
          </a:xfrm>
          <a:prstGeom prst="rect">
            <a:avLst/>
          </a:prstGeom>
          <a:noFill/>
          <a:ln/>
        </p:spPr>
        <p:txBody>
          <a:bodyPr wrap="square" lIns="0" tIns="0" rIns="0" bIns="0" rtlCol="0" anchor="ctr"/>
          <a:lstStyle/>
          <a:p>
            <a:pPr indent="0" marL="0">
              <a:buNone/>
            </a:pPr>
            <a:r>
              <a:rPr lang="en-US" sz="1100" dirty="0">
                <a:solidFill>
                  <a:srgbClr val="6B7A8F"/>
                </a:solidFill>
                <a:latin typeface="Calibri" pitchFamily="34" charset="0"/>
                <a:ea typeface="Calibri" pitchFamily="34" charset="-122"/>
                <a:cs typeface="Calibri" pitchFamily="34" charset="-120"/>
              </a:rPr>
              <a:t>8 GPUs</a:t>
            </a:r>
            <a:endParaRPr lang="en-US" sz="1100" dirty="0"/>
          </a:p>
        </p:txBody>
      </p:sp>
      <p:sp>
        <p:nvSpPr>
          <p:cNvPr id="20" name="Text 18"/>
          <p:cNvSpPr/>
          <p:nvPr/>
        </p:nvSpPr>
        <p:spPr>
          <a:xfrm>
            <a:off x="548640" y="4261104"/>
            <a:ext cx="6492240" cy="365760"/>
          </a:xfrm>
          <a:prstGeom prst="rect">
            <a:avLst/>
          </a:prstGeom>
          <a:noFill/>
          <a:ln/>
        </p:spPr>
        <p:txBody>
          <a:bodyPr wrap="square" lIns="0" tIns="0" rIns="0" bIns="0" rtlCol="0" anchor="ctr"/>
          <a:lstStyle/>
          <a:p>
            <a:pPr indent="0" marL="0">
              <a:buNone/>
            </a:pPr>
            <a:r>
              <a:rPr lang="en-US" sz="1200" i="1" dirty="0">
                <a:solidFill>
                  <a:srgbClr val="6B7A8F"/>
                </a:solidFill>
                <a:latin typeface="Calibri" pitchFamily="34" charset="0"/>
                <a:ea typeface="Calibri" pitchFamily="34" charset="-122"/>
                <a:cs typeface="Calibri" pitchFamily="34" charset="-120"/>
              </a:rPr>
              <a:t>The phases do not overlap — they sum to 100.5 s of a 102.4 s step.</a:t>
            </a:r>
            <a:endParaRPr lang="en-US" sz="1200" dirty="0"/>
          </a:p>
        </p:txBody>
      </p:sp>
      <p:sp>
        <p:nvSpPr>
          <p:cNvPr id="21" name="Shape 19"/>
          <p:cNvSpPr/>
          <p:nvPr/>
        </p:nvSpPr>
        <p:spPr>
          <a:xfrm>
            <a:off x="7452360" y="1627632"/>
            <a:ext cx="4160520" cy="1572768"/>
          </a:xfrm>
          <a:prstGeom prst="roundRect">
            <a:avLst>
              <a:gd name="adj" fmla="val 2326"/>
            </a:avLst>
          </a:prstGeom>
          <a:solidFill>
            <a:srgbClr val="0F1E3D"/>
          </a:solidFill>
          <a:ln w="12700">
            <a:solidFill>
              <a:srgbClr val="0F1E3D"/>
            </a:solidFill>
            <a:prstDash val="solid"/>
          </a:ln>
          <a:effectLst>
            <a:outerShdw sx="100000" sy="100000" kx="0" ky="0" algn="bl" rotWithShape="0" blurRad="101600" dist="12700" dir="5400000">
              <a:srgbClr val="9AA7B4">
                <a:alpha val="22000"/>
              </a:srgbClr>
            </a:outerShdw>
          </a:effectLst>
        </p:spPr>
      </p:sp>
      <p:sp>
        <p:nvSpPr>
          <p:cNvPr id="22" name="Text 20"/>
          <p:cNvSpPr/>
          <p:nvPr/>
        </p:nvSpPr>
        <p:spPr>
          <a:xfrm>
            <a:off x="7452360" y="1755648"/>
            <a:ext cx="4160520" cy="713232"/>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39%</a:t>
            </a:r>
            <a:endParaRPr lang="en-US" sz="4000" dirty="0"/>
          </a:p>
        </p:txBody>
      </p:sp>
      <p:sp>
        <p:nvSpPr>
          <p:cNvPr id="23" name="Text 21"/>
          <p:cNvSpPr/>
          <p:nvPr/>
        </p:nvSpPr>
        <p:spPr>
          <a:xfrm>
            <a:off x="7452360" y="2468880"/>
            <a:ext cx="4160520" cy="548640"/>
          </a:xfrm>
          <a:prstGeom prst="rect">
            <a:avLst/>
          </a:prstGeom>
          <a:noFill/>
          <a:ln/>
        </p:spPr>
        <p:txBody>
          <a:bodyPr wrap="square" lIns="0" tIns="0" rIns="0" bIns="0" rtlCol="0" anchor="t"/>
          <a:lstStyle/>
          <a:p>
            <a:pPr algn="ctr" indent="0" marL="0">
              <a:buNone/>
            </a:pPr>
            <a:r>
              <a:rPr lang="en-US" sz="1050" dirty="0">
                <a:solidFill>
                  <a:srgbClr val="6B7A8F"/>
                </a:solidFill>
                <a:latin typeface="Calibri" pitchFamily="34" charset="0"/>
                <a:ea typeface="Calibri" pitchFamily="34" charset="-122"/>
                <a:cs typeface="Calibri" pitchFamily="34" charset="-120"/>
              </a:rPr>
              <a:t>node utilisation</a:t>
            </a:r>
            <a:endParaRPr lang="en-US" sz="1050" dirty="0"/>
          </a:p>
          <a:p>
            <a:pPr algn="ctr" indent="0" marL="0">
              <a:buNone/>
            </a:pPr>
            <a:r>
              <a:rPr lang="en-US" sz="1050" dirty="0">
                <a:solidFill>
                  <a:srgbClr val="6B7A8F"/>
                </a:solidFill>
                <a:latin typeface="Calibri" pitchFamily="34" charset="0"/>
                <a:ea typeface="Calibri" pitchFamily="34" charset="-122"/>
                <a:cs typeface="Calibri" pitchFamily="34" charset="-120"/>
              </a:rPr>
              <a:t>320 of 819 GPU-seconds</a:t>
            </a:r>
            <a:endParaRPr lang="en-US" sz="1050" dirty="0"/>
          </a:p>
        </p:txBody>
      </p:sp>
      <p:sp>
        <p:nvSpPr>
          <p:cNvPr id="24" name="Shape 22"/>
          <p:cNvSpPr/>
          <p:nvPr/>
        </p:nvSpPr>
        <p:spPr>
          <a:xfrm>
            <a:off x="7452360" y="3474720"/>
            <a:ext cx="4160520" cy="1572768"/>
          </a:xfrm>
          <a:prstGeom prst="roundRect">
            <a:avLst>
              <a:gd name="adj" fmla="val 2326"/>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25" name="Text 23"/>
          <p:cNvSpPr/>
          <p:nvPr/>
        </p:nvSpPr>
        <p:spPr>
          <a:xfrm>
            <a:off x="7452360" y="3602736"/>
            <a:ext cx="4160520" cy="713232"/>
          </a:xfrm>
          <a:prstGeom prst="rect">
            <a:avLst/>
          </a:prstGeom>
          <a:noFill/>
          <a:ln/>
        </p:spPr>
        <p:txBody>
          <a:bodyPr wrap="square" lIns="0" tIns="0" rIns="0" bIns="0" rtlCol="0" anchor="ctr"/>
          <a:lstStyle/>
          <a:p>
            <a:pPr algn="ctr" indent="0" marL="0">
              <a:buNone/>
            </a:pPr>
            <a:r>
              <a:rPr lang="en-US" sz="4000" b="1" dirty="0">
                <a:solidFill>
                  <a:srgbClr val="0F1E3D"/>
                </a:solidFill>
                <a:latin typeface="Cambria" pitchFamily="34" charset="0"/>
                <a:ea typeface="Cambria" pitchFamily="34" charset="-122"/>
                <a:cs typeface="Cambria" pitchFamily="34" charset="-120"/>
              </a:rPr>
              <a:t>33%</a:t>
            </a:r>
            <a:endParaRPr lang="en-US" sz="4000" dirty="0"/>
          </a:p>
        </p:txBody>
      </p:sp>
      <p:sp>
        <p:nvSpPr>
          <p:cNvPr id="26" name="Text 24"/>
          <p:cNvSpPr/>
          <p:nvPr/>
        </p:nvSpPr>
        <p:spPr>
          <a:xfrm>
            <a:off x="7452360" y="4315968"/>
            <a:ext cx="4160520" cy="548640"/>
          </a:xfrm>
          <a:prstGeom prst="rect">
            <a:avLst/>
          </a:prstGeom>
          <a:noFill/>
          <a:ln/>
        </p:spPr>
        <p:txBody>
          <a:bodyPr wrap="square" lIns="0" tIns="0" rIns="0" bIns="0" rtlCol="0" anchor="t"/>
          <a:lstStyle/>
          <a:p>
            <a:pPr algn="ctr" indent="0" marL="0">
              <a:buNone/>
            </a:pPr>
            <a:r>
              <a:rPr lang="en-US" sz="1050" dirty="0">
                <a:solidFill>
                  <a:srgbClr val="6B7A8F"/>
                </a:solidFill>
                <a:latin typeface="Calibri" pitchFamily="34" charset="0"/>
                <a:ea typeface="Calibri" pitchFamily="34" charset="-122"/>
                <a:cs typeface="Calibri" pitchFamily="34" charset="-120"/>
              </a:rPr>
              <a:t>MFU during policy_train</a:t>
            </a:r>
            <a:endParaRPr lang="en-US" sz="1050" dirty="0"/>
          </a:p>
          <a:p>
            <a:pPr algn="ctr" indent="0" marL="0">
              <a:buNone/>
            </a:pPr>
            <a:r>
              <a:rPr lang="en-US" sz="1050" dirty="0">
                <a:solidFill>
                  <a:srgbClr val="6B7A8F"/>
                </a:solidFill>
                <a:latin typeface="Calibri" pitchFamily="34" charset="0"/>
                <a:ea typeface="Calibri" pitchFamily="34" charset="-122"/>
                <a:cs typeface="Calibri" pitchFamily="34" charset="-120"/>
              </a:rPr>
              <a:t>1.6% node-wide</a:t>
            </a:r>
            <a:endParaRPr lang="en-US" sz="1050" dirty="0"/>
          </a:p>
        </p:txBody>
      </p:sp>
      <p:sp>
        <p:nvSpPr>
          <p:cNvPr id="27" name="Text 25"/>
          <p:cNvSpPr/>
          <p:nvPr/>
        </p:nvSpPr>
        <p:spPr>
          <a:xfrm>
            <a:off x="548640" y="5166360"/>
            <a:ext cx="11064240" cy="914400"/>
          </a:xfrm>
          <a:prstGeom prst="rect">
            <a:avLst/>
          </a:prstGeom>
          <a:noFill/>
          <a:ln/>
        </p:spPr>
        <p:txBody>
          <a:bodyPr wrap="square" lIns="0" tIns="0" rIns="0" bIns="0" rtlCol="0" anchor="ctr"/>
          <a:lstStyle/>
          <a:p>
            <a:pPr indent="0" marL="0">
              <a:buNone/>
            </a:pPr>
            <a:r>
              <a:rPr lang="en-US" sz="1250" dirty="0">
                <a:solidFill>
                  <a:srgbClr val="16202E"/>
                </a:solidFill>
                <a:latin typeface="Calibri" pitchFamily="34" charset="0"/>
                <a:ea typeface="Calibri" pitchFamily="34" charset="-122"/>
                <a:cs typeface="Calibri" pitchFamily="34" charset="-120"/>
              </a:rPr>
              <a:t>61% of the step runs on one or two cards while six sit idle — and the policy is unsharded because #208 established SkyRL's sharding diverges from the inference engines and the first weight sync destroys the policy. Fixing that bug is worth roughly a 2x step-time improvement, more than any sampling change.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74320"/>
            <a:ext cx="11064240" cy="713232"/>
          </a:xfrm>
          <a:prstGeom prst="rect">
            <a:avLst/>
          </a:prstGeom>
          <a:noFill/>
          <a:ln/>
        </p:spPr>
        <p:txBody>
          <a:bodyPr wrap="square" lIns="0" tIns="0" rIns="0" bIns="0" rtlCol="0" anchor="t"/>
          <a:lstStyle/>
          <a:p>
            <a:pPr indent="0" marL="0">
              <a:buNone/>
            </a:pPr>
            <a:r>
              <a:rPr lang="en-US" sz="2800" b="1" dirty="0">
                <a:solidFill>
                  <a:srgbClr val="0F1E3D"/>
                </a:solidFill>
                <a:latin typeface="Cambria" pitchFamily="34" charset="0"/>
                <a:ea typeface="Cambria" pitchFamily="34" charset="-122"/>
                <a:cs typeface="Cambria" pitchFamily="34" charset="-120"/>
              </a:rPr>
              <a:t>What is portable beyond this experiment</a:t>
            </a:r>
            <a:endParaRPr lang="en-US" sz="2800" dirty="0"/>
          </a:p>
        </p:txBody>
      </p:sp>
      <p:sp>
        <p:nvSpPr>
          <p:cNvPr id="3" name="Text 1"/>
          <p:cNvSpPr/>
          <p:nvPr/>
        </p:nvSpPr>
        <p:spPr>
          <a:xfrm>
            <a:off x="548640" y="1024128"/>
            <a:ext cx="11064240" cy="347472"/>
          </a:xfrm>
          <a:prstGeom prst="rect">
            <a:avLst/>
          </a:prstGeom>
          <a:noFill/>
          <a:ln/>
        </p:spPr>
        <p:txBody>
          <a:bodyPr wrap="square" lIns="0" tIns="0" rIns="0" bIns="0" rtlCol="0" anchor="ctr"/>
          <a:lstStyle/>
          <a:p>
            <a:pPr indent="0" marL="0">
              <a:buNone/>
            </a:pPr>
            <a:r>
              <a:rPr lang="en-US" sz="1350" i="1" dirty="0">
                <a:solidFill>
                  <a:srgbClr val="6B7A8F"/>
                </a:solidFill>
                <a:latin typeface="Calibri" pitchFamily="34" charset="0"/>
                <a:ea typeface="Calibri" pitchFamily="34" charset="-122"/>
                <a:cs typeface="Calibri" pitchFamily="34" charset="-120"/>
              </a:rPr>
              <a:t>Findings that outlive the specific reward designs</a:t>
            </a:r>
            <a:endParaRPr lang="en-US" sz="1350" dirty="0"/>
          </a:p>
        </p:txBody>
      </p:sp>
      <p:sp>
        <p:nvSpPr>
          <p:cNvPr id="4" name="Shape 2"/>
          <p:cNvSpPr/>
          <p:nvPr/>
        </p:nvSpPr>
        <p:spPr>
          <a:xfrm>
            <a:off x="548640" y="1481328"/>
            <a:ext cx="11064240" cy="877824"/>
          </a:xfrm>
          <a:prstGeom prst="roundRect">
            <a:avLst>
              <a:gd name="adj" fmla="val 4167"/>
            </a:avLst>
          </a:prstGeom>
          <a:solidFill>
            <a:srgbClr val="FDF1E1"/>
          </a:solidFill>
          <a:ln w="12700">
            <a:solidFill>
              <a:srgbClr val="FDF1E1"/>
            </a:solidFill>
            <a:prstDash val="solid"/>
          </a:ln>
          <a:effectLst>
            <a:outerShdw sx="100000" sy="100000" kx="0" ky="0" algn="bl" rotWithShape="0" blurRad="101600" dist="12700" dir="5400000">
              <a:srgbClr val="9AA7B4">
                <a:alpha val="22000"/>
              </a:srgbClr>
            </a:outerShdw>
          </a:effectLst>
        </p:spPr>
      </p:sp>
      <p:sp>
        <p:nvSpPr>
          <p:cNvPr id="5" name="Shape 3"/>
          <p:cNvSpPr/>
          <p:nvPr/>
        </p:nvSpPr>
        <p:spPr>
          <a:xfrm>
            <a:off x="804672" y="1755648"/>
            <a:ext cx="329184" cy="329184"/>
          </a:xfrm>
          <a:prstGeom prst="roundRect">
            <a:avLst>
              <a:gd name="adj" fmla="val 50000"/>
            </a:avLst>
          </a:prstGeom>
          <a:solidFill>
            <a:srgbClr val="E8871E"/>
          </a:solidFill>
          <a:ln w="12700">
            <a:solidFill>
              <a:srgbClr val="E8871E"/>
            </a:solidFill>
            <a:prstDash val="solid"/>
          </a:ln>
        </p:spPr>
      </p:sp>
      <p:sp>
        <p:nvSpPr>
          <p:cNvPr id="6" name="Text 4"/>
          <p:cNvSpPr/>
          <p:nvPr/>
        </p:nvSpPr>
        <p:spPr>
          <a:xfrm>
            <a:off x="1298448" y="1591056"/>
            <a:ext cx="9966960" cy="329184"/>
          </a:xfrm>
          <a:prstGeom prst="rect">
            <a:avLst/>
          </a:prstGeom>
          <a:noFill/>
          <a:ln/>
        </p:spPr>
        <p:txBody>
          <a:bodyPr wrap="square" lIns="0" tIns="0" rIns="0" bIns="0" rtlCol="0" anchor="ctr"/>
          <a:lstStyle/>
          <a:p>
            <a:pPr indent="0" marL="0">
              <a:buNone/>
            </a:pPr>
            <a:r>
              <a:rPr lang="en-US" sz="1400" b="1" dirty="0">
                <a:solidFill>
                  <a:srgbClr val="0F1E3D"/>
                </a:solidFill>
                <a:latin typeface="Cambria" pitchFamily="34" charset="0"/>
                <a:ea typeface="Cambria" pitchFamily="34" charset="-122"/>
                <a:cs typeface="Cambria" pitchFamily="34" charset="-120"/>
              </a:rPr>
              <a:t>Match the reward to the metric</a:t>
            </a:r>
            <a:endParaRPr lang="en-US" sz="1400" dirty="0"/>
          </a:p>
        </p:txBody>
      </p:sp>
      <p:sp>
        <p:nvSpPr>
          <p:cNvPr id="7" name="Text 5"/>
          <p:cNvSpPr/>
          <p:nvPr/>
        </p:nvSpPr>
        <p:spPr>
          <a:xfrm>
            <a:off x="1298448" y="1920240"/>
            <a:ext cx="9966960" cy="384048"/>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The arm whose reward IS the deployed metric won it. Within-sequence credit assignment — the hypothesis's own mechanism — turned out not to be needed.</a:t>
            </a:r>
            <a:endParaRPr lang="en-US" sz="1200" dirty="0"/>
          </a:p>
        </p:txBody>
      </p:sp>
      <p:sp>
        <p:nvSpPr>
          <p:cNvPr id="8" name="Shape 6"/>
          <p:cNvSpPr/>
          <p:nvPr/>
        </p:nvSpPr>
        <p:spPr>
          <a:xfrm>
            <a:off x="548640" y="2450592"/>
            <a:ext cx="11064240" cy="877824"/>
          </a:xfrm>
          <a:prstGeom prst="roundRect">
            <a:avLst>
              <a:gd name="adj" fmla="val 4167"/>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9" name="Shape 7"/>
          <p:cNvSpPr/>
          <p:nvPr/>
        </p:nvSpPr>
        <p:spPr>
          <a:xfrm>
            <a:off x="804672" y="2724912"/>
            <a:ext cx="329184" cy="329184"/>
          </a:xfrm>
          <a:prstGeom prst="roundRect">
            <a:avLst>
              <a:gd name="adj" fmla="val 50000"/>
            </a:avLst>
          </a:prstGeom>
          <a:solidFill>
            <a:srgbClr val="2A9D8F"/>
          </a:solidFill>
          <a:ln w="12700">
            <a:solidFill>
              <a:srgbClr val="2A9D8F"/>
            </a:solidFill>
            <a:prstDash val="solid"/>
          </a:ln>
        </p:spPr>
      </p:sp>
      <p:sp>
        <p:nvSpPr>
          <p:cNvPr id="10" name="Text 8"/>
          <p:cNvSpPr/>
          <p:nvPr/>
        </p:nvSpPr>
        <p:spPr>
          <a:xfrm>
            <a:off x="1298448" y="2560320"/>
            <a:ext cx="9966960" cy="329184"/>
          </a:xfrm>
          <a:prstGeom prst="rect">
            <a:avLst/>
          </a:prstGeom>
          <a:noFill/>
          <a:ln/>
        </p:spPr>
        <p:txBody>
          <a:bodyPr wrap="square" lIns="0" tIns="0" rIns="0" bIns="0" rtlCol="0" anchor="ctr"/>
          <a:lstStyle/>
          <a:p>
            <a:pPr indent="0" marL="0">
              <a:buNone/>
            </a:pPr>
            <a:r>
              <a:rPr lang="en-US" sz="1400" b="1" dirty="0">
                <a:solidFill>
                  <a:srgbClr val="0F1E3D"/>
                </a:solidFill>
                <a:latin typeface="Cambria" pitchFamily="34" charset="0"/>
                <a:ea typeface="Cambria" pitchFamily="34" charset="-122"/>
                <a:cs typeface="Cambria" pitchFamily="34" charset="-120"/>
              </a:rPr>
              <a:t>E[r] = 0 does not bound scale</a:t>
            </a:r>
            <a:endParaRPr lang="en-US" sz="1400" dirty="0"/>
          </a:p>
        </p:txBody>
      </p:sp>
      <p:sp>
        <p:nvSpPr>
          <p:cNvPr id="11" name="Text 9"/>
          <p:cNvSpPr/>
          <p:nvPr/>
        </p:nvSpPr>
        <p:spPr>
          <a:xfrm>
            <a:off x="1298448" y="2889504"/>
            <a:ext cx="9966960" cy="384048"/>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Centring is computed inside the quantity being gamed. Check the reward's dependence on the count from a histogram before booking GPU time.</a:t>
            </a:r>
            <a:endParaRPr lang="en-US" sz="1200" dirty="0"/>
          </a:p>
        </p:txBody>
      </p:sp>
      <p:sp>
        <p:nvSpPr>
          <p:cNvPr id="12" name="Shape 10"/>
          <p:cNvSpPr/>
          <p:nvPr/>
        </p:nvSpPr>
        <p:spPr>
          <a:xfrm>
            <a:off x="548640" y="3419856"/>
            <a:ext cx="11064240" cy="877824"/>
          </a:xfrm>
          <a:prstGeom prst="roundRect">
            <a:avLst>
              <a:gd name="adj" fmla="val 4167"/>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13" name="Shape 11"/>
          <p:cNvSpPr/>
          <p:nvPr/>
        </p:nvSpPr>
        <p:spPr>
          <a:xfrm>
            <a:off x="804672" y="3694176"/>
            <a:ext cx="329184" cy="329184"/>
          </a:xfrm>
          <a:prstGeom prst="roundRect">
            <a:avLst>
              <a:gd name="adj" fmla="val 50000"/>
            </a:avLst>
          </a:prstGeom>
          <a:solidFill>
            <a:srgbClr val="2A9D8F"/>
          </a:solidFill>
          <a:ln w="12700">
            <a:solidFill>
              <a:srgbClr val="2A9D8F"/>
            </a:solidFill>
            <a:prstDash val="solid"/>
          </a:ln>
        </p:spPr>
      </p:sp>
      <p:sp>
        <p:nvSpPr>
          <p:cNvPr id="14" name="Text 12"/>
          <p:cNvSpPr/>
          <p:nvPr/>
        </p:nvSpPr>
        <p:spPr>
          <a:xfrm>
            <a:off x="1298448" y="3529584"/>
            <a:ext cx="9966960" cy="329184"/>
          </a:xfrm>
          <a:prstGeom prst="rect">
            <a:avLst/>
          </a:prstGeom>
          <a:noFill/>
          <a:ln/>
        </p:spPr>
        <p:txBody>
          <a:bodyPr wrap="square" lIns="0" tIns="0" rIns="0" bIns="0" rtlCol="0" anchor="ctr"/>
          <a:lstStyle/>
          <a:p>
            <a:pPr indent="0" marL="0">
              <a:buNone/>
            </a:pPr>
            <a:r>
              <a:rPr lang="en-US" sz="1400" b="1" dirty="0">
                <a:solidFill>
                  <a:srgbClr val="0F1E3D"/>
                </a:solidFill>
                <a:latin typeface="Cambria" pitchFamily="34" charset="0"/>
                <a:ea typeface="Cambria" pitchFamily="34" charset="-122"/>
                <a:cs typeface="Cambria" pitchFamily="34" charset="-120"/>
              </a:rPr>
              <a:t>Partition-invariance is a design requirement</a:t>
            </a:r>
            <a:endParaRPr lang="en-US" sz="1400" dirty="0"/>
          </a:p>
        </p:txBody>
      </p:sp>
      <p:sp>
        <p:nvSpPr>
          <p:cNvPr id="15" name="Text 13"/>
          <p:cNvSpPr/>
          <p:nvPr/>
        </p:nvSpPr>
        <p:spPr>
          <a:xfrm>
            <a:off x="1298448" y="3858768"/>
            <a:ext cx="9966960" cy="384048"/>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A per-section reward whose value depends on how content is sliced will be gamed — by stopping early, or by fragmenting.</a:t>
            </a:r>
            <a:endParaRPr lang="en-US" sz="1200" dirty="0"/>
          </a:p>
        </p:txBody>
      </p:sp>
      <p:sp>
        <p:nvSpPr>
          <p:cNvPr id="16" name="Shape 14"/>
          <p:cNvSpPr/>
          <p:nvPr/>
        </p:nvSpPr>
        <p:spPr>
          <a:xfrm>
            <a:off x="548640" y="4389120"/>
            <a:ext cx="11064240" cy="877824"/>
          </a:xfrm>
          <a:prstGeom prst="roundRect">
            <a:avLst>
              <a:gd name="adj" fmla="val 4167"/>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17" name="Shape 15"/>
          <p:cNvSpPr/>
          <p:nvPr/>
        </p:nvSpPr>
        <p:spPr>
          <a:xfrm>
            <a:off x="804672" y="4663440"/>
            <a:ext cx="329184" cy="329184"/>
          </a:xfrm>
          <a:prstGeom prst="roundRect">
            <a:avLst>
              <a:gd name="adj" fmla="val 50000"/>
            </a:avLst>
          </a:prstGeom>
          <a:solidFill>
            <a:srgbClr val="2A9D8F"/>
          </a:solidFill>
          <a:ln w="12700">
            <a:solidFill>
              <a:srgbClr val="2A9D8F"/>
            </a:solidFill>
            <a:prstDash val="solid"/>
          </a:ln>
        </p:spPr>
      </p:sp>
      <p:sp>
        <p:nvSpPr>
          <p:cNvPr id="18" name="Text 16"/>
          <p:cNvSpPr/>
          <p:nvPr/>
        </p:nvSpPr>
        <p:spPr>
          <a:xfrm>
            <a:off x="1298448" y="4498848"/>
            <a:ext cx="9966960" cy="329184"/>
          </a:xfrm>
          <a:prstGeom prst="rect">
            <a:avLst/>
          </a:prstGeom>
          <a:noFill/>
          <a:ln/>
        </p:spPr>
        <p:txBody>
          <a:bodyPr wrap="square" lIns="0" tIns="0" rIns="0" bIns="0" rtlCol="0" anchor="ctr"/>
          <a:lstStyle/>
          <a:p>
            <a:pPr indent="0" marL="0">
              <a:buNone/>
            </a:pPr>
            <a:r>
              <a:rPr lang="en-US" sz="1400" b="1" dirty="0">
                <a:solidFill>
                  <a:srgbClr val="0F1E3D"/>
                </a:solidFill>
                <a:latin typeface="Cambria" pitchFamily="34" charset="0"/>
                <a:ea typeface="Cambria" pitchFamily="34" charset="-122"/>
                <a:cs typeface="Cambria" pitchFamily="34" charset="-120"/>
              </a:rPr>
              <a:t>Gates written against the failure you have seen will miss the next one</a:t>
            </a:r>
            <a:endParaRPr lang="en-US" sz="1400" dirty="0"/>
          </a:p>
        </p:txBody>
      </p:sp>
      <p:sp>
        <p:nvSpPr>
          <p:cNvPr id="19" name="Text 17"/>
          <p:cNvSpPr/>
          <p:nvPr/>
        </p:nvSpPr>
        <p:spPr>
          <a:xfrm>
            <a:off x="1298448" y="4828032"/>
            <a:ext cx="9966960" cy="384048"/>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All three original criteria were one-sided; M-F failed in a third direction that pushed every one AWAY from its threshold.</a:t>
            </a:r>
            <a:endParaRPr lang="en-US" sz="1200" dirty="0"/>
          </a:p>
        </p:txBody>
      </p:sp>
      <p:sp>
        <p:nvSpPr>
          <p:cNvPr id="20" name="Shape 18"/>
          <p:cNvSpPr/>
          <p:nvPr/>
        </p:nvSpPr>
        <p:spPr>
          <a:xfrm>
            <a:off x="548640" y="5358384"/>
            <a:ext cx="11064240" cy="877824"/>
          </a:xfrm>
          <a:prstGeom prst="roundRect">
            <a:avLst>
              <a:gd name="adj" fmla="val 4167"/>
            </a:avLst>
          </a:prstGeom>
          <a:solidFill>
            <a:srgbClr val="EEF2F6"/>
          </a:solidFill>
          <a:ln w="12700">
            <a:solidFill>
              <a:srgbClr val="EEF2F6"/>
            </a:solidFill>
            <a:prstDash val="solid"/>
          </a:ln>
          <a:effectLst>
            <a:outerShdw sx="100000" sy="100000" kx="0" ky="0" algn="bl" rotWithShape="0" blurRad="101600" dist="12700" dir="5400000">
              <a:srgbClr val="9AA7B4">
                <a:alpha val="22000"/>
              </a:srgbClr>
            </a:outerShdw>
          </a:effectLst>
        </p:spPr>
      </p:sp>
      <p:sp>
        <p:nvSpPr>
          <p:cNvPr id="21" name="Shape 19"/>
          <p:cNvSpPr/>
          <p:nvPr/>
        </p:nvSpPr>
        <p:spPr>
          <a:xfrm>
            <a:off x="804672" y="5632704"/>
            <a:ext cx="329184" cy="329184"/>
          </a:xfrm>
          <a:prstGeom prst="roundRect">
            <a:avLst>
              <a:gd name="adj" fmla="val 50000"/>
            </a:avLst>
          </a:prstGeom>
          <a:solidFill>
            <a:srgbClr val="2A9D8F"/>
          </a:solidFill>
          <a:ln w="12700">
            <a:solidFill>
              <a:srgbClr val="2A9D8F"/>
            </a:solidFill>
            <a:prstDash val="solid"/>
          </a:ln>
        </p:spPr>
      </p:sp>
      <p:sp>
        <p:nvSpPr>
          <p:cNvPr id="22" name="Text 20"/>
          <p:cNvSpPr/>
          <p:nvPr/>
        </p:nvSpPr>
        <p:spPr>
          <a:xfrm>
            <a:off x="1298448" y="5468112"/>
            <a:ext cx="9966960" cy="329184"/>
          </a:xfrm>
          <a:prstGeom prst="rect">
            <a:avLst/>
          </a:prstGeom>
          <a:noFill/>
          <a:ln/>
        </p:spPr>
        <p:txBody>
          <a:bodyPr wrap="square" lIns="0" tIns="0" rIns="0" bIns="0" rtlCol="0" anchor="ctr"/>
          <a:lstStyle/>
          <a:p>
            <a:pPr indent="0" marL="0">
              <a:buNone/>
            </a:pPr>
            <a:r>
              <a:rPr lang="en-US" sz="1400" b="1" dirty="0">
                <a:solidFill>
                  <a:srgbClr val="0F1E3D"/>
                </a:solidFill>
                <a:latin typeface="Cambria" pitchFamily="34" charset="0"/>
                <a:ea typeface="Cambria" pitchFamily="34" charset="-122"/>
                <a:cs typeface="Cambria" pitchFamily="34" charset="-120"/>
              </a:rPr>
              <a:t>Selection is dominated by aggregation</a:t>
            </a:r>
            <a:endParaRPr lang="en-US" sz="1400" dirty="0"/>
          </a:p>
        </p:txBody>
      </p:sp>
      <p:sp>
        <p:nvSpPr>
          <p:cNvPr id="23" name="Text 21"/>
          <p:cNvSpPr/>
          <p:nvPr/>
        </p:nvSpPr>
        <p:spPr>
          <a:xfrm>
            <a:off x="1298448" y="5797296"/>
            <a:ext cx="9966960" cy="384048"/>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An ORACLE selector of one draft reads 0.5646 where voting the same drafts reads 0.5750. A final section should synthesise its predecessors, not pick among them.</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E3D"/>
        </a:solidFill>
      </p:bgPr>
    </p:bg>
    <p:spTree>
      <p:nvGrpSpPr>
        <p:cNvPr id="1" name=""/>
        <p:cNvGrpSpPr/>
        <p:nvPr/>
      </p:nvGrpSpPr>
      <p:grpSpPr>
        <a:xfrm>
          <a:off x="0" y="0"/>
          <a:ext cx="0" cy="0"/>
          <a:chOff x="0" y="0"/>
          <a:chExt cx="0" cy="0"/>
        </a:xfrm>
      </p:grpSpPr>
      <p:sp>
        <p:nvSpPr>
          <p:cNvPr id="2" name="Text 0"/>
          <p:cNvSpPr/>
          <p:nvPr/>
        </p:nvSpPr>
        <p:spPr>
          <a:xfrm>
            <a:off x="548640" y="502920"/>
            <a:ext cx="1106424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Where it stands</a:t>
            </a:r>
            <a:endParaRPr lang="en-US" sz="3400" dirty="0"/>
          </a:p>
        </p:txBody>
      </p:sp>
      <p:sp>
        <p:nvSpPr>
          <p:cNvPr id="3" name="Shape 1"/>
          <p:cNvSpPr/>
          <p:nvPr/>
        </p:nvSpPr>
        <p:spPr>
          <a:xfrm>
            <a:off x="548640" y="1417320"/>
            <a:ext cx="3520440" cy="1645920"/>
          </a:xfrm>
          <a:prstGeom prst="roundRect">
            <a:avLst>
              <a:gd name="adj" fmla="val 2222"/>
            </a:avLst>
          </a:prstGeom>
          <a:solidFill>
            <a:srgbClr val="1A2E52"/>
          </a:solidFill>
          <a:ln w="12700">
            <a:solidFill>
              <a:srgbClr val="1A2E52"/>
            </a:solidFill>
            <a:prstDash val="solid"/>
          </a:ln>
          <a:effectLst>
            <a:outerShdw sx="100000" sy="100000" kx="0" ky="0" algn="bl" rotWithShape="0" blurRad="101600" dist="12700" dir="5400000">
              <a:srgbClr val="9AA7B4">
                <a:alpha val="22000"/>
              </a:srgbClr>
            </a:outerShdw>
          </a:effectLst>
        </p:spPr>
      </p:sp>
      <p:sp>
        <p:nvSpPr>
          <p:cNvPr id="4" name="Text 2"/>
          <p:cNvSpPr/>
          <p:nvPr/>
        </p:nvSpPr>
        <p:spPr>
          <a:xfrm>
            <a:off x="548640" y="1554480"/>
            <a:ext cx="3520440" cy="713232"/>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0.5806</a:t>
            </a:r>
            <a:endParaRPr lang="en-US" sz="4000" dirty="0"/>
          </a:p>
        </p:txBody>
      </p:sp>
      <p:sp>
        <p:nvSpPr>
          <p:cNvPr id="5" name="Text 3"/>
          <p:cNvSpPr/>
          <p:nvPr/>
        </p:nvSpPr>
        <p:spPr>
          <a:xfrm>
            <a:off x="548640" y="2267712"/>
            <a:ext cx="3520440" cy="548640"/>
          </a:xfrm>
          <a:prstGeom prst="rect">
            <a:avLst/>
          </a:prstGeom>
          <a:noFill/>
          <a:ln/>
        </p:spPr>
        <p:txBody>
          <a:bodyPr wrap="square" lIns="0" tIns="0" rIns="0" bIns="0" rtlCol="0" anchor="t"/>
          <a:lstStyle/>
          <a:p>
            <a:pPr algn="ctr" indent="0" marL="0">
              <a:buNone/>
            </a:pPr>
            <a:r>
              <a:rPr lang="en-US" sz="1050" dirty="0">
                <a:solidFill>
                  <a:srgbClr val="CBD8E8"/>
                </a:solidFill>
                <a:latin typeface="Calibri" pitchFamily="34" charset="0"/>
                <a:ea typeface="Calibri" pitchFamily="34" charset="-122"/>
                <a:cs typeface="Calibri" pitchFamily="34" charset="-120"/>
              </a:rPr>
              <a:t>best consensus — M-K step-36</a:t>
            </a:r>
            <a:endParaRPr lang="en-US" sz="1050" dirty="0"/>
          </a:p>
          <a:p>
            <a:pPr algn="ctr" indent="0" marL="0">
              <a:buNone/>
            </a:pPr>
            <a:r>
              <a:rPr lang="en-US" sz="1050" dirty="0">
                <a:solidFill>
                  <a:srgbClr val="CBD8E8"/>
                </a:solidFill>
                <a:latin typeface="Calibri" pitchFamily="34" charset="0"/>
                <a:ea typeface="Calibri" pitchFamily="34" charset="-122"/>
                <a:cs typeface="Calibri" pitchFamily="34" charset="-120"/>
              </a:rPr>
              <a:t>0.0090 short of the bar</a:t>
            </a:r>
            <a:endParaRPr lang="en-US" sz="1050" dirty="0"/>
          </a:p>
        </p:txBody>
      </p:sp>
      <p:sp>
        <p:nvSpPr>
          <p:cNvPr id="6" name="Shape 4"/>
          <p:cNvSpPr/>
          <p:nvPr/>
        </p:nvSpPr>
        <p:spPr>
          <a:xfrm>
            <a:off x="4320540" y="1417320"/>
            <a:ext cx="3520440" cy="1645920"/>
          </a:xfrm>
          <a:prstGeom prst="roundRect">
            <a:avLst>
              <a:gd name="adj" fmla="val 2222"/>
            </a:avLst>
          </a:prstGeom>
          <a:solidFill>
            <a:srgbClr val="1A2E52"/>
          </a:solidFill>
          <a:ln w="12700">
            <a:solidFill>
              <a:srgbClr val="1A2E52"/>
            </a:solidFill>
            <a:prstDash val="solid"/>
          </a:ln>
          <a:effectLst>
            <a:outerShdw sx="100000" sy="100000" kx="0" ky="0" algn="bl" rotWithShape="0" blurRad="101600" dist="12700" dir="5400000">
              <a:srgbClr val="9AA7B4">
                <a:alpha val="22000"/>
              </a:srgbClr>
            </a:outerShdw>
          </a:effectLst>
        </p:spPr>
      </p:sp>
      <p:sp>
        <p:nvSpPr>
          <p:cNvPr id="7" name="Text 5"/>
          <p:cNvSpPr/>
          <p:nvPr/>
        </p:nvSpPr>
        <p:spPr>
          <a:xfrm>
            <a:off x="4320540" y="1554480"/>
            <a:ext cx="3520440" cy="713232"/>
          </a:xfrm>
          <a:prstGeom prst="rect">
            <a:avLst/>
          </a:prstGeom>
          <a:noFill/>
          <a:ln/>
        </p:spPr>
        <p:txBody>
          <a:bodyPr wrap="square" lIns="0" tIns="0" rIns="0" bIns="0" rtlCol="0" anchor="ctr"/>
          <a:lstStyle/>
          <a:p>
            <a:pPr algn="ctr" indent="0" marL="0">
              <a:buNone/>
            </a:pPr>
            <a:r>
              <a:rPr lang="en-US" sz="4000" b="1" dirty="0">
                <a:solidFill>
                  <a:srgbClr val="E8871E"/>
                </a:solidFill>
                <a:latin typeface="Cambria" pitchFamily="34" charset="0"/>
                <a:ea typeface="Cambria" pitchFamily="34" charset="-122"/>
                <a:cs typeface="Cambria" pitchFamily="34" charset="-120"/>
              </a:rPr>
              <a:t>0.5677</a:t>
            </a:r>
            <a:endParaRPr lang="en-US" sz="4000" dirty="0"/>
          </a:p>
        </p:txBody>
      </p:sp>
      <p:sp>
        <p:nvSpPr>
          <p:cNvPr id="8" name="Text 6"/>
          <p:cNvSpPr/>
          <p:nvPr/>
        </p:nvSpPr>
        <p:spPr>
          <a:xfrm>
            <a:off x="4320540" y="2267712"/>
            <a:ext cx="3520440" cy="548640"/>
          </a:xfrm>
          <a:prstGeom prst="rect">
            <a:avLst/>
          </a:prstGeom>
          <a:noFill/>
          <a:ln/>
        </p:spPr>
        <p:txBody>
          <a:bodyPr wrap="square" lIns="0" tIns="0" rIns="0" bIns="0" rtlCol="0" anchor="t"/>
          <a:lstStyle/>
          <a:p>
            <a:pPr algn="ctr" indent="0" marL="0">
              <a:buNone/>
            </a:pPr>
            <a:r>
              <a:rPr lang="en-US" sz="1050" dirty="0">
                <a:solidFill>
                  <a:srgbClr val="CBD8E8"/>
                </a:solidFill>
                <a:latin typeface="Calibri" pitchFamily="34" charset="0"/>
                <a:ea typeface="Calibri" pitchFamily="34" charset="-122"/>
                <a:cs typeface="Calibri" pitchFamily="34" charset="-120"/>
              </a:rPr>
              <a:t>best ORACLE — M-KS2 step-24</a:t>
            </a:r>
            <a:endParaRPr lang="en-US" sz="1050" dirty="0"/>
          </a:p>
          <a:p>
            <a:pPr algn="ctr" indent="0" marL="0">
              <a:buNone/>
            </a:pPr>
            <a:r>
              <a:rPr lang="en-US" sz="1050" dirty="0">
                <a:solidFill>
                  <a:srgbClr val="CBD8E8"/>
                </a:solidFill>
                <a:latin typeface="Calibri" pitchFamily="34" charset="0"/>
                <a:ea typeface="Calibri" pitchFamily="34" charset="-122"/>
                <a:cs typeface="Calibri" pitchFamily="34" charset="-120"/>
              </a:rPr>
              <a:t>the last gain</a:t>
            </a:r>
            <a:endParaRPr lang="en-US" sz="1050" dirty="0"/>
          </a:p>
        </p:txBody>
      </p:sp>
      <p:sp>
        <p:nvSpPr>
          <p:cNvPr id="9" name="Shape 7"/>
          <p:cNvSpPr/>
          <p:nvPr/>
        </p:nvSpPr>
        <p:spPr>
          <a:xfrm>
            <a:off x="8092440" y="1417320"/>
            <a:ext cx="3520440" cy="1645920"/>
          </a:xfrm>
          <a:prstGeom prst="roundRect">
            <a:avLst>
              <a:gd name="adj" fmla="val 2222"/>
            </a:avLst>
          </a:prstGeom>
          <a:solidFill>
            <a:srgbClr val="1A2E52"/>
          </a:solidFill>
          <a:ln w="12700">
            <a:solidFill>
              <a:srgbClr val="1A2E52"/>
            </a:solidFill>
            <a:prstDash val="solid"/>
          </a:ln>
          <a:effectLst>
            <a:outerShdw sx="100000" sy="100000" kx="0" ky="0" algn="bl" rotWithShape="0" blurRad="101600" dist="12700" dir="5400000">
              <a:srgbClr val="9AA7B4">
                <a:alpha val="22000"/>
              </a:srgbClr>
            </a:outerShdw>
          </a:effectLst>
        </p:spPr>
      </p:sp>
      <p:sp>
        <p:nvSpPr>
          <p:cNvPr id="10" name="Text 8"/>
          <p:cNvSpPr/>
          <p:nvPr/>
        </p:nvSpPr>
        <p:spPr>
          <a:xfrm>
            <a:off x="8092440" y="1554480"/>
            <a:ext cx="3520440" cy="713232"/>
          </a:xfrm>
          <a:prstGeom prst="rect">
            <a:avLst/>
          </a:prstGeom>
          <a:noFill/>
          <a:ln/>
        </p:spPr>
        <p:txBody>
          <a:bodyPr wrap="square" lIns="0" tIns="0" rIns="0" bIns="0" rtlCol="0" anchor="ctr"/>
          <a:lstStyle/>
          <a:p>
            <a:pPr algn="ctr" indent="0" marL="0">
              <a:buNone/>
            </a:pPr>
            <a:r>
              <a:rPr lang="en-US" sz="4000" b="1" dirty="0">
                <a:solidFill>
                  <a:srgbClr val="2A9D8F"/>
                </a:solidFill>
                <a:latin typeface="Cambria" pitchFamily="34" charset="0"/>
                <a:ea typeface="Cambria" pitchFamily="34" charset="-122"/>
                <a:cs typeface="Cambria" pitchFamily="34" charset="-120"/>
              </a:rPr>
              <a:t>0.5267</a:t>
            </a:r>
            <a:endParaRPr lang="en-US" sz="4000" dirty="0"/>
          </a:p>
        </p:txBody>
      </p:sp>
      <p:sp>
        <p:nvSpPr>
          <p:cNvPr id="11" name="Text 9"/>
          <p:cNvSpPr/>
          <p:nvPr/>
        </p:nvSpPr>
        <p:spPr>
          <a:xfrm>
            <a:off x="8092440" y="2267712"/>
            <a:ext cx="3520440" cy="548640"/>
          </a:xfrm>
          <a:prstGeom prst="rect">
            <a:avLst/>
          </a:prstGeom>
          <a:noFill/>
          <a:ln/>
        </p:spPr>
        <p:txBody>
          <a:bodyPr wrap="square" lIns="0" tIns="0" rIns="0" bIns="0" rtlCol="0" anchor="t"/>
          <a:lstStyle/>
          <a:p>
            <a:pPr algn="ctr" indent="0" marL="0">
              <a:buNone/>
            </a:pPr>
            <a:r>
              <a:rPr lang="en-US" sz="1050" dirty="0">
                <a:solidFill>
                  <a:srgbClr val="CBD8E8"/>
                </a:solidFill>
                <a:latin typeface="Calibri" pitchFamily="34" charset="0"/>
                <a:ea typeface="Calibri" pitchFamily="34" charset="-122"/>
                <a:cs typeface="Calibri" pitchFamily="34" charset="-120"/>
              </a:rPr>
              <a:t>best final section — M-C</a:t>
            </a:r>
            <a:endParaRPr lang="en-US" sz="1050" dirty="0"/>
          </a:p>
          <a:p>
            <a:pPr algn="ctr" indent="0" marL="0">
              <a:buNone/>
            </a:pPr>
            <a:r>
              <a:rPr lang="en-US" sz="1050" dirty="0">
                <a:solidFill>
                  <a:srgbClr val="CBD8E8"/>
                </a:solidFill>
                <a:latin typeface="Calibri" pitchFamily="34" charset="0"/>
                <a:ea typeface="Calibri" pitchFamily="34" charset="-122"/>
                <a:cs typeface="Calibri" pitchFamily="34" charset="-120"/>
              </a:rPr>
              <a:t>&gt; 0.4566 warm start</a:t>
            </a:r>
            <a:endParaRPr lang="en-US" sz="1050" dirty="0"/>
          </a:p>
        </p:txBody>
      </p:sp>
      <p:sp>
        <p:nvSpPr>
          <p:cNvPr id="12" name="Text 10"/>
          <p:cNvSpPr/>
          <p:nvPr/>
        </p:nvSpPr>
        <p:spPr>
          <a:xfrm>
            <a:off x="548640" y="3200400"/>
            <a:ext cx="11064240" cy="365760"/>
          </a:xfrm>
          <a:prstGeom prst="rect">
            <a:avLst/>
          </a:prstGeom>
          <a:noFill/>
          <a:ln/>
        </p:spPr>
        <p:txBody>
          <a:bodyPr wrap="square" lIns="0" tIns="0" rIns="0" bIns="0" rtlCol="0" anchor="ctr"/>
          <a:lstStyle/>
          <a:p>
            <a:pPr indent="0" marL="0">
              <a:buNone/>
            </a:pPr>
            <a:r>
              <a:rPr lang="en-US" sz="1350" i="1" dirty="0">
                <a:solidFill>
                  <a:srgbClr val="CBD8E8"/>
                </a:solidFill>
                <a:latin typeface="Calibri" pitchFamily="34" charset="0"/>
                <a:ea typeface="Calibri" pitchFamily="34" charset="-122"/>
                <a:cs typeface="Calibri" pitchFamily="34" charset="-120"/>
              </a:rPr>
              <a:t>Primary criterion not met. Three secondary criteria met — by three different arms, none owning more than one.</a:t>
            </a:r>
            <a:endParaRPr lang="en-US" sz="1350" dirty="0"/>
          </a:p>
        </p:txBody>
      </p:sp>
      <p:sp>
        <p:nvSpPr>
          <p:cNvPr id="13" name="Text 11"/>
          <p:cNvSpPr/>
          <p:nvPr/>
        </p:nvSpPr>
        <p:spPr>
          <a:xfrm>
            <a:off x="548640" y="3749040"/>
            <a:ext cx="11064240" cy="365760"/>
          </a:xfrm>
          <a:prstGeom prst="rect">
            <a:avLst/>
          </a:prstGeom>
          <a:noFill/>
          <a:ln/>
        </p:spPr>
        <p:txBody>
          <a:bodyPr wrap="square" lIns="0" tIns="0" rIns="0" bIns="0" rtlCol="0" anchor="ctr"/>
          <a:lstStyle/>
          <a:p>
            <a:pPr indent="0" marL="0">
              <a:buNone/>
            </a:pPr>
            <a:r>
              <a:rPr lang="en-US" sz="1800" b="1" dirty="0">
                <a:solidFill>
                  <a:srgbClr val="E8871E"/>
                </a:solidFill>
                <a:latin typeface="Cambria" pitchFamily="34" charset="0"/>
                <a:ea typeface="Cambria" pitchFamily="34" charset="-122"/>
                <a:cs typeface="Cambria" pitchFamily="34" charset="-120"/>
              </a:rPr>
              <a:t>What we know, and what is open</a:t>
            </a:r>
            <a:endParaRPr lang="en-US" sz="1800" dirty="0"/>
          </a:p>
        </p:txBody>
      </p:sp>
      <p:sp>
        <p:nvSpPr>
          <p:cNvPr id="14" name="Text 12"/>
          <p:cNvSpPr/>
          <p:nvPr/>
        </p:nvSpPr>
        <p:spPr>
          <a:xfrm>
            <a:off x="731520" y="4206240"/>
            <a:ext cx="10881360" cy="2011680"/>
          </a:xfrm>
          <a:prstGeom prst="rect">
            <a:avLst/>
          </a:prstGeom>
          <a:noFill/>
          <a:ln/>
        </p:spPr>
        <p:txBody>
          <a:bodyPr wrap="square" lIns="0" tIns="0" rIns="0" bIns="0" rtlCol="0" anchor="ctr"/>
          <a:lstStyle/>
          <a:p>
            <a:pPr marL="342900" indent="-342900">
              <a:spcAft>
                <a:spcPts val="900"/>
              </a:spcAft>
              <a:buSzPct val="100000"/>
              <a:buChar char="•"/>
            </a:pPr>
            <a:r>
              <a:rPr lang="en-US" sz="1300" dirty="0">
                <a:solidFill>
                  <a:srgbClr val="E4ECF6"/>
                </a:solidFill>
                <a:latin typeface="Calibri" pitchFamily="34" charset="0"/>
                <a:ea typeface="Calibri" pitchFamily="34" charset="-122"/>
                <a:cs typeface="Calibri" pitchFamily="34" charset="-120"/>
              </a:rPr>
              <a:t>M-KP answered the last open question, and the answer is that #208's per-contact result TRANSFERS. Per-pair shaping on a scale-correct base still sharpened: precision 0.33 → 0.75 while predictions fell 11.4 → 4.4 per true contact, and the union shrank below R. It tripped the union/R gate at step 17 — the first time that criterion has fired in the whole experiment.</a:t>
            </a:r>
            <a:endParaRPr lang="en-US" sz="1300" dirty="0"/>
          </a:p>
          <a:p>
            <a:pPr marL="342900" indent="-342900">
              <a:spcAft>
                <a:spcPts val="900"/>
              </a:spcAft>
              <a:buSzPct val="100000"/>
              <a:buChar char="•"/>
            </a:pPr>
            <a:r>
              <a:rPr lang="en-US" sz="1300" dirty="0">
                <a:solidFill>
                  <a:srgbClr val="E4ECF6"/>
                </a:solidFill>
                <a:latin typeface="Calibri" pitchFamily="34" charset="0"/>
                <a:ea typeface="Calibri" pitchFamily="34" charset="-122"/>
                <a:cs typeface="Calibri" pitchFamily="34" charset="-120"/>
              </a:rPr>
              <a:t>The peak itself is unexplained. Every arm hits it at KL 0.009–0.025, and four interventions that changed the optimiser only changed the approach to it.</a:t>
            </a:r>
            <a:endParaRPr lang="en-US" sz="1300" dirty="0"/>
          </a:p>
          <a:p>
            <a:pPr marL="342900" indent="-342900">
              <a:spcAft>
                <a:spcPts val="900"/>
              </a:spcAft>
              <a:buSzPct val="100000"/>
              <a:buChar char="•"/>
            </a:pPr>
            <a:r>
              <a:rPr lang="en-US" sz="1300" dirty="0">
                <a:solidFill>
                  <a:srgbClr val="E4ECF6"/>
                </a:solidFill>
                <a:latin typeface="Calibri" pitchFamily="34" charset="0"/>
                <a:ea typeface="Calibri" pitchFamily="34" charset="-122"/>
                <a:cs typeface="Calibri" pitchFamily="34" charset="-120"/>
              </a:rPr>
              <a:t>The diversity gap is a corpus question, not an RL one: one rollout's sections cover 658 distinct pairs against 1,065 for 22 independent ones, and no reward here closed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2026-08-20T14:37:53Z</dcterms:created>
  <dcterms:modified xsi:type="dcterms:W3CDTF">2026-08-20T14:37:53Z</dcterms:modified>
</cp:coreProperties>
</file>