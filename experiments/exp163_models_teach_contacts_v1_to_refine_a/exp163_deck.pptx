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mean single</c:v>
                </c:pt>
              </c:strCache>
            </c:strRef>
          </c:tx>
          <c:spPr>
            <a:solidFill>
              <a:srgbClr val="6B748C"/>
            </a:solidFill>
          </c:spPr>
          <c:cat>
            <c:strRef>
              <c:f>Sheet1!$A$2:$A$4</c:f>
              <c:strCache>
                <c:ptCount val="3"/>
                <c:pt idx="0">
                  <c:v>K = 8</c:v>
                </c:pt>
                <c:pt idx="1">
                  <c:v>K = 16</c:v>
                </c:pt>
                <c:pt idx="2">
                  <c:v>K = 32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0.122</c:v>
                </c:pt>
                <c:pt idx="1">
                  <c:v>0.122</c:v>
                </c:pt>
                <c:pt idx="2">
                  <c:v>0.122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proxy best-of-K (nll)</c:v>
                </c:pt>
              </c:strCache>
            </c:strRef>
          </c:tx>
          <c:spPr>
            <a:solidFill>
              <a:srgbClr val="9AA7BD"/>
            </a:solidFill>
          </c:spPr>
          <c:cat>
            <c:strRef>
              <c:f>Sheet1!$A$2:$A$4</c:f>
              <c:strCache>
                <c:ptCount val="3"/>
                <c:pt idx="0">
                  <c:v>K = 8</c:v>
                </c:pt>
                <c:pt idx="1">
                  <c:v>K = 16</c:v>
                </c:pt>
                <c:pt idx="2">
                  <c:v>K = 32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0.137</c:v>
                </c:pt>
                <c:pt idx="1">
                  <c:v>0.145</c:v>
                </c:pt>
                <c:pt idx="2">
                  <c:v>0.144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consensus vote</c:v>
                </c:pt>
              </c:strCache>
            </c:strRef>
          </c:tx>
          <c:spPr>
            <a:solidFill>
              <a:srgbClr val="1C7293"/>
            </a:solidFill>
          </c:spPr>
          <c:cat>
            <c:strRef>
              <c:f>Sheet1!$A$2:$A$4</c:f>
              <c:strCache>
                <c:ptCount val="3"/>
                <c:pt idx="0">
                  <c:v>K = 8</c:v>
                </c:pt>
                <c:pt idx="1">
                  <c:v>K = 16</c:v>
                </c:pt>
                <c:pt idx="2">
                  <c:v>K = 32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0.194</c:v>
                </c:pt>
                <c:pt idx="1">
                  <c:v>0.224</c:v>
                </c:pt>
                <c:pt idx="2">
                  <c:v>0.244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oracle best-of-K</c:v>
                </c:pt>
              </c:strCache>
            </c:strRef>
          </c:tx>
          <c:spPr>
            <a:solidFill>
              <a:srgbClr val="21295C"/>
            </a:solidFill>
          </c:spPr>
          <c:cat>
            <c:strRef>
              <c:f>Sheet1!$A$2:$A$4</c:f>
              <c:strCache>
                <c:ptCount val="3"/>
                <c:pt idx="0">
                  <c:v>K = 8</c:v>
                </c:pt>
                <c:pt idx="1">
                  <c:v>K = 16</c:v>
                </c:pt>
                <c:pt idx="2">
                  <c:v>K = 32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0.208</c:v>
                </c:pt>
                <c:pt idx="1">
                  <c:v>0.233</c:v>
                </c:pt>
                <c:pt idx="2">
                  <c:v>0.252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6B748C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28"/>
          <c:min val="0.0"/>
        </c:scaling>
        <c:delete val="0"/>
        <c:axPos val="l"/>
        <c:majorGridlines>
          <c:spPr>
            <a:ln w="9525">
              <a:solidFill>
                <a:srgbClr val="DDE3EC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6B748C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unconditional</c:v>
                </c:pt>
              </c:strCache>
            </c:strRef>
          </c:tx>
          <c:spPr>
            <a:solidFill>
              <a:srgbClr val="6B748C"/>
            </a:solidFill>
          </c:spPr>
          <c:cat>
            <c:strRef>
              <c:f>Sheet1!$A$2:$A$3</c:f>
              <c:strCache>
                <c:ptCount val="2"/>
                <c:pt idx="0">
                  <c:v>oracle: 50% of TRUE contacts</c:v>
                </c:pt>
                <c:pt idx="1">
                  <c:v>noisy: one real rollout (~13% prec)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0.145</c:v>
                </c:pt>
                <c:pt idx="1">
                  <c:v>0.179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conditioned</c:v>
                </c:pt>
              </c:strCache>
            </c:strRef>
          </c:tx>
          <c:spPr>
            <a:solidFill>
              <a:srgbClr val="1C7293"/>
            </a:solidFill>
          </c:spPr>
          <c:cat>
            <c:strRef>
              <c:f>Sheet1!$A$2:$A$3</c:f>
              <c:strCache>
                <c:ptCount val="2"/>
                <c:pt idx="0">
                  <c:v>oracle: 50% of TRUE contacts</c:v>
                </c:pt>
                <c:pt idx="1">
                  <c:v>noisy: one real rollout (~13% prec)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0.556</c:v>
                </c:pt>
                <c:pt idx="1">
                  <c:v>0.092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100" b="1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6B748C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DE3EC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6B748C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 vs the true answer</c:v>
                </c:pt>
              </c:strCache>
            </c:strRef>
          </c:tx>
          <c:dPt>
            <c:idx val="0"/>
            <c:spPr>
              <a:solidFill>
                <a:srgbClr val="6B748C"/>
              </a:solidFill>
            </c:spPr>
          </c:dPt>
          <c:dPt>
            <c:idx val="1"/>
            <c:spPr>
              <a:solidFill>
                <a:srgbClr val="1C7293"/>
              </a:solidFill>
            </c:spPr>
          </c:dPt>
          <c:dPt>
            <c:idx val="2"/>
            <c:spPr>
              <a:solidFill>
                <a:srgbClr val="E88B2F"/>
              </a:solidFill>
            </c:spPr>
          </c:dPt>
          <c:cat>
            <c:strRef>
              <c:f>Sheet1!$A$2:$A$4</c:f>
              <c:strCache>
                <c:ptCount val="3"/>
                <c:pt idx="0">
                  <c:v>appears in
exactly 1 block</c:v>
                </c:pt>
                <c:pt idx="1">
                  <c:v>all distinct
candidates</c:v>
                </c:pt>
                <c:pt idx="2">
                  <c:v>appears in
&gt;1 block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0.079</c:v>
                </c:pt>
                <c:pt idx="1">
                  <c:v>0.097</c:v>
                </c:pt>
                <c:pt idx="2">
                  <c:v>0.247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300" b="1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6B748C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"/>
          <c:min val="0.0"/>
        </c:scaling>
        <c:delete val="0"/>
        <c:axPos val="l"/>
        <c:majorGridlines>
          <c:spPr>
            <a:ln w="9525">
              <a:solidFill>
                <a:srgbClr val="DDE3EC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6B748C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K0 (no candidates)</c:v>
                </c:pt>
              </c:strCache>
            </c:strRef>
          </c:tx>
          <c:spPr>
            <a:solidFill>
              <a:srgbClr val="6B748C"/>
            </a:solidFill>
          </c:spPr>
          <c:cat>
            <c:strRef>
              <c:f>Sheet1!$A$2:$A$3</c:f>
              <c:strCache>
                <c:ptCount val="2"/>
                <c:pt idx="0">
                  <c:v>base</c:v>
                </c:pt>
                <c:pt idx="1">
                  <c:v>refiner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0.3355</c:v>
                </c:pt>
                <c:pt idx="1">
                  <c:v>0.1978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consensus block</c:v>
                </c:pt>
              </c:strCache>
            </c:strRef>
          </c:tx>
          <c:spPr>
            <a:solidFill>
              <a:srgbClr val="1C7293"/>
            </a:solidFill>
          </c:spPr>
          <c:cat>
            <c:strRef>
              <c:f>Sheet1!$A$2:$A$3</c:f>
              <c:strCache>
                <c:ptCount val="2"/>
                <c:pt idx="0">
                  <c:v>base</c:v>
                </c:pt>
                <c:pt idx="1">
                  <c:v>refiner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0.2023</c:v>
                </c:pt>
                <c:pt idx="1">
                  <c:v>0.222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100" b="1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6B748C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4"/>
          <c:min val="0.0"/>
        </c:scaling>
        <c:delete val="0"/>
        <c:axPos val="l"/>
        <c:majorGridlines>
          <c:spPr>
            <a:ln w="9525">
              <a:solidFill>
                <a:srgbClr val="DDE3EC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6B748C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K0 loss vs base</c:v>
                </c:pt>
              </c:strCache>
            </c:strRef>
          </c:tx>
          <c:dPt>
            <c:idx val="0"/>
            <c:spPr>
              <a:solidFill>
                <a:srgbClr val="2E7D5B"/>
              </a:solidFill>
            </c:spPr>
          </c:dPt>
          <c:dPt>
            <c:idx val="1"/>
            <c:spPr>
              <a:solidFill>
                <a:srgbClr val="C44536"/>
              </a:solidFill>
            </c:spPr>
          </c:dPt>
          <c:dPt>
            <c:idx val="2"/>
            <c:spPr>
              <a:solidFill>
                <a:srgbClr val="C44536"/>
              </a:solidFill>
            </c:spPr>
          </c:dPt>
          <c:cat>
            <c:strRef>
              <c:f>Sheet1!$A$2:$A$4</c:f>
              <c:strCache>
                <c:ptCount val="3"/>
                <c:pt idx="0">
                  <c:v>LoRA
900 proteins</c:v>
                </c:pt>
                <c:pt idx="1">
                  <c:v>full FT
18,750 docs</c:v>
                </c:pt>
                <c:pt idx="2">
                  <c:v>full FT
100,000 docs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-7</c:v>
                </c:pt>
                <c:pt idx="1">
                  <c:v>-41</c:v>
                </c:pt>
                <c:pt idx="2">
                  <c:v>-44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/>
          <a:lstStyle/>
          <a:p>
            <a:pPr>
              <a:defRPr sz="1100">
                <a:solidFill>
                  <a:srgbClr val="C9D4E8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DE3EC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C9D4E8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6596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Teaching contacts-v1 to refine</a:t>
            </a:r>
          </a:p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its own candidate rollouts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42900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9FC4E0"/>
                </a:solidFill>
                <a:latin typeface="Calibri"/>
              </a:rPr>
              <a:t>exp163  ·  can K noisy samples be aggregated in-context into a better contact set?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4160520"/>
            <a:ext cx="146304" cy="146304"/>
          </a:xfrm>
          <a:prstGeom prst="ellipse">
            <a:avLst/>
          </a:prstGeom>
          <a:solidFill>
            <a:srgbClr val="E88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5568" y="41148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9D4E8"/>
                </a:solidFill>
                <a:latin typeface="Calibri"/>
              </a:rPr>
              <a:t>Phases 0–2 complete · Phase 3 in flight · MarinFold issue #163 / PR #164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7F92B5"/>
                </a:solidFill>
                <a:latin typeface="Calibri"/>
              </a:rPr>
              <a:t>2026-07-27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1295C"/>
                </a:solidFill>
                <a:latin typeface="Cambria"/>
              </a:rPr>
              <a:t>The information is there — spread across samples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A single contacts-v1 rollout is poor. Sixteen of them collectively are not.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3291840" cy="187451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6B748C"/>
                </a:solidFill>
                <a:latin typeface="Cambria"/>
              </a:rPr>
              <a:t>0.122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07791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Calibri"/>
              </a:rPr>
              <a:t>single rollout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10128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B748C"/>
                </a:solidFill>
                <a:latin typeface="Calibri"/>
              </a:rPr>
              <a:t>mean R-precision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965960"/>
            <a:ext cx="3291840" cy="187451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80560" y="219456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1C7293"/>
                </a:solidFill>
                <a:latin typeface="Cambria"/>
              </a:rPr>
              <a:t>0.233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907791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Calibri"/>
              </a:rPr>
              <a:t>oracle best-of-16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310128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B748C"/>
                </a:solidFill>
                <a:latin typeface="Calibri"/>
              </a:rPr>
              <a:t>not deployable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965960"/>
            <a:ext cx="3291840" cy="187451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138160" y="219456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E88B2F"/>
                </a:solidFill>
                <a:latin typeface="Cambria"/>
              </a:rPr>
              <a:t>0.516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907791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Calibri"/>
              </a:rPr>
              <a:t>union of 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310128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B748C"/>
                </a:solidFill>
                <a:latin typeface="Calibri"/>
              </a:rPr>
              <a:t>recall ceiling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206240"/>
            <a:ext cx="10515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A1F36"/>
                </a:solidFill>
                <a:latin typeface="Calibri"/>
              </a:rPr>
              <a:t>So: can the model be taught to read K of its own rollouts and write out a contact set</a:t>
            </a:r>
          </a:p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1A1F36"/>
                </a:solidFill>
                <a:latin typeface="Calibri"/>
              </a:rPr>
              <a:t>better than any of them — an aggregation operator learned in context?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257800"/>
            <a:ext cx="10515600" cy="86868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51560" y="5468112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8A5312"/>
                </a:solidFill>
                <a:latin typeface="Calibri"/>
              </a:rPr>
              <a:t>The bar is not “beat one rollout”. It is: beat training-free consensus voting, and beat the model’s own one-shot prediction.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21295C"/>
                </a:solidFill>
                <a:latin typeface="Cambria"/>
              </a:rPr>
              <a:t>Probe 1 — aggregation beats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exp98: 1,000 proteins × 1,000 rollouts. R-precision, all band.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1874519"/>
          <a:ext cx="667512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818120" y="2011680"/>
            <a:ext cx="35661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400" b="1">
                <a:solidFill>
                  <a:srgbClr val="21295C"/>
                </a:solidFill>
                <a:latin typeface="Calibri"/>
              </a:rPr>
              <a:t>Voting ≈ oracle. </a:t>
            </a:r>
            <a:r>
              <a:rPr sz="1400">
                <a:solidFill>
                  <a:srgbClr val="1A1F36"/>
                </a:solidFill>
                <a:latin typeface="Calibri"/>
              </a:rPr>
              <a:t>Consensus reaches ~97% of the non-deployable oracle selection, and keeps rising with K.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400" b="1">
                <a:solidFill>
                  <a:srgbClr val="21295C"/>
                </a:solidFill>
                <a:latin typeface="Calibri"/>
              </a:rPr>
              <a:t>Confidence is useless. </a:t>
            </a:r>
            <a:r>
              <a:rPr sz="1400">
                <a:solidFill>
                  <a:srgbClr val="1A1F36"/>
                </a:solidFill>
                <a:latin typeface="Calibri"/>
              </a:rPr>
              <a:t>Within-protein Spearman(nll, F1) median −0.17; the min-nll pick sits at F1 percentile 0.525 — random.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400" b="1">
                <a:solidFill>
                  <a:srgbClr val="21295C"/>
                </a:solidFill>
                <a:latin typeface="Calibri"/>
              </a:rPr>
              <a:t>⇒ No deployable way to rank or filter candidates.</a:t>
            </a:r>
            <a:r>
              <a:rPr sz="1400">
                <a:solidFill>
                  <a:srgbClr val="1A1F36"/>
                </a:solidFill>
                <a:latin typeface="Calibri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5029200"/>
            <a:ext cx="3566160" cy="777240"/>
          </a:xfrm>
          <a:prstGeom prst="roundRect">
            <a:avLst>
              <a:gd name="adj" fmla="val 6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046720" y="5230368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So: train on unordered candidate sets.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1295C"/>
                </a:solidFill>
                <a:latin typeface="Cambria"/>
              </a:rPr>
              <a:t>Probe 2 — the control that reframes everything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Paired on the same 149 proteins: does voting actually beat the base model?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965960"/>
          <a:ext cx="603504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63040"/>
                <a:gridCol w="137160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R-prec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base E8 calibrated matrix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E88B2F"/>
                          </a:solidFill>
                          <a:latin typeface="Calibri"/>
                        </a:rPr>
                        <a:t>0.221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E88B2F"/>
                          </a:solidFill>
                          <a:latin typeface="Calibri"/>
                        </a:rPr>
                        <a:t>0.887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consensus vote (K=16)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0.224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0.735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single rollout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0.125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oracle best-of-16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0.241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union-recall ceiling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E88B2F"/>
                          </a:solidFill>
                          <a:latin typeface="Calibri"/>
                        </a:rPr>
                        <a:t>0.530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223760" y="1965960"/>
            <a:ext cx="4160520" cy="2103120"/>
          </a:xfrm>
          <a:prstGeom prst="roundRect">
            <a:avLst>
              <a:gd name="adj" fmla="val 6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79" y="2240280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9FC4E0"/>
                </a:solidFill>
                <a:latin typeface="Calibri"/>
              </a:rPr>
              <a:t>voting − matrix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2651760"/>
            <a:ext cx="3611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8B2F"/>
                </a:solidFill>
                <a:latin typeface="Cambria"/>
              </a:rPr>
              <a:t>+0.003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429000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vote wins on 50% of proteins — a tie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105156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00" b="1">
                <a:solidFill>
                  <a:srgbClr val="21295C"/>
                </a:solidFill>
                <a:latin typeface="Calibri"/>
              </a:rPr>
              <a:t>Consensus voting is a Monte-Carlo estimate of the model's own per-pair marginal. </a:t>
            </a:r>
            <a:r>
              <a:rPr sz="1500">
                <a:solidFill>
                  <a:srgbClr val="1A1F36"/>
                </a:solidFill>
                <a:latin typeface="Calibri"/>
              </a:rPr>
              <a:t>It adds nothing the base model does not already emit.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00" b="1">
                <a:solidFill>
                  <a:srgbClr val="21295C"/>
                </a:solidFill>
                <a:latin typeface="Calibri"/>
              </a:rPr>
              <a:t>⇒ A refiner that learns only consensus is worthless. </a:t>
            </a:r>
            <a:r>
              <a:rPr sz="1500">
                <a:solidFill>
                  <a:srgbClr val="1A1F36"/>
                </a:solidFill>
                <a:latin typeface="Calibri"/>
              </a:rPr>
              <a:t>It has to extract supra-marginal signal — joint structure the marginal cannot express.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21295C"/>
                </a:solidFill>
                <a:latin typeface="Cambria"/>
              </a:rPr>
              <a:t>Probe 3 — the crux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Zero-shot, paired cond-vs-uncond on the identical remaining-pair task. Joint structure exists — but it is precision-gated.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1874519"/>
          <a:ext cx="649224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35240" y="1965960"/>
            <a:ext cx="3749039" cy="1600200"/>
          </a:xfrm>
          <a:prstGeom prst="roundRect">
            <a:avLst>
              <a:gd name="adj" fmla="val 6000"/>
            </a:avLst>
          </a:prstGeom>
          <a:solidFill>
            <a:srgbClr val="E8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863840" y="21762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7D5B"/>
                </a:solidFill>
                <a:latin typeface="Calibri"/>
              </a:rPr>
              <a:t>TRUE partial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2578608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2E7D5B"/>
                </a:solidFill>
                <a:latin typeface="Cambria"/>
              </a:rPr>
              <a:t>+0.41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31546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E5D4A"/>
                </a:solidFill>
                <a:latin typeface="Calibri"/>
              </a:rPr>
              <a:t>AUC → 0.99 · better on 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3703320"/>
            <a:ext cx="3749039" cy="1600200"/>
          </a:xfrm>
          <a:prstGeom prst="roundRect">
            <a:avLst>
              <a:gd name="adj" fmla="val 6000"/>
            </a:avLst>
          </a:prstGeom>
          <a:solidFill>
            <a:srgbClr val="FAE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63840" y="391363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44536"/>
                </a:solidFill>
                <a:latin typeface="Calibri"/>
              </a:rPr>
              <a:t>NOISY candidate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315968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C44536"/>
                </a:solidFill>
                <a:latin typeface="Cambria"/>
              </a:rPr>
              <a:t>−0.087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8920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E3A2C"/>
                </a:solidFill>
                <a:latin typeface="Calibri"/>
              </a:rPr>
              <a:t>worse on 91% of proteins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623560"/>
            <a:ext cx="10561320" cy="777240"/>
          </a:xfrm>
          <a:prstGeom prst="roundRect">
            <a:avLst>
              <a:gd name="adj" fmla="val 6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51560" y="5815584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Calibri"/>
              </a:rPr>
              <a:t>The base model trusts its context as ground truth — so training, not prompting, is what's required.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21295C"/>
                </a:solidFill>
                <a:latin typeface="Cambria"/>
              </a:rPr>
              <a:t>The document format — zero vocab change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A normal contacts-v1 document with K candidate blocks spliced 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6858000" cy="2148840"/>
          </a:xfrm>
          <a:prstGeom prst="roundRect">
            <a:avLst>
              <a:gd name="adj" fmla="val 6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24128" y="2020824"/>
            <a:ext cx="6455664" cy="18562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0">
                <a:solidFill>
                  <a:srgbClr val="9AB4D8"/>
                </a:solidFill>
                <a:latin typeface="Courier New"/>
              </a:rPr>
              <a:t>&lt;contacts-v1&gt; &lt;begin_sequence&gt; …sequence…</a:t>
            </a:r>
          </a:p>
          <a:p>
            <a:pPr algn="l">
              <a:lnSpc>
                <a:spcPct val="106000"/>
              </a:lnSpc>
            </a:pPr>
            <a:r>
              <a:rPr sz="1250" b="0">
                <a:solidFill>
                  <a:srgbClr val="E88B2F"/>
                </a:solidFill>
                <a:latin typeface="Courier New"/>
              </a:rPr>
              <a:t>  &lt;CAND&gt; &lt;contact&gt; pi pj …        ← candidate 1</a:t>
            </a:r>
          </a:p>
          <a:p>
            <a:pPr algn="l">
              <a:lnSpc>
                <a:spcPct val="106000"/>
              </a:lnSpc>
            </a:pPr>
            <a:r>
              <a:rPr sz="1250" b="0">
                <a:solidFill>
                  <a:srgbClr val="7788AA"/>
                </a:solidFill>
                <a:latin typeface="Courier New"/>
              </a:rPr>
              <a:t>  …                                  K blocks, unordered</a:t>
            </a:r>
          </a:p>
          <a:p>
            <a:pPr algn="l">
              <a:lnSpc>
                <a:spcPct val="106000"/>
              </a:lnSpc>
            </a:pPr>
            <a:r>
              <a:rPr sz="1250" b="0">
                <a:solidFill>
                  <a:srgbClr val="E88B2F"/>
                </a:solidFill>
                <a:latin typeface="Courier New"/>
              </a:rPr>
              <a:t>  &lt;CAND&gt; &lt;contact&gt; pi pj …        ← candidate K</a:t>
            </a:r>
          </a:p>
          <a:p>
            <a:pPr algn="l">
              <a:lnSpc>
                <a:spcPct val="106000"/>
              </a:lnSpc>
            </a:pPr>
            <a:r>
              <a:rPr sz="1250" b="1">
                <a:solidFill>
                  <a:srgbClr val="7AD6A8"/>
                </a:solidFill>
                <a:latin typeface="Courier New"/>
              </a:rPr>
              <a:t>&lt;begin_statements&gt; …TRUE contacts… &lt;end&gt;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6858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6B748C"/>
                </a:solidFill>
                <a:latin typeface="Calibri"/>
              </a:rPr>
              <a:t>Loss is armed on the green span only.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1920240"/>
            <a:ext cx="33832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300" b="1">
                <a:solidFill>
                  <a:srgbClr val="21295C"/>
                </a:solidFill>
                <a:latin typeface="Calibri"/>
              </a:rPr>
              <a:t>&lt;CAND&gt; is a spare token. </a:t>
            </a:r>
            <a:r>
              <a:rPr sz="1300">
                <a:solidFill>
                  <a:srgbClr val="1A1F36"/>
                </a:solidFill>
                <a:latin typeface="Calibri"/>
              </a:rPr>
              <a:t>It reuses &lt;contacts-and-distances-v1&gt; — the other format's sentinel, never emitted inside a contacts-v1 doc. Weight-compatible with every checkpoint.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300" b="1">
                <a:solidFill>
                  <a:srgbClr val="21295C"/>
                </a:solidFill>
                <a:latin typeface="Calibri"/>
              </a:rPr>
              <a:t>K separate blocks. </a:t>
            </a:r>
            <a:r>
              <a:rPr sz="1300">
                <a:solidFill>
                  <a:srgbClr val="1A1F36"/>
                </a:solidFill>
                <a:latin typeface="Calibri"/>
              </a:rPr>
              <a:t>Recurrence across blocks is a precision cue the model can read. Merging would destroy it.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300" b="1">
                <a:solidFill>
                  <a:srgbClr val="21295C"/>
                </a:solidFill>
                <a:latin typeface="Calibri"/>
              </a:rPr>
              <a:t>K ~ Uniform{0…16}. </a:t>
            </a:r>
            <a:r>
              <a:rPr sz="1300">
                <a:solidFill>
                  <a:srgbClr val="1A1F36"/>
                </a:solidFill>
                <a:latin typeface="Calibri"/>
              </a:rPr>
              <a:t>K=0 is a plain document — guards against both ignoring candidates and blindly trusting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91072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6B748C"/>
                </a:solidFill>
                <a:latin typeface="Calibri"/>
              </a:rPr>
              <a:t>Per-candidate subsampling uniform[1, n_pred] keeps test-time full candidates in distribution.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21295C"/>
                </a:solidFill>
                <a:latin typeface="Cambria"/>
              </a:rPr>
              <a:t>A real training document (K =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251 tokens — the shortest in the corpus, shown near-complete. Typical is 2,270 tokens / ~424 candidate contacts.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10561320" cy="3063240"/>
          </a:xfrm>
          <a:prstGeom prst="roundRect">
            <a:avLst>
              <a:gd name="adj" fmla="val 6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24128" y="1975104"/>
            <a:ext cx="10158984" cy="27706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7788AA"/>
                </a:solidFill>
                <a:latin typeface="Courier New"/>
              </a:rPr>
              <a:t># sequence header — loss weight 0</a:t>
            </a:r>
          </a:p>
          <a:p>
            <a:pPr algn="l">
              <a:lnSpc>
                <a:spcPct val="106000"/>
              </a:lnSpc>
            </a:pPr>
            <a:r>
              <a:rPr sz="1150" b="0">
                <a:solidFill>
                  <a:srgbClr val="9AB4D8"/>
                </a:solidFill>
                <a:latin typeface="Courier New"/>
              </a:rPr>
              <a:t>&lt;contacts-v1&gt; &lt;begin_sequence&gt; &lt;p16&gt; &lt;ALA&gt; &lt;p25&gt; &lt;LEU&gt; &lt;p12&gt; &lt;ALA&gt; &lt;p1973&gt; &lt;SER&gt; …</a:t>
            </a:r>
          </a:p>
          <a:p>
            <a:pPr algn="l">
              <a:lnSpc>
                <a:spcPct val="106000"/>
              </a:lnSpc>
            </a:pPr>
            <a:r>
              <a:rPr sz="1150" b="0">
                <a:solidFill>
                  <a:srgbClr val="7788AA"/>
                </a:solidFill>
                <a:latin typeface="Courier New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150" b="0">
                <a:solidFill>
                  <a:srgbClr val="7788AA"/>
                </a:solidFill>
                <a:latin typeface="Courier New"/>
              </a:rPr>
              <a:t># candidate block 1/5  (1 contact)     — loss weight 0</a:t>
            </a:r>
          </a:p>
          <a:p>
            <a:pPr algn="l">
              <a:lnSpc>
                <a:spcPct val="106000"/>
              </a:lnSpc>
            </a:pPr>
            <a:r>
              <a:rPr sz="1150" b="0">
                <a:solidFill>
                  <a:srgbClr val="E88B2F"/>
                </a:solidFill>
                <a:latin typeface="Courier New"/>
              </a:rPr>
              <a:t>&lt;contacts-and-distances-v1&gt; &lt;contact&gt; &lt;p1986&gt; &lt;p1992&gt;</a:t>
            </a:r>
          </a:p>
          <a:p>
            <a:pPr algn="l">
              <a:lnSpc>
                <a:spcPct val="106000"/>
              </a:lnSpc>
            </a:pPr>
            <a:r>
              <a:rPr sz="1150" b="0">
                <a:solidFill>
                  <a:srgbClr val="7788AA"/>
                </a:solidFill>
                <a:latin typeface="Courier New"/>
              </a:rPr>
              <a:t># candidate block 2/5  (6 contacts)    — loss weight 0</a:t>
            </a:r>
          </a:p>
          <a:p>
            <a:pPr algn="l">
              <a:lnSpc>
                <a:spcPct val="106000"/>
              </a:lnSpc>
            </a:pPr>
            <a:r>
              <a:rPr sz="1150" b="0">
                <a:solidFill>
                  <a:srgbClr val="E88B2F"/>
                </a:solidFill>
                <a:latin typeface="Courier New"/>
              </a:rPr>
              <a:t>&lt;contacts-and-distances-v1&gt; &lt;contact&gt; &lt;p1988&gt; &lt;p1970&gt; &lt;contact&gt; &lt;p1993&gt; &lt;p1976&gt; …</a:t>
            </a:r>
          </a:p>
          <a:p>
            <a:pPr algn="l">
              <a:lnSpc>
                <a:spcPct val="106000"/>
              </a:lnSpc>
            </a:pPr>
            <a:r>
              <a:rPr sz="1150" b="0">
                <a:solidFill>
                  <a:srgbClr val="7788AA"/>
                </a:solidFill>
                <a:latin typeface="Courier New"/>
              </a:rPr>
              <a:t># candidate blocks 3–5  (9, 2, 11 contacts) — loss weight 0</a:t>
            </a:r>
          </a:p>
          <a:p>
            <a:pPr algn="l">
              <a:lnSpc>
                <a:spcPct val="106000"/>
              </a:lnSpc>
            </a:pPr>
            <a:r>
              <a:rPr sz="1150" b="0">
                <a:solidFill>
                  <a:srgbClr val="7788AA"/>
                </a:solidFill>
                <a:latin typeface="Courier New"/>
              </a:rPr>
              <a:t/>
            </a:r>
          </a:p>
          <a:p>
            <a:pPr algn="l">
              <a:lnSpc>
                <a:spcPct val="106000"/>
              </a:lnSpc>
            </a:pPr>
            <a:r>
              <a:rPr sz="1150" b="0">
                <a:solidFill>
                  <a:srgbClr val="7788AA"/>
                </a:solidFill>
                <a:latin typeface="Courier New"/>
              </a:rPr>
              <a:t># answer span — loss weight 1  (9 TRUE contacts + &lt;end&gt;)</a:t>
            </a:r>
          </a:p>
          <a:p>
            <a:pPr algn="l">
              <a:lnSpc>
                <a:spcPct val="106000"/>
              </a:lnSpc>
            </a:pPr>
            <a:r>
              <a:rPr sz="1150" b="1">
                <a:solidFill>
                  <a:srgbClr val="7AD6A8"/>
                </a:solidFill>
                <a:latin typeface="Courier New"/>
              </a:rPr>
              <a:t>&lt;begin_statements&gt; &lt;contact&gt; &lt;p1&gt; &lt;p1993&gt; &lt;contact&gt; &lt;p1980&gt; &lt;p1987&gt;</a:t>
            </a:r>
          </a:p>
          <a:p>
            <a:pPr algn="l">
              <a:lnSpc>
                <a:spcPct val="106000"/>
              </a:lnSpc>
            </a:pPr>
            <a:r>
              <a:rPr sz="1150" b="1">
                <a:solidFill>
                  <a:srgbClr val="7AD6A8"/>
                </a:solidFill>
                <a:latin typeface="Courier New"/>
              </a:rPr>
              <a:t>&lt;contact&gt; &lt;p1980&gt; &lt;p1967&gt; &lt;contact&gt; &lt;p14&gt; &lt;p7&gt; … &lt;end&gt;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5120640"/>
            <a:ext cx="10561320" cy="731520"/>
          </a:xfrm>
          <a:prstGeom prst="roundRect">
            <a:avLst>
              <a:gd name="adj" fmla="val 6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530352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8A5312"/>
                </a:solidFill>
                <a:latin typeface="Calibri"/>
              </a:rPr>
              <a:t>29 distinct contacts proposed across the five blocks · 0 of them appear in the answer. That is the regime the refiner must survive.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21295C"/>
                </a:solidFill>
                <a:latin typeface="Cambria"/>
              </a:rPr>
              <a:t>The format's central bet, measured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Does recurrence across candidate blocks actually carry precision? 1,393 sampled documents.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1965960"/>
          <a:ext cx="640080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543800" y="2103120"/>
            <a:ext cx="3840480" cy="1965960"/>
          </a:xfrm>
          <a:prstGeom prst="roundRect">
            <a:avLst>
              <a:gd name="adj" fmla="val 6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818120" y="23317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FC4E0"/>
                </a:solidFill>
                <a:latin typeface="Calibri"/>
              </a:rPr>
              <a:t>a recurring contact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2724912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88B2F"/>
                </a:solidFill>
                <a:latin typeface="Cambria"/>
              </a:rPr>
              <a:t>3×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4290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more likely to be true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than a singleton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4343400"/>
            <a:ext cx="38404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>
                <a:solidFill>
                  <a:srgbClr val="1A1F36"/>
                </a:solidFill>
                <a:latin typeface="Calibri"/>
              </a:rPr>
              <a:t>The signal is present in the raw input, before any training — the model only has to learn to use it.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>
                <a:solidFill>
                  <a:srgbClr val="1A1F36"/>
                </a:solidFill>
                <a:latin typeface="Calibri"/>
              </a:rPr>
              <a:t>It also explains why an explicit consensus block bought nothing over raw blocks in the MVP.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21295C"/>
                </a:solidFill>
                <a:latin typeface="Cambria"/>
              </a:rPr>
              <a:t>The loss mask, and where it had to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Armed on [&lt;begin_statements&gt;, &lt;end&gt;) — trains the contacts and the stop token.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5943600" cy="1371600"/>
          </a:xfrm>
          <a:prstGeom prst="roundRect">
            <a:avLst>
              <a:gd name="adj" fmla="val 6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24128" y="1975104"/>
            <a:ext cx="5541264" cy="10789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9AB4D8"/>
                </a:solidFill>
                <a:latin typeface="Courier New"/>
              </a:rPr>
              <a:t>opened[i] = # &lt;begin_statements&gt; in ids[:i+1]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9AB4D8"/>
                </a:solidFill>
                <a:latin typeface="Courier New"/>
              </a:rPr>
              <a:t>closed[i] = # &lt;end&gt;              in ids[:i+1]</a:t>
            </a:r>
          </a:p>
          <a:p>
            <a:pPr algn="l">
              <a:lnSpc>
                <a:spcPct val="106000"/>
              </a:lnSpc>
            </a:pPr>
            <a:r>
              <a:rPr sz="1200" b="1">
                <a:solidFill>
                  <a:srgbClr val="7AD6A8"/>
                </a:solidFill>
                <a:latin typeface="Courier New"/>
              </a:rPr>
              <a:t>weight[i] = 1.0 if opened[i] &gt; closed[i]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0128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6B748C"/>
                </a:solidFill>
                <a:latin typeface="Calibri"/>
              </a:rPr>
              <a:t>Two running counts ⇒ packing-safe: re-arms per document.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94760"/>
            <a:ext cx="5943600" cy="2057400"/>
          </a:xfrm>
          <a:prstGeom prst="roundRect">
            <a:avLst>
              <a:gd name="adj" fmla="val 6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24128" y="3941064"/>
            <a:ext cx="5541264" cy="1764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>
                <a:solidFill>
                  <a:srgbClr val="9AB4D8"/>
                </a:solidFill>
                <a:latin typeface="Courier New"/>
              </a:rPr>
              <a:t>i=453 &lt;TYR&gt;              w=0.0 → &lt;begin_statements&gt;</a:t>
            </a:r>
          </a:p>
          <a:p>
            <a:pPr algn="l">
              <a:lnSpc>
                <a:spcPct val="106000"/>
              </a:lnSpc>
            </a:pPr>
            <a:r>
              <a:rPr sz="1100" b="1">
                <a:solidFill>
                  <a:srgbClr val="7AD6A8"/>
                </a:solidFill>
                <a:latin typeface="Courier New"/>
              </a:rPr>
              <a:t>i=454 &lt;begin_statements&gt; w=1.0 → &lt;contact&gt;</a:t>
            </a:r>
          </a:p>
          <a:p>
            <a:pPr algn="l">
              <a:lnSpc>
                <a:spcPct val="106000"/>
              </a:lnSpc>
            </a:pPr>
            <a:r>
              <a:rPr sz="1100" b="1">
                <a:solidFill>
                  <a:srgbClr val="7AD6A8"/>
                </a:solidFill>
                <a:latin typeface="Courier New"/>
              </a:rPr>
              <a:t>i=455 &lt;contact&gt;          w=1.0 → &lt;p133&gt;</a:t>
            </a:r>
          </a:p>
          <a:p>
            <a:pPr algn="l">
              <a:lnSpc>
                <a:spcPct val="106000"/>
              </a:lnSpc>
            </a:pPr>
            <a:r>
              <a:rPr sz="1100" b="0">
                <a:solidFill>
                  <a:srgbClr val="7788AA"/>
                </a:solidFill>
                <a:latin typeface="Courier New"/>
              </a:rPr>
              <a:t>  …</a:t>
            </a:r>
          </a:p>
          <a:p>
            <a:pPr algn="l">
              <a:lnSpc>
                <a:spcPct val="106000"/>
              </a:lnSpc>
            </a:pPr>
            <a:r>
              <a:rPr sz="1100" b="1">
                <a:solidFill>
                  <a:srgbClr val="7AD6A8"/>
                </a:solidFill>
                <a:latin typeface="Courier New"/>
              </a:rPr>
              <a:t>i=976 &lt;p145&gt;             w=1.0 → &lt;end&gt;</a:t>
            </a:r>
          </a:p>
          <a:p>
            <a:pPr algn="l">
              <a:lnSpc>
                <a:spcPct val="106000"/>
              </a:lnSpc>
            </a:pPr>
            <a:r>
              <a:rPr sz="1100" b="0">
                <a:solidFill>
                  <a:srgbClr val="9AB4D8"/>
                </a:solidFill>
                <a:latin typeface="Courier New"/>
              </a:rPr>
              <a:t>i=977 &lt;end&gt;              w=0.0 → &lt;eos&gt;</a:t>
            </a:r>
          </a:p>
          <a:p>
            <a:pPr algn="l">
              <a:lnSpc>
                <a:spcPct val="106000"/>
              </a:lnSpc>
            </a:pPr>
            <a:r>
              <a:rPr sz="1100" b="0">
                <a:solidFill>
                  <a:srgbClr val="9AB4D8"/>
                </a:solidFill>
                <a:latin typeface="Courier New"/>
              </a:rPr>
              <a:t>i=978 &lt;eos&gt;              w=0.0 → next document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1828800"/>
            <a:ext cx="4297680" cy="4023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60920" y="2057400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1295C"/>
                </a:solidFill>
                <a:latin typeface="Calibri"/>
              </a:rPr>
              <a:t>levanter 1.2 removed the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2560320"/>
            <a:ext cx="3749039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A1F36"/>
                </a:solidFill>
                <a:latin typeface="Calibri"/>
              </a:rPr>
              <a:t>DatasetComponent.loss_weight_fn no longer exists. Per-token weights now reach training only through the cache, via PrebuiltLmDatasetFormat.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A1F36"/>
                </a:solidFill>
                <a:latin typeface="Calibri"/>
              </a:rPr>
              <a:t>So the mask is materialized offline: tokenize → greedy-pack to 8192 → write input_ids + loss_weights.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 b="1">
                <a:solidFill>
                  <a:srgbClr val="21295C"/>
                </a:solidFill>
                <a:latin typeface="Calibri"/>
              </a:rPr>
              <a:t>Strictly better. </a:t>
            </a:r>
            <a:r>
              <a:rPr sz="1200">
                <a:solidFill>
                  <a:srgbClr val="1A1F36"/>
                </a:solidFill>
                <a:latin typeface="Calibri"/>
              </a:rPr>
              <a:t>Token ids are resolved from the live tokenizer, and nothing cloudpickles by module reference — so the GPU worker never imports experiment code.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1295C"/>
                </a:solidFill>
                <a:latin typeface="Cambria"/>
              </a:rPr>
              <a:t>MVP — mechanism confirmed, margin overfitting-limited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Local LoRA on 900 proteins, 60 held out. R-precision (all / long).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965960"/>
          <a:ext cx="105613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377440"/>
                <a:gridCol w="2514600"/>
                <a:gridCol w="292608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 = 0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raw K = 16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consensus block (44% prec)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F36"/>
                          </a:solidFill>
                          <a:latin typeface="Calibri"/>
                        </a:rPr>
                        <a:t>base E8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F36"/>
                          </a:solidFill>
                          <a:latin typeface="Calibri"/>
                        </a:rPr>
                        <a:t>0.229 / 0.153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E88B2F"/>
                          </a:solidFill>
                          <a:latin typeface="Calibri"/>
                        </a:rPr>
                        <a:t>0.017 / 0.016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F36"/>
                          </a:solidFill>
                          <a:latin typeface="Calibri"/>
                        </a:rPr>
                        <a:t>0.149 / 0.124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F36"/>
                          </a:solidFill>
                          <a:latin typeface="Calibri"/>
                        </a:rPr>
                        <a:t>refiner v1 (r16)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F36"/>
                          </a:solidFill>
                          <a:latin typeface="Calibri"/>
                        </a:rPr>
                        <a:t>0.213 / 0.129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E88B2F"/>
                          </a:solidFill>
                          <a:latin typeface="Calibri"/>
                        </a:rPr>
                        <a:t>0.244 / 0.169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F36"/>
                          </a:solidFill>
                          <a:latin typeface="Calibri"/>
                        </a:rPr>
                        <a:t>0.247 / 0.163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A1F36"/>
                          </a:solidFill>
                          <a:latin typeface="Calibri"/>
                        </a:rPr>
                        <a:t>refiner v2 (r32)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F36"/>
                          </a:solidFill>
                          <a:latin typeface="Calibri"/>
                        </a:rPr>
                        <a:t>0.183 / 0.120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F36"/>
                          </a:solidFill>
                          <a:latin typeface="Calibri"/>
                        </a:rPr>
                        <a:t>0.218 / 0.156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A1F36"/>
                          </a:solidFill>
                          <a:latin typeface="Calibri"/>
                        </a:rPr>
                        <a:t>0.214 / 0.146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3840480"/>
            <a:ext cx="51206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300" b="1">
                <a:solidFill>
                  <a:srgbClr val="21295C"/>
                </a:solidFill>
                <a:latin typeface="Calibri"/>
              </a:rPr>
              <a:t>Conditioning is learned. </a:t>
            </a:r>
            <a:r>
              <a:rPr sz="1300">
                <a:solidFill>
                  <a:srgbClr val="1A1F36"/>
                </a:solidFill>
                <a:latin typeface="Calibri"/>
              </a:rPr>
              <a:t>+0.03 all / +0.04 long over the same model's K=0, stable across v1/v2 and reproduced in the sampling regime.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300" b="1">
                <a:solidFill>
                  <a:srgbClr val="21295C"/>
                </a:solidFill>
                <a:latin typeface="Calibri"/>
              </a:rPr>
              <a:t>Base E8 is poisoned. </a:t>
            </a:r>
            <a:r>
              <a:rPr sz="1300">
                <a:solidFill>
                  <a:srgbClr val="1A1F36"/>
                </a:solidFill>
                <a:latin typeface="Calibri"/>
              </a:rPr>
              <a:t>0.229 → 0.017 on identical input — the cleanest demonstration that training is what makes candidates usable.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3840480"/>
            <a:ext cx="51206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300" b="1">
                <a:solidFill>
                  <a:srgbClr val="21295C"/>
                </a:solidFill>
                <a:latin typeface="Calibri"/>
              </a:rPr>
              <a:t>Preprocessing is a dead lever. </a:t>
            </a:r>
            <a:r>
              <a:rPr sz="1300">
                <a:solidFill>
                  <a:srgbClr val="1A1F36"/>
                </a:solidFill>
                <a:latin typeface="Calibri"/>
              </a:rPr>
              <a:t>A 44%-precision consensus block ≈ raw blocks; the refiner already internalizes consensus.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300" b="1">
                <a:solidFill>
                  <a:srgbClr val="21295C"/>
                </a:solidFill>
                <a:latin typeface="Calibri"/>
              </a:rPr>
              <a:t>Overfitting caps the margin. </a:t>
            </a:r>
            <a:r>
              <a:rPr sz="1300">
                <a:solidFill>
                  <a:srgbClr val="1A1F36"/>
                </a:solidFill>
                <a:latin typeface="Calibri"/>
              </a:rPr>
              <a:t>v2 fit harder and got worse held-out (0.213 → 0.183). Scale is the lever — which motivated everything that follows.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1295C"/>
                </a:solidFill>
                <a:latin typeface="Cambria"/>
              </a:rPr>
              <a:t>Scale — generation validated on CoreWeave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ESM-Atlas proteins, 16 × 1×H100 at batch priority, ~1h wall.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2560320" cy="1965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85800" y="2194560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1C7293"/>
                </a:solidFill>
                <a:latin typeface="Cambria"/>
              </a:rPr>
              <a:t>225,072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907791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Calibri"/>
              </a:rPr>
              <a:t>rollouts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1012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B748C"/>
                </a:solidFill>
                <a:latin typeface="Calibri"/>
              </a:rPr>
              <a:t>over 9,375 proteins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965960"/>
            <a:ext cx="2560320" cy="1965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74720" y="2194560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E88B2F"/>
                </a:solidFill>
                <a:latin typeface="Cambria"/>
              </a:rPr>
              <a:t>201.0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907791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Calibri"/>
              </a:rPr>
              <a:t>mean n_pred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331012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B748C"/>
                </a:solidFill>
                <a:latin typeface="Calibri"/>
              </a:rPr>
              <a:t>vs GT ~199 — top-k fix confirmed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2560320" cy="1965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63640" y="2194560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2E7D5B"/>
                </a:solidFill>
                <a:latin typeface="Cambria"/>
              </a:rPr>
              <a:t>1.00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907791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Calibri"/>
              </a:rPr>
              <a:t>frac finished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31012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B748C"/>
                </a:solidFill>
                <a:latin typeface="Calibri"/>
              </a:rPr>
              <a:t>no truncation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59" y="1965960"/>
            <a:ext cx="2560320" cy="19659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052559" y="2194560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21295C"/>
                </a:solidFill>
                <a:latin typeface="Cambria"/>
              </a:rPr>
              <a:t>6,569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59" y="2907791"/>
            <a:ext cx="2560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Calibri"/>
              </a:rPr>
              <a:t>packed sequences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59" y="3310128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B748C"/>
                </a:solidFill>
                <a:latin typeface="Calibri"/>
              </a:rPr>
              <a:t>44.3M tokens, 82.3% density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97680"/>
            <a:ext cx="105156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400" b="1">
                <a:solidFill>
                  <a:srgbClr val="21295C"/>
                </a:solidFill>
                <a:latin typeface="Calibri"/>
              </a:rPr>
              <a:t>--top-k -1 is the fix. </a:t>
            </a:r>
            <a:r>
              <a:rPr sz="1400">
                <a:solidFill>
                  <a:srgbClr val="1A1F36"/>
                </a:solidFill>
                <a:latin typeface="Calibri"/>
              </a:rPr>
              <a:t>exp98's top-k=50 rollouts averaged ~95 contacts against a GT of ~199; disabling top-k restores the length distribution (#142).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400" b="1">
                <a:solidFill>
                  <a:srgbClr val="21295C"/>
                </a:solidFill>
                <a:latin typeface="Calibri"/>
              </a:rPr>
              <a:t>Preemption is free. </a:t>
            </a:r>
            <a:r>
              <a:rPr sz="1400">
                <a:solidFill>
                  <a:srgbClr val="1A1F36"/>
                </a:solidFill>
                <a:latin typeface="Calibri"/>
              </a:rPr>
              <a:t>One of 16 shards was preempted — the worker is resume-safe, which is exactly why 9,375 ≠ 10,000.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400" b="1">
                <a:solidFill>
                  <a:srgbClr val="21295C"/>
                </a:solidFill>
                <a:latin typeface="Calibri"/>
              </a:rPr>
              <a:t>Corpus: </a:t>
            </a:r>
            <a:r>
              <a:rPr sz="1400">
                <a:solidFill>
                  <a:srgbClr val="1A1F36"/>
                </a:solidFill>
                <a:latin typeface="Calibri"/>
              </a:rPr>
              <a:t>18,750 documents (2 per protein, K ~ U{0..16}), 0 OOV, 0 over-budget.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21295C"/>
                </a:solidFill>
                <a:latin typeface="Cambria"/>
              </a:rPr>
              <a:t>Scale — training (Phase 2, complete)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Warm-started from E8, 1-epoch cosine, batch 128, seq 8192, 8×H100 batch band, ~25 min/arm.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965960"/>
          <a:ext cx="1056132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794760"/>
                <a:gridCol w="2468880"/>
                <a:gridCol w="2103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peak LR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train/loss (masked objective)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base-task eval loss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base-task bpb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F36"/>
                          </a:solidFill>
                          <a:latin typeface="Calibri"/>
                        </a:rPr>
                        <a:t>1e-4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36"/>
                          </a:solidFill>
                          <a:latin typeface="Calibri"/>
                        </a:rPr>
                        <a:t>3.985 → 2.3979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36"/>
                          </a:solidFill>
                          <a:latin typeface="Calibri"/>
                        </a:rPr>
                        <a:t>3.16941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E88B2F"/>
                          </a:solidFill>
                          <a:latin typeface="Calibri"/>
                        </a:rPr>
                        <a:t>0.39489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F36"/>
                          </a:solidFill>
                          <a:latin typeface="Calibri"/>
                        </a:rPr>
                        <a:t>3e-4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36"/>
                          </a:solidFill>
                          <a:latin typeface="Calibri"/>
                        </a:rPr>
                        <a:t>3.833 → 2.3915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36"/>
                          </a:solidFill>
                          <a:latin typeface="Calibri"/>
                        </a:rPr>
                        <a:t>3.40526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36"/>
                          </a:solidFill>
                          <a:latin typeface="Calibri"/>
                        </a:rPr>
                        <a:t>0.42428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960" y="3520440"/>
            <a:ext cx="5120640" cy="1371600"/>
          </a:xfrm>
          <a:prstGeom prst="roundRect">
            <a:avLst>
              <a:gd name="adj" fmla="val 6000"/>
            </a:avLst>
          </a:prstGeom>
          <a:solidFill>
            <a:srgbClr val="E8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97280" y="3730752"/>
            <a:ext cx="45720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2503E"/>
                </a:solidFill>
                <a:latin typeface="Calibri"/>
              </a:rPr>
              <a:t>1e-4 wins. 3e-4 fits the objective 0.3% better but degrades base-task retention 7.4% more.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520440"/>
            <a:ext cx="5120640" cy="1371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37960" y="3730752"/>
            <a:ext cx="45720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1A1F36"/>
                </a:solidFill>
                <a:latin typeface="Calibri"/>
              </a:rPr>
              <a:t>Re-running the 1e-4 arm reproduced an earlier run bit-identically — a free determinism check over tokenize → pack → cache → train.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21295C"/>
                </a:solidFill>
                <a:latin typeface="Calibri"/>
              </a:rPr>
              <a:t>Same fitting-vs-retention tension as the MVP. </a:t>
            </a:r>
            <a:r>
              <a:rPr sz="1400">
                <a:solidFill>
                  <a:srgbClr val="1A1F36"/>
                </a:solidFill>
                <a:latin typeface="Calibri"/>
              </a:rPr>
              <a:t>Both eval curves dip at step 13 then recover — LR-warmup damage, not divergence.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21295C"/>
                </a:solidFill>
                <a:latin typeface="Calibri"/>
              </a:rPr>
              <a:t>The HF export is free. </a:t>
            </a:r>
            <a:r>
              <a:rPr sz="1400">
                <a:solidFill>
                  <a:srgbClr val="1A1F36"/>
                </a:solidFill>
                <a:latin typeface="Calibri"/>
              </a:rPr>
              <a:t>Each run writes checkpoints/&lt;run&gt;/hf/step-N with the tokenizer co-located, so Phase 3 needs no separate export step.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21295C"/>
                </a:solidFill>
                <a:latin typeface="Cambria"/>
              </a:rPr>
              <a:t>A measurement trap worth carrying forward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The planned warm-start check — “step-0 val loss ≈ 2.7566” — does not work.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2011680"/>
          <a:ext cx="877824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828800"/>
                <a:gridCol w="1737360"/>
                <a:gridCol w="17373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loss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bpb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implied bytes/token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F36"/>
                          </a:solidFill>
                          <a:latin typeface="Calibri"/>
                        </a:rPr>
                        <a:t>Eric's E8 (step 35679)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36"/>
                          </a:solidFill>
                          <a:latin typeface="Calibri"/>
                        </a:rPr>
                        <a:t>2.75660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E88B2F"/>
                          </a:solidFill>
                          <a:latin typeface="Calibri"/>
                        </a:rPr>
                        <a:t>0.39151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36"/>
                          </a:solidFill>
                          <a:latin typeface="Calibri"/>
                        </a:rPr>
                        <a:t>10.16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A1F36"/>
                          </a:solidFill>
                          <a:latin typeface="Calibri"/>
                        </a:rPr>
                        <a:t>this harness (step 51)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36"/>
                          </a:solidFill>
                          <a:latin typeface="Calibri"/>
                        </a:rPr>
                        <a:t>3.16941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E88B2F"/>
                          </a:solidFill>
                          <a:latin typeface="Calibri"/>
                        </a:rPr>
                        <a:t>0.39489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36"/>
                          </a:solidFill>
                          <a:latin typeface="Calibri"/>
                        </a:rPr>
                        <a:t>11.58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22960" y="3657600"/>
            <a:ext cx="10561320" cy="731520"/>
          </a:xfrm>
          <a:prstGeom prst="roundRect">
            <a:avLst>
              <a:gd name="adj" fmla="val 6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ourier New"/>
              </a:rPr>
              <a:t>loss ratio 1.1497  =  bpb ratio 1.0086  ×  bytes/token ratio 1.1399   — exactly.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663440"/>
            <a:ext cx="10515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50" b="1">
                <a:solidFill>
                  <a:srgbClr val="21295C"/>
                </a:solidFill>
                <a:latin typeface="Calibri"/>
              </a:rPr>
              <a:t>No step-0 eval exists. </a:t>
            </a:r>
            <a:r>
              <a:rPr sz="1350">
                <a:solidFill>
                  <a:srgbClr val="1A1F36"/>
                </a:solidFill>
                <a:latin typeface="Calibri"/>
              </a:rPr>
              <a:t>levanter fires eval hooks at multiples of steps_per_eval, so the first recorded value already carries warmup damage.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50" b="1">
                <a:solidFill>
                  <a:srgbClr val="21295C"/>
                </a:solidFill>
                <a:latin typeface="Calibri"/>
              </a:rPr>
              <a:t>Per-token loss is not comparable across harnesses. </a:t>
            </a:r>
            <a:r>
              <a:rPr sz="1350">
                <a:solidFill>
                  <a:srgbClr val="1A1F36"/>
                </a:solidFill>
                <a:latin typeface="Calibri"/>
              </a:rPr>
              <a:t>bpb divides by per-token-type byte lengths weighted by the loss mask, so packing changes the loss scale at identical model quality. bpb agrees to 0.9% — that is the evidence E8 loaded.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50" b="1">
                <a:solidFill>
                  <a:srgbClr val="21295C"/>
                </a:solidFill>
                <a:latin typeface="Calibri"/>
              </a:rPr>
              <a:t>⚠ #137, #150 and #155 all quote cross-harness per-token loss targets.</a:t>
            </a:r>
            <a:r>
              <a:rPr sz="1350">
                <a:solidFill>
                  <a:srgbClr val="1A1F36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21295C"/>
                </a:solidFill>
                <a:latin typeface="Cambria"/>
              </a:rPr>
              <a:t>Phase 3 — the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553 exp89 eval proteins, paired, identical candidate contexts for both models.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828800"/>
          <a:ext cx="1046988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234440"/>
                <a:gridCol w="1097280"/>
                <a:gridCol w="1097280"/>
                <a:gridCol w="1097280"/>
                <a:gridCol w="1097280"/>
                <a:gridCol w="1097280"/>
                <a:gridCol w="14173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K0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K1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K2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K4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K8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K16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consensus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E88B2F"/>
                          </a:solidFill>
                          <a:latin typeface="Calibri"/>
                        </a:rPr>
                        <a:t>0.3355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0.1452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0.1024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0.0665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0.0269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0.0194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0.2023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refiner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0.1978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0.1555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0.0813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0.0383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0.0211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0.0165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E88B2F"/>
                          </a:solidFill>
                          <a:latin typeface="Calibri"/>
                        </a:rPr>
                        <a:t>0.2220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candidate contacts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98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195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391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780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1557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85800" y="3566160"/>
            <a:ext cx="5257800" cy="1143000"/>
          </a:xfrm>
          <a:prstGeom prst="roundRect">
            <a:avLst>
              <a:gd name="adj" fmla="val 6000"/>
            </a:avLst>
          </a:prstGeom>
          <a:solidFill>
            <a:srgbClr val="FAE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3749039"/>
            <a:ext cx="47091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8E3A2C"/>
                </a:solidFill>
                <a:latin typeface="Calibri"/>
              </a:rPr>
              <a:t>Kill criterion MET. The base model's one-shot matrix (0.3355) is still the best deployable prediction; the refiner's best arm is 0.2220.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566160"/>
            <a:ext cx="5257800" cy="1143000"/>
          </a:xfrm>
          <a:prstGeom prst="roundRect">
            <a:avLst>
              <a:gd name="adj" fmla="val 6000"/>
            </a:avLst>
          </a:prstGeom>
          <a:solidFill>
            <a:srgbClr val="E8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37960" y="3749039"/>
            <a:ext cx="47091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22503E"/>
                </a:solidFill>
                <a:latin typeface="Calibri"/>
              </a:rPr>
              <a:t>But raw blocks hurt BOTH models monotonically — even at K=1, comfortably in-distribution. Only the precision-filtered consensus block helps.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983480"/>
            <a:ext cx="10835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6B748C"/>
                </a:solidFill>
                <a:latin typeface="Calibri"/>
              </a:rPr>
              <a:t>Harness check: base K0 = 0.3355 vs exp89's published E8 value of 0.3389.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291072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6B748C"/>
                </a:solidFill>
                <a:latin typeface="Calibri"/>
              </a:rPr>
              <a:t>R-precision, all band. Long band tells the same story (base K0 0.2697, refiner consensus 0.1767).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21295C"/>
                </a:solidFill>
                <a:latin typeface="Cambria"/>
              </a:rPr>
              <a:t>The mechanism does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Same 56.7%-precision consensus block, fed to both models.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1920240"/>
          <a:ext cx="640080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589520" y="1965960"/>
            <a:ext cx="3794760" cy="1554480"/>
          </a:xfrm>
          <a:prstGeom prst="roundRect">
            <a:avLst>
              <a:gd name="adj" fmla="val 6000"/>
            </a:avLst>
          </a:prstGeom>
          <a:solidFill>
            <a:srgbClr val="FAEC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863840" y="2157984"/>
            <a:ext cx="3291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44536"/>
                </a:solidFill>
                <a:latin typeface="Calibri"/>
              </a:rPr>
              <a:t>base: POISONED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2542032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44536"/>
                </a:solidFill>
                <a:latin typeface="Cambria"/>
              </a:rPr>
              <a:t>-0.133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30906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E3A2C"/>
                </a:solidFill>
                <a:latin typeface="Calibri"/>
              </a:rPr>
              <a:t>gains on only 8% of proteins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3657600"/>
            <a:ext cx="3794760" cy="1554480"/>
          </a:xfrm>
          <a:prstGeom prst="roundRect">
            <a:avLst>
              <a:gd name="adj" fmla="val 6000"/>
            </a:avLst>
          </a:prstGeom>
          <a:solidFill>
            <a:srgbClr val="E8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863840" y="3849624"/>
            <a:ext cx="3291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E7D5B"/>
                </a:solidFill>
                <a:latin typeface="Calibri"/>
              </a:rPr>
              <a:t>refiner: USES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233672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2E7D5B"/>
                </a:solidFill>
                <a:latin typeface="Cambria"/>
              </a:rPr>
              <a:t>+0.024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478231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E5D4A"/>
                </a:solidFill>
                <a:latin typeface="Calibri"/>
              </a:rPr>
              <a:t>gains on 63% of proteins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669280"/>
            <a:ext cx="10561320" cy="731520"/>
          </a:xfrm>
          <a:prstGeom prst="roundRect">
            <a:avLst>
              <a:gd name="adj" fmla="val 6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51560" y="5852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Calibri"/>
              </a:rPr>
              <a:t>A +0.157 swing in how the two models respond to identical input. Candidate discrimination WAS learned.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21295C"/>
                </a:solidFill>
                <a:latin typeface="Cambria"/>
              </a:rPr>
              <a:t>Why it still loses: forgetting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The refiner is not bad at refining. It is bad at contacts.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1C7293"/>
                </a:solidFill>
                <a:latin typeface="Cambria"/>
              </a:rPr>
              <a:t>0.3355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07791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Calibri"/>
              </a:rPr>
              <a:t>base K0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10128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B748C"/>
                </a:solidFill>
                <a:latin typeface="Calibri"/>
              </a:rPr>
              <a:t>one-shot contact 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96596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80560" y="219456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C44536"/>
                </a:solidFill>
                <a:latin typeface="Cambria"/>
              </a:rPr>
              <a:t>0.1978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907791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Calibri"/>
              </a:rPr>
              <a:t>refiner K0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310128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B748C"/>
                </a:solidFill>
                <a:latin typeface="Calibri"/>
              </a:rPr>
              <a:t>after 1 epoch of fine-tuning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96596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138160" y="2194560"/>
            <a:ext cx="3291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 i="0">
                <a:solidFill>
                  <a:srgbClr val="C44536"/>
                </a:solidFill>
                <a:latin typeface="Cambria"/>
              </a:rPr>
              <a:t>-41%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907791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Calibri"/>
              </a:rPr>
              <a:t>of the base task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310128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B748C"/>
                </a:solidFill>
                <a:latin typeface="Calibri"/>
              </a:rPr>
              <a:t>base wins on 94% of proteins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114800"/>
            <a:ext cx="10515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400" b="1">
                <a:solidFill>
                  <a:srgbClr val="21295C"/>
                </a:solidFill>
                <a:latin typeface="Calibri"/>
              </a:rPr>
              <a:t>A +0.024 conditioning gain cannot climb out of a 0.138 hole. </a:t>
            </a:r>
            <a:r>
              <a:rPr sz="1400">
                <a:solidFill>
                  <a:srgbClr val="1A1F36"/>
                </a:solidFill>
                <a:latin typeface="Calibri"/>
              </a:rPr>
              <a:t>Nothing clears the bar because the refiner starts from a much weaker model.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400" b="1">
                <a:solidFill>
                  <a:srgbClr val="21295C"/>
                </a:solidFill>
                <a:latin typeface="Calibri"/>
              </a:rPr>
              <a:t>The LM proxy badly under-reports the damage. </a:t>
            </a:r>
            <a:r>
              <a:rPr sz="1400">
                <a:solidFill>
                  <a:srgbClr val="1A1F36"/>
                </a:solidFill>
                <a:latin typeface="Calibri"/>
              </a:rPr>
              <a:t>Base-task val bpb moved 0.9% (0.39151 -&gt; 0.39489). The contact metric moved 41%. Exactly what #89's loss-vs-R-precision study warned about.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400" b="1">
                <a:solidFill>
                  <a:srgbClr val="21295C"/>
                </a:solidFill>
                <a:latin typeface="Calibri"/>
              </a:rPr>
              <a:t>Scaling 100x does not fix this. </a:t>
            </a:r>
            <a:r>
              <a:rPr sz="1400">
                <a:solidFill>
                  <a:srgbClr val="1A1F36"/>
                </a:solidFill>
                <a:latin typeface="Calibri"/>
              </a:rPr>
              <a:t>Fix the forgetting first: LoRA (as the MVP used), lower LR, or mix plain contacts-v1 documents in so K=0 stays anchored.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21295C"/>
                </a:solidFill>
                <a:latin typeface="Cambria"/>
              </a:rPr>
              <a:t>v2 — one marker, for RL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&lt;begin_statements&gt; means “discard the previous structure; here is a new candidate”.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6766560" cy="2286000"/>
          </a:xfrm>
          <a:prstGeom prst="roundRect">
            <a:avLst>
              <a:gd name="adj" fmla="val 6000"/>
            </a:avLst>
          </a:prstGeom>
          <a:solidFill>
            <a:srgbClr val="14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24128" y="2020824"/>
            <a:ext cx="6364224" cy="1993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9AB4D8"/>
                </a:solidFill>
                <a:latin typeface="Courier New"/>
              </a:rPr>
              <a:t>&lt;contacts-v1&gt; &lt;begin_sequence&gt; …seq…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E88B2F"/>
                </a:solidFill>
                <a:latin typeface="Courier New"/>
              </a:rPr>
              <a:t>&lt;begin_statements&gt; …draft 1…            (no &lt;end&gt;)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E88B2F"/>
                </a:solidFill>
                <a:latin typeface="Courier New"/>
              </a:rPr>
              <a:t>&lt;begin_statements&gt; …draft 2…</a:t>
            </a:r>
          </a:p>
          <a:p>
            <a:pPr algn="l">
              <a:lnSpc>
                <a:spcPct val="106000"/>
              </a:lnSpc>
            </a:pPr>
            <a:r>
              <a:rPr sz="1200" b="1">
                <a:solidFill>
                  <a:srgbClr val="7AD6A8"/>
                </a:solidFill>
                <a:latin typeface="Courier New"/>
              </a:rPr>
              <a:t>&lt;begin_statements&gt; …TRUE contacts… &lt;end&gt;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6B748C"/>
                </a:solidFill>
                <a:latin typeface="Calibri"/>
              </a:rPr>
              <a:t>Drafts and the answer are the SAME object — so one generation can emit N structures and be RL'd on best-of-N.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920240"/>
            <a:ext cx="352044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250" b="1">
                <a:solidFill>
                  <a:srgbClr val="21295C"/>
                </a:solidFill>
                <a:latin typeface="Calibri"/>
              </a:rPr>
              <a:t>Only the final section closes. </a:t>
            </a:r>
            <a:r>
              <a:rPr sz="1250">
                <a:solidFill>
                  <a:srgbClr val="1A1F36"/>
                </a:solidFill>
                <a:latin typeface="Calibri"/>
              </a:rPr>
              <a:t>Drafts are superseded by the next &lt;begin_statements&gt;, so &lt;end&gt; keeps its meaning as the document terminator — it stays the stop token and no inference path changes.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250" b="1">
                <a:solidFill>
                  <a:srgbClr val="21295C"/>
                </a:solidFill>
                <a:latin typeface="Calibri"/>
              </a:rPr>
              <a:t>Random draft order. </a:t>
            </a:r>
            <a:r>
              <a:rPr sz="1250">
                <a:solidFill>
                  <a:srgbClr val="1A1F36"/>
                </a:solidFill>
                <a:latin typeface="Calibri"/>
              </a:rPr>
              <a:t>An ascending-F1 ramp lets position alone encode quality, so “later = better” is learnable without reading the drafts.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250" b="1">
                <a:solidFill>
                  <a:srgbClr val="21295C"/>
                </a:solidFill>
                <a:latin typeface="Calibri"/>
              </a:rPr>
              <a:t>Three-way weight profile. </a:t>
            </a:r>
            <a:r>
              <a:rPr sz="1250">
                <a:solidFill>
                  <a:srgbClr val="1A1F36"/>
                </a:solidFill>
                <a:latin typeface="Calibri"/>
              </a:rPr>
              <a:t>header / draft / final — swept, because loss on ~13%-precision drafts trains the model to emit WRONG contacts.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91072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6B748C"/>
                </a:solidFill>
                <a:latin typeface="Calibri"/>
              </a:rPr>
              <a:t>100,000 documents over 50,000 proteins · 35,133 packed sequences · 275 steps/epoch · 5.3× the previous signal.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21295C"/>
                </a:solidFill>
                <a:latin typeface="Cambria"/>
              </a:rPr>
              <a:t>v2 results — three falsifications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6B748C"/>
                </a:solidFill>
                <a:latin typeface="Calibri"/>
              </a:rPr>
              <a:t>553 exp89 proteins, paired. Four arms differ ONLY in loss_weights.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828800"/>
          <a:ext cx="10835640" cy="2075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463040"/>
                <a:gridCol w="1737360"/>
                <a:gridCol w="1554480"/>
                <a:gridCol w="1234440"/>
                <a:gridCol w="155448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model (header/draft/final)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K0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consensus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cons − K0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wins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K0 vs base</a:t>
                      </a:r>
                    </a:p>
                  </a:txBody>
                  <a:tcPr marL="91440" marR="73152" marT="27432" marB="27432" anchor="ctr">
                    <a:solidFill>
                      <a:srgbClr val="21295C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E88B2F"/>
                          </a:solidFill>
                          <a:latin typeface="Calibri"/>
                        </a:rPr>
                        <a:t>0.3355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0.2020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−0.1335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mdA  (0 / 0 / 1)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0.1884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0.1483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−0.0402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−43.8%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mdB  (0.1 / 0 / 1)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0.1870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0.1524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−0.0346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−44.3%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mdC  (0.1 / 0.1 / 1)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0.1879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0.1549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−0.0331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−44.0%</a:t>
                      </a:r>
                    </a:p>
                  </a:txBody>
                  <a:tcPr marL="91440" marR="73152" marT="27432" marB="27432" anchor="ctr">
                    <a:solidFill>
                      <a:srgbClr val="F1F5F9"/>
                    </a:solidFill>
                  </a:tcPr>
                </a:tc>
              </a:tr>
              <a:tr h="338328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mdD  (0.1 / 0.3 / 1)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0.1886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0.1509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−0.0378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A1F36"/>
                          </a:solidFill>
                          <a:latin typeface="Calibri"/>
                        </a:rPr>
                        <a:t>−43.8%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Oval 4"/>
          <p:cNvSpPr/>
          <p:nvPr/>
        </p:nvSpPr>
        <p:spPr>
          <a:xfrm>
            <a:off x="777240" y="4343400"/>
            <a:ext cx="347472" cy="347472"/>
          </a:xfrm>
          <a:prstGeom prst="ellipse">
            <a:avLst/>
          </a:prstGeom>
          <a:solidFill>
            <a:srgbClr val="C44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379976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A1F36"/>
                </a:solidFill>
                <a:latin typeface="Calibri"/>
              </a:rPr>
              <a:t>Loss-weight profile does NOTHING — all four arms within 0.002 on K0 (mdB−mdA = −0.0014 ± 0.0013: wrong direction, ~40× too small)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4910328"/>
            <a:ext cx="347472" cy="347472"/>
          </a:xfrm>
          <a:prstGeom prst="ellipse">
            <a:avLst/>
          </a:prstGeom>
          <a:solidFill>
            <a:srgbClr val="C44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946904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A1F36"/>
                </a:solidFill>
                <a:latin typeface="Calibri"/>
              </a:rPr>
              <a:t>Scale does NOT fix forgetting — 5.3× more docs gave −44% vs v1's −41%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5477256"/>
            <a:ext cx="347472" cy="347472"/>
          </a:xfrm>
          <a:prstGeom prst="ellipse">
            <a:avLst/>
          </a:prstGeom>
          <a:solidFill>
            <a:srgbClr val="C445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513832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1A1F36"/>
                </a:solidFill>
                <a:latin typeface="Calibri"/>
              </a:rPr>
              <a:t>The format cost v1's one success — v1 GAINED from consensus (+0.024, 63%); every v2 arm loses (−0.033 to −0.040)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291072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6B748C"/>
                </a:solidFill>
                <a:latin typeface="Calibri"/>
              </a:rPr>
              <a:t>bpb misled a third time: +5% (0.3915 → ~0.411) standing in for a −44% task collapse.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Cambria"/>
              </a:rPr>
              <a:t>The variable that actually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C9D4E8"/>
                </a:solidFill>
                <a:latin typeface="Calibri"/>
              </a:rPr>
              <a:t>Everything else was varied and did not move it.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822960" y="1965960"/>
          <a:ext cx="6400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2103120"/>
            <a:ext cx="37947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8B2F"/>
                </a:solidFill>
                <a:latin typeface="Calibri"/>
              </a:rPr>
              <a:t>LoRA vs full fine-tune. </a:t>
            </a:r>
            <a:r>
              <a:rPr sz="1300">
                <a:solidFill>
                  <a:srgbClr val="DEE7F5"/>
                </a:solidFill>
                <a:latin typeface="Calibri"/>
              </a:rPr>
              <a:t>That is the only discriminating variable across corpus size, fold diversity, document format and loss profile.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8B2F"/>
                </a:solidFill>
                <a:latin typeface="Calibri"/>
              </a:rPr>
              <a:t>A full FT at lr 1e-4 destroys ~42% of the base contact ability regardless.</a:t>
            </a:r>
            <a:r>
              <a:rPr sz="1300">
                <a:solidFill>
                  <a:srgbClr val="DEE7F5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8B2F"/>
                </a:solidFill>
                <a:latin typeface="Calibri"/>
              </a:rPr>
              <a:t>So the next run is LoRA (or a much lower LR) — not more data, not more weight tuning.</a:t>
            </a:r>
            <a:r>
              <a:rPr sz="1300">
                <a:solidFill>
                  <a:srgbClr val="DEE7F5"/>
                </a:solidFill>
                <a:latin typeface="Calibri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5486400"/>
            <a:ext cx="3794760" cy="685800"/>
          </a:xfrm>
          <a:prstGeom prst="roundRect">
            <a:avLst>
              <a:gd name="adj" fmla="val 6000"/>
            </a:avLst>
          </a:prstGeom>
          <a:solidFill>
            <a:srgbClr val="2E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63840" y="56692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8B2F"/>
                </a:solidFill>
                <a:latin typeface="Calibri"/>
              </a:rPr>
              <a:t>Still unmeasured: does draft t+1 beat draft 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Cambria"/>
              </a:rPr>
              <a:t>The 1M push — now a harder 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0700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C9D4E8"/>
                </a:solidFill>
                <a:latin typeface="Calibri"/>
              </a:rPr>
              <a:t>Cost measured on the 10k batch, not estimated. But scale is not the blocker.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1168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2E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3246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E88B2F"/>
                </a:solidFill>
                <a:latin typeface="Cambria"/>
              </a:rPr>
              <a:t>14,350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C9D4E8"/>
                </a:solidFill>
                <a:latin typeface="Calibri"/>
              </a:rPr>
              <a:t>rollouts per GPU-hour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01168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2E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434840" y="2240280"/>
            <a:ext cx="3246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Cambria"/>
              </a:rPr>
              <a:t>~1,700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301752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C9D4E8"/>
                </a:solidFill>
                <a:latin typeface="Calibri"/>
              </a:rPr>
              <a:t>H100-hours for 1M × 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246120" cy="1691640"/>
          </a:xfrm>
          <a:prstGeom prst="roundRect">
            <a:avLst>
              <a:gd name="adj" fmla="val 6000"/>
            </a:avLst>
          </a:prstGeom>
          <a:solidFill>
            <a:srgbClr val="2E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046720" y="2240280"/>
            <a:ext cx="3246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9FC4E0"/>
                </a:solidFill>
                <a:latin typeface="Cambria"/>
              </a:rPr>
              <a:t>~26 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01752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C9D4E8"/>
                </a:solidFill>
                <a:latin typeface="Calibri"/>
              </a:rPr>
              <a:t>wall on 64 shards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23360"/>
            <a:ext cx="105156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88B2F"/>
                </a:solidFill>
                <a:latin typeface="Calibri"/>
              </a:rPr>
              <a:t>~2× the earlier estimate. </a:t>
            </a:r>
            <a:r>
              <a:rPr sz="1400">
                <a:solidFill>
                  <a:srgbClr val="DEE7F5"/>
                </a:solidFill>
                <a:latin typeface="Calibri"/>
              </a:rPr>
              <a:t>The top-k fix roughly doubled rollout length — which is the point (n_pred 201 vs 95), but it doubles the bill.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88B2F"/>
                </a:solidFill>
                <a:latin typeface="Calibri"/>
              </a:rPr>
              <a:t>Is 1M the right number? </a:t>
            </a:r>
            <a:r>
              <a:rPr sz="1400">
                <a:solidFill>
                  <a:srgbClr val="DEE7F5"/>
                </a:solidFill>
                <a:latin typeface="Calibri"/>
              </a:rPr>
              <a:t>250k proteins is ~420 H100-hours (~26h on 16 shards) and plausibly buys most of the fold diversity for a quarter of the spend.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88B2F"/>
                </a:solidFill>
                <a:latin typeface="Calibri"/>
              </a:rPr>
              <a:t>Phase 3 changes the question. </a:t>
            </a:r>
            <a:r>
              <a:rPr sz="1400">
                <a:solidFill>
                  <a:srgbClr val="DEE7F5"/>
                </a:solidFill>
                <a:latin typeface="Calibri"/>
              </a:rPr>
              <a:t>The kill criterion is met and the binding constraint is forgetting, not data volume — so spending ~1,700 H100-hours on the same recipe would buy a better-trained version of a model that loses to its own base.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