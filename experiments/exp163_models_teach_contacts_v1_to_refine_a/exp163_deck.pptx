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single</c:v>
                </c:pt>
              </c:strCache>
            </c:strRef>
          </c:tx>
          <c:spPr>
            <a:solidFill>
              <a:srgbClr val="6B748C"/>
            </a:solidFill>
          </c:spPr>
          <c:cat>
            <c:strRef>
              <c:f>Sheet1!$A$2:$A$4</c:f>
              <c:strCache>
                <c:ptCount val="3"/>
                <c:pt idx="0">
                  <c:v>K = 8</c:v>
                </c:pt>
                <c:pt idx="1">
                  <c:v>K = 16</c:v>
                </c:pt>
                <c:pt idx="2">
                  <c:v>K = 32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0.122</c:v>
                </c:pt>
                <c:pt idx="1">
                  <c:v>0.122</c:v>
                </c:pt>
                <c:pt idx="2">
                  <c:v>0.122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proxy best-of-K (nll)</c:v>
                </c:pt>
              </c:strCache>
            </c:strRef>
          </c:tx>
          <c:spPr>
            <a:solidFill>
              <a:srgbClr val="9AA7BD"/>
            </a:solidFill>
          </c:spPr>
          <c:cat>
            <c:strRef>
              <c:f>Sheet1!$A$2:$A$4</c:f>
              <c:strCache>
                <c:ptCount val="3"/>
                <c:pt idx="0">
                  <c:v>K = 8</c:v>
                </c:pt>
                <c:pt idx="1">
                  <c:v>K = 16</c:v>
                </c:pt>
                <c:pt idx="2">
                  <c:v>K = 32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0.137</c:v>
                </c:pt>
                <c:pt idx="1">
                  <c:v>0.145</c:v>
                </c:pt>
                <c:pt idx="2">
                  <c:v>0.144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consensus vote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Sheet1!$A$2:$A$4</c:f>
              <c:strCache>
                <c:ptCount val="3"/>
                <c:pt idx="0">
                  <c:v>K = 8</c:v>
                </c:pt>
                <c:pt idx="1">
                  <c:v>K = 16</c:v>
                </c:pt>
                <c:pt idx="2">
                  <c:v>K = 32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0.194</c:v>
                </c:pt>
                <c:pt idx="1">
                  <c:v>0.224</c:v>
                </c:pt>
                <c:pt idx="2">
                  <c:v>0.244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oracle best-of-K</c:v>
                </c:pt>
              </c:strCache>
            </c:strRef>
          </c:tx>
          <c:spPr>
            <a:solidFill>
              <a:srgbClr val="21295C"/>
            </a:solidFill>
          </c:spPr>
          <c:cat>
            <c:strRef>
              <c:f>Sheet1!$A$2:$A$4</c:f>
              <c:strCache>
                <c:ptCount val="3"/>
                <c:pt idx="0">
                  <c:v>K = 8</c:v>
                </c:pt>
                <c:pt idx="1">
                  <c:v>K = 16</c:v>
                </c:pt>
                <c:pt idx="2">
                  <c:v>K = 32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0.208</c:v>
                </c:pt>
                <c:pt idx="1">
                  <c:v>0.233</c:v>
                </c:pt>
                <c:pt idx="2">
                  <c:v>0.252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748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"/>
          <c:min val="0.0"/>
        </c:scaling>
        <c:delete val="0"/>
        <c:axPos val="l"/>
        <c:majorGridlines>
          <c:spPr>
            <a:ln w="9525">
              <a:solidFill>
                <a:srgbClr val="DD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748C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unconditional</c:v>
                </c:pt>
              </c:strCache>
            </c:strRef>
          </c:tx>
          <c:spPr>
            <a:solidFill>
              <a:srgbClr val="6B748C"/>
            </a:solidFill>
          </c:spPr>
          <c:cat>
            <c:strRef>
              <c:f>Sheet1!$A$2:$A$3</c:f>
              <c:strCache>
                <c:ptCount val="2"/>
                <c:pt idx="0">
                  <c:v>oracle: 50% of TRUE contacts</c:v>
                </c:pt>
                <c:pt idx="1">
                  <c:v>noisy: one real rollout (~13% prec)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0.145</c:v>
                </c:pt>
                <c:pt idx="1">
                  <c:v>0.179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conditioned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Sheet1!$A$2:$A$3</c:f>
              <c:strCache>
                <c:ptCount val="2"/>
                <c:pt idx="0">
                  <c:v>oracle: 50% of TRUE contacts</c:v>
                </c:pt>
                <c:pt idx="1">
                  <c:v>noisy: one real rollout (~13% prec)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0.556</c:v>
                </c:pt>
                <c:pt idx="1">
                  <c:v>0.092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748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D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748C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vs the true answer</c:v>
                </c:pt>
              </c:strCache>
            </c:strRef>
          </c:tx>
          <c:dPt>
            <c:idx val="0"/>
            <c:spPr>
              <a:solidFill>
                <a:srgbClr val="6B748C"/>
              </a:solidFill>
            </c:spPr>
          </c:dPt>
          <c:dPt>
            <c:idx val="1"/>
            <c:spPr>
              <a:solidFill>
                <a:srgbClr val="1C7293"/>
              </a:solidFill>
            </c:spPr>
          </c:dPt>
          <c:dPt>
            <c:idx val="2"/>
            <c:spPr>
              <a:solidFill>
                <a:srgbClr val="E88B2F"/>
              </a:solidFill>
            </c:spPr>
          </c:dPt>
          <c:cat>
            <c:strRef>
              <c:f>Sheet1!$A$2:$A$4</c:f>
              <c:strCache>
                <c:ptCount val="3"/>
                <c:pt idx="0">
                  <c:v>appears in
exactly 1 block</c:v>
                </c:pt>
                <c:pt idx="1">
                  <c:v>all distinct
candidates</c:v>
                </c:pt>
                <c:pt idx="2">
                  <c:v>appears in
&gt;1 block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0.079</c:v>
                </c:pt>
                <c:pt idx="1">
                  <c:v>0.097</c:v>
                </c:pt>
                <c:pt idx="2">
                  <c:v>0.247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3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748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0.0"/>
        </c:scaling>
        <c:delete val="0"/>
        <c:axPos val="l"/>
        <c:majorGridlines>
          <c:spPr>
            <a:ln w="9525">
              <a:solidFill>
                <a:srgbClr val="DD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B748C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Teaching contacts-v1 to refine</a:t>
            </a:r>
          </a:p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its own candidate rollouts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FC4E0"/>
                </a:solidFill>
                <a:latin typeface="Calibri"/>
              </a:rPr>
              <a:t>exp163  ·  can K noisy samples be aggregated in-context into a better contact set?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4160520"/>
            <a:ext cx="146304" cy="146304"/>
          </a:xfrm>
          <a:prstGeom prst="ellipse">
            <a:avLst/>
          </a:prstGeom>
          <a:solidFill>
            <a:srgbClr val="E8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41148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9D4E8"/>
                </a:solidFill>
                <a:latin typeface="Calibri"/>
              </a:rPr>
              <a:t>Phases 0–2 complete · Phase 3 in flight · MarinFold issue #163 / PR #164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F92B5"/>
                </a:solidFill>
                <a:latin typeface="Calibri"/>
              </a:rPr>
              <a:t>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The information is there — spread across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A single contacts-v1 rollout is poor. Sixteen of them collectively are not.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6B748C"/>
                </a:solidFill>
                <a:latin typeface="Cambria"/>
              </a:rPr>
              <a:t>0.122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07791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Calibri"/>
              </a:rPr>
              <a:t>single rollout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01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C"/>
                </a:solidFill>
                <a:latin typeface="Calibri"/>
              </a:rPr>
              <a:t>mean R-precision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96596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C7293"/>
                </a:solidFill>
                <a:latin typeface="Cambria"/>
              </a:rPr>
              <a:t>0.233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07791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Calibri"/>
              </a:rPr>
              <a:t>oracle best-of-16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3101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C"/>
                </a:solidFill>
                <a:latin typeface="Calibri"/>
              </a:rPr>
              <a:t>not deployable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6596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E88B2F"/>
                </a:solidFill>
                <a:latin typeface="Cambria"/>
              </a:rPr>
              <a:t>0.516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07791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Calibri"/>
              </a:rPr>
              <a:t>union of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101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C"/>
                </a:solidFill>
                <a:latin typeface="Calibri"/>
              </a:rPr>
              <a:t>recall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F36"/>
                </a:solidFill>
                <a:latin typeface="Calibri"/>
              </a:rPr>
              <a:t>So: can the model be taught to read K of its own rollouts and write out a contact set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F36"/>
                </a:solidFill>
                <a:latin typeface="Calibri"/>
              </a:rPr>
              <a:t>better than any of them — an aggregation operator learned in context?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5780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546811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5312"/>
                </a:solidFill>
                <a:latin typeface="Calibri"/>
              </a:rPr>
              <a:t>The bar is not “beat one rollout”. It is: beat training-free consensus voting, and beat the model’s own one-shot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1295C"/>
                </a:solidFill>
                <a:latin typeface="Cambria"/>
              </a:rPr>
              <a:t>Probe 1 — aggregation beats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exp98: 1,000 proteins × 1,000 rollouts. R-precision, all band.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874519"/>
          <a:ext cx="66751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2011680"/>
            <a:ext cx="3566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Voting ≈ oracle. </a:t>
            </a:r>
            <a:r>
              <a:rPr sz="1400">
                <a:solidFill>
                  <a:srgbClr val="1A1F36"/>
                </a:solidFill>
                <a:latin typeface="Calibri"/>
              </a:rPr>
              <a:t>Consensus reaches ~97% of the non-deployable oracle selection, and keeps rising with K.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Confidence is useless. </a:t>
            </a:r>
            <a:r>
              <a:rPr sz="1400">
                <a:solidFill>
                  <a:srgbClr val="1A1F36"/>
                </a:solidFill>
                <a:latin typeface="Calibri"/>
              </a:rPr>
              <a:t>Within-protein Spearman(nll, F1) median −0.17; the min-nll pick sits at F1 percentile 0.525 — random.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⇒ No deployable way to rank or filter candidates.</a:t>
            </a:r>
            <a:r>
              <a:rPr sz="1400">
                <a:solidFill>
                  <a:srgbClr val="1A1F36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5029200"/>
            <a:ext cx="3566160" cy="77724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20" y="523036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So: train on unordered candidate 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Probe 2 — the control that reframes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Paired on the same 149 proteins: does voting actually beat the base model?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65960"/>
          <a:ext cx="6035040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463040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R-prec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base E8 calibrated matrix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88B2F"/>
                          </a:solidFill>
                          <a:latin typeface="Calibri"/>
                        </a:rPr>
                        <a:t>0.221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88B2F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consensus vote (K=16)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0.224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0.735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single rollout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0.125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oracle best-of-16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0.241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union-recall ceiling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88B2F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F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23760" y="1965960"/>
            <a:ext cx="4160520" cy="210312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79" y="224028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FC4E0"/>
                </a:solidFill>
                <a:latin typeface="Calibri"/>
              </a:rPr>
              <a:t>voting −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5176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8B2F"/>
                </a:solidFill>
                <a:latin typeface="Cambria"/>
              </a:rPr>
              <a:t>+0.003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42900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vote wins on 50% of proteins — a 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21295C"/>
                </a:solidFill>
                <a:latin typeface="Calibri"/>
              </a:rPr>
              <a:t>Consensus voting is a Monte-Carlo estimate of the model's own per-pair marginal. </a:t>
            </a:r>
            <a:r>
              <a:rPr sz="1500">
                <a:solidFill>
                  <a:srgbClr val="1A1F36"/>
                </a:solidFill>
                <a:latin typeface="Calibri"/>
              </a:rPr>
              <a:t>It adds nothing the base model does not already emit.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21295C"/>
                </a:solidFill>
                <a:latin typeface="Calibri"/>
              </a:rPr>
              <a:t>⇒ A refiner that learns only consensus is worthless. </a:t>
            </a:r>
            <a:r>
              <a:rPr sz="1500">
                <a:solidFill>
                  <a:srgbClr val="1A1F36"/>
                </a:solidFill>
                <a:latin typeface="Calibri"/>
              </a:rPr>
              <a:t>It has to extract supra-marginal signal — joint structure the marginal cannot express.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1295C"/>
                </a:solidFill>
                <a:latin typeface="Cambria"/>
              </a:rPr>
              <a:t>Probe 3 — the crux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Zero-shot, paired cond-vs-uncond on the identical remaining-pair task. Joint structure exists — but it is precision-gated.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874519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35240" y="1965960"/>
            <a:ext cx="3749039" cy="1600200"/>
          </a:xfrm>
          <a:prstGeom prst="roundRect">
            <a:avLst>
              <a:gd name="adj" fmla="val 6000"/>
            </a:avLst>
          </a:prstGeom>
          <a:solidFill>
            <a:srgbClr val="E8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0" y="217627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7D5B"/>
                </a:solidFill>
                <a:latin typeface="Calibri"/>
              </a:rPr>
              <a:t>TRUE partial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578608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mbria"/>
              </a:rPr>
              <a:t>+0.41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154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E5D4A"/>
                </a:solidFill>
                <a:latin typeface="Calibri"/>
              </a:rPr>
              <a:t>AUC → 0.99 · better on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703320"/>
            <a:ext cx="3749039" cy="1600200"/>
          </a:xfrm>
          <a:prstGeom prst="roundRect">
            <a:avLst>
              <a:gd name="adj" fmla="val 6000"/>
            </a:avLst>
          </a:prstGeom>
          <a:solidFill>
            <a:srgbClr val="FA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0" y="391363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44536"/>
                </a:solidFill>
                <a:latin typeface="Calibri"/>
              </a:rPr>
              <a:t>NOISY candidate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315968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44536"/>
                </a:solidFill>
                <a:latin typeface="Cambria"/>
              </a:rPr>
              <a:t>−0.087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892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E3A2C"/>
                </a:solidFill>
                <a:latin typeface="Calibri"/>
              </a:rPr>
              <a:t>worse on 91% of proteins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61320" cy="77724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58155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The base model trusts its context as ground truth — so training, not prompting, is what's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1295C"/>
                </a:solidFill>
                <a:latin typeface="Cambria"/>
              </a:rPr>
              <a:t>The document format — zero vocab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A normal contacts-v1 document with K candidate blocks spliced 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6858000" cy="2148840"/>
          </a:xfrm>
          <a:prstGeom prst="roundRect">
            <a:avLst>
              <a:gd name="adj" fmla="val 6000"/>
            </a:avLst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24128" y="2020824"/>
            <a:ext cx="6455664" cy="1856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9AB4D8"/>
                </a:solidFill>
                <a:latin typeface="Courier New"/>
              </a:rPr>
              <a:t>&lt;contacts-v1&gt; &lt;begin_sequence&gt; …sequence…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E88B2F"/>
                </a:solidFill>
                <a:latin typeface="Courier New"/>
              </a:rPr>
              <a:t>  &lt;CAND&gt; &lt;contact&gt; pi pj …        ← candidate 1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7788AA"/>
                </a:solidFill>
                <a:latin typeface="Courier New"/>
              </a:rPr>
              <a:t>  …                                  K blocks, unordered</a:t>
            </a:r>
          </a:p>
          <a:p>
            <a:pPr algn="l">
              <a:lnSpc>
                <a:spcPct val="106000"/>
              </a:lnSpc>
            </a:pPr>
            <a:r>
              <a:rPr sz="1250" b="0">
                <a:solidFill>
                  <a:srgbClr val="E88B2F"/>
                </a:solidFill>
                <a:latin typeface="Courier New"/>
              </a:rPr>
              <a:t>  &lt;CAND&gt; &lt;contact&gt; pi pj …        ← candidate K</a:t>
            </a:r>
          </a:p>
          <a:p>
            <a:pPr algn="l">
              <a:lnSpc>
                <a:spcPct val="106000"/>
              </a:lnSpc>
            </a:pPr>
            <a:r>
              <a:rPr sz="1250" b="1">
                <a:solidFill>
                  <a:srgbClr val="7AD6A8"/>
                </a:solidFill>
                <a:latin typeface="Courier New"/>
              </a:rPr>
              <a:t>&lt;begin_statements&gt; …TRUE contacts… &lt;end&gt;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48C"/>
                </a:solidFill>
                <a:latin typeface="Calibri"/>
              </a:rPr>
              <a:t>Loss is armed on the green span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920240"/>
            <a:ext cx="3383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&lt;CAND&gt; is a spare token. </a:t>
            </a:r>
            <a:r>
              <a:rPr sz="1300">
                <a:solidFill>
                  <a:srgbClr val="1A1F36"/>
                </a:solidFill>
                <a:latin typeface="Calibri"/>
              </a:rPr>
              <a:t>It reuses &lt;contacts-and-distances-v1&gt; — the other format's sentinel, never emitted inside a contacts-v1 doc. Weight-compatible with every checkpoint.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K separate blocks. </a:t>
            </a:r>
            <a:r>
              <a:rPr sz="1300">
                <a:solidFill>
                  <a:srgbClr val="1A1F36"/>
                </a:solidFill>
                <a:latin typeface="Calibri"/>
              </a:rPr>
              <a:t>Recurrence across blocks is a precision cue the model can read. Merging would destroy it.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K ~ Uniform{0…16}. </a:t>
            </a:r>
            <a:r>
              <a:rPr sz="1300">
                <a:solidFill>
                  <a:srgbClr val="1A1F36"/>
                </a:solidFill>
                <a:latin typeface="Calibri"/>
              </a:rPr>
              <a:t>K=0 is a plain document — guards against both ignoring candidates and blindly trusting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91072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48C"/>
                </a:solidFill>
                <a:latin typeface="Calibri"/>
              </a:rPr>
              <a:t>Per-candidate subsampling uniform[1, n_pred] keeps test-time full candidates in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1295C"/>
                </a:solidFill>
                <a:latin typeface="Cambria"/>
              </a:rPr>
              <a:t>A real training document (K =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251 tokens — the shortest in the corpus, shown near-complete. Typical is 2,270 tokens / ~424 candidate contacts.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61320" cy="3063240"/>
          </a:xfrm>
          <a:prstGeom prst="roundRect">
            <a:avLst>
              <a:gd name="adj" fmla="val 6000"/>
            </a:avLst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24128" y="1975104"/>
            <a:ext cx="10158984" cy="2770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7788AA"/>
                </a:solidFill>
                <a:latin typeface="Courier New"/>
              </a:rPr>
              <a:t># sequence header — loss weight 0</a:t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9AB4D8"/>
                </a:solidFill>
                <a:latin typeface="Courier New"/>
              </a:rPr>
              <a:t>&lt;contacts-v1&gt; &lt;begin_sequence&gt; &lt;p16&gt; &lt;ALA&gt; &lt;p25&gt; &lt;LEU&gt; &lt;p12&gt; &lt;ALA&gt; &lt;p1973&gt; &lt;SER&gt; …</a:t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7788AA"/>
                </a:solidFill>
                <a:latin typeface="Courier New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7788AA"/>
                </a:solidFill>
                <a:latin typeface="Courier New"/>
              </a:rPr>
              <a:t># candidate block 1/5  (1 contact)     — loss weight 0</a:t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E88B2F"/>
                </a:solidFill>
                <a:latin typeface="Courier New"/>
              </a:rPr>
              <a:t>&lt;contacts-and-distances-v1&gt; &lt;contact&gt; &lt;p1986&gt; &lt;p1992&gt;</a:t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7788AA"/>
                </a:solidFill>
                <a:latin typeface="Courier New"/>
              </a:rPr>
              <a:t># candidate block 2/5  (6 contacts)    — loss weight 0</a:t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E88B2F"/>
                </a:solidFill>
                <a:latin typeface="Courier New"/>
              </a:rPr>
              <a:t>&lt;contacts-and-distances-v1&gt; &lt;contact&gt; &lt;p1988&gt; &lt;p1970&gt; &lt;contact&gt; &lt;p1993&gt; &lt;p1976&gt; …</a:t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7788AA"/>
                </a:solidFill>
                <a:latin typeface="Courier New"/>
              </a:rPr>
              <a:t># candidate blocks 3–5  (9, 2, 11 contacts) — loss weight 0</a:t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7788AA"/>
                </a:solidFill>
                <a:latin typeface="Courier New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150" b="0">
                <a:solidFill>
                  <a:srgbClr val="7788AA"/>
                </a:solidFill>
                <a:latin typeface="Courier New"/>
              </a:rPr>
              <a:t># answer span — loss weight 1  (9 TRUE contacts + &lt;end&gt;)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7AD6A8"/>
                </a:solidFill>
                <a:latin typeface="Courier New"/>
              </a:rPr>
              <a:t>&lt;begin_statements&gt; &lt;contact&gt; &lt;p1&gt; &lt;p1993&gt; &lt;contact&gt; &lt;p1980&gt; &lt;p1987&gt;</a:t>
            </a:r>
          </a:p>
          <a:p>
            <a:pPr algn="l">
              <a:lnSpc>
                <a:spcPct val="106000"/>
              </a:lnSpc>
            </a:pPr>
            <a:r>
              <a:rPr sz="1150" b="1">
                <a:solidFill>
                  <a:srgbClr val="7AD6A8"/>
                </a:solidFill>
                <a:latin typeface="Courier New"/>
              </a:rPr>
              <a:t>&lt;contact&gt; &lt;p1980&gt; &lt;p1967&gt; &lt;contact&gt; &lt;p14&gt; &lt;p7&gt; … &lt;end&gt;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20640"/>
            <a:ext cx="10561320" cy="73152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5303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A5312"/>
                </a:solidFill>
                <a:latin typeface="Calibri"/>
              </a:rPr>
              <a:t>29 distinct contacts proposed across the five blocks · 0 of them appear in the answer. That is the regime the refiner must survive.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1295C"/>
                </a:solidFill>
                <a:latin typeface="Cambria"/>
              </a:rPr>
              <a:t>The format's central bet,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Does recurrence across candidate blocks actually carry precision? 1,393 sampled documents.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965960"/>
          <a:ext cx="64008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43800" y="2103120"/>
            <a:ext cx="3840480" cy="196596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18120" y="23317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C4E0"/>
                </a:solidFill>
                <a:latin typeface="Calibri"/>
              </a:rPr>
              <a:t>a recurring contact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72491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8B2F"/>
                </a:solidFill>
                <a:latin typeface="Cambria"/>
              </a:rPr>
              <a:t>3×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429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more likely to be true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than a singleton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434340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>
                <a:solidFill>
                  <a:srgbClr val="1A1F36"/>
                </a:solidFill>
                <a:latin typeface="Calibri"/>
              </a:rPr>
              <a:t>The signal is present in the raw input, before any training — the model only has to learn to use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>
                <a:solidFill>
                  <a:srgbClr val="1A1F36"/>
                </a:solidFill>
                <a:latin typeface="Calibri"/>
              </a:rPr>
              <a:t>It also explains why an explicit consensus block bought nothing over raw blocks in the MVP.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1295C"/>
                </a:solidFill>
                <a:latin typeface="Cambria"/>
              </a:rPr>
              <a:t>The loss mask, and where it had to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Armed on [&lt;begin_statements&gt;, &lt;end&gt;) — trains the contacts and the stop token.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943600" cy="1371600"/>
          </a:xfrm>
          <a:prstGeom prst="roundRect">
            <a:avLst>
              <a:gd name="adj" fmla="val 6000"/>
            </a:avLst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24128" y="1975104"/>
            <a:ext cx="5541264" cy="10789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9AB4D8"/>
                </a:solidFill>
                <a:latin typeface="Courier New"/>
              </a:rPr>
              <a:t>opened[i] = # &lt;begin_statements&gt; in ids[:i+1]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9AB4D8"/>
                </a:solidFill>
                <a:latin typeface="Courier New"/>
              </a:rPr>
              <a:t>closed[i] = # &lt;end&gt;              in ids[:i+1]</a:t>
            </a:r>
          </a:p>
          <a:p>
            <a:pPr algn="l">
              <a:lnSpc>
                <a:spcPct val="106000"/>
              </a:lnSpc>
            </a:pPr>
            <a:r>
              <a:rPr sz="1200" b="1">
                <a:solidFill>
                  <a:srgbClr val="7AD6A8"/>
                </a:solidFill>
                <a:latin typeface="Courier New"/>
              </a:rPr>
              <a:t>weight[i] = 1.0 if opened[i] &gt; closed[i]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0128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748C"/>
                </a:solidFill>
                <a:latin typeface="Calibri"/>
              </a:rPr>
              <a:t>Two running counts ⇒ packing-safe: re-arms per document.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5943600" cy="2057400"/>
          </a:xfrm>
          <a:prstGeom prst="roundRect">
            <a:avLst>
              <a:gd name="adj" fmla="val 6000"/>
            </a:avLst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24128" y="3941064"/>
            <a:ext cx="5541264" cy="1764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9AB4D8"/>
                </a:solidFill>
                <a:latin typeface="Courier New"/>
              </a:rPr>
              <a:t>i=453 &lt;TYR&gt;              w=0.0 → &lt;begin_statements&gt;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7AD6A8"/>
                </a:solidFill>
                <a:latin typeface="Courier New"/>
              </a:rPr>
              <a:t>i=454 &lt;begin_statements&gt; w=1.0 → &lt;contact&gt;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7AD6A8"/>
                </a:solidFill>
                <a:latin typeface="Courier New"/>
              </a:rPr>
              <a:t>i=455 &lt;contact&gt;          w=1.0 → &lt;p133&gt;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7788AA"/>
                </a:solidFill>
                <a:latin typeface="Courier New"/>
              </a:rPr>
              <a:t>  …</a:t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7AD6A8"/>
                </a:solidFill>
                <a:latin typeface="Courier New"/>
              </a:rPr>
              <a:t>i=976 &lt;p145&gt;             w=1.0 → &lt;end&gt;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9AB4D8"/>
                </a:solidFill>
                <a:latin typeface="Courier New"/>
              </a:rPr>
              <a:t>i=977 &lt;end&gt;              w=0.0 → &lt;eos&gt;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9AB4D8"/>
                </a:solidFill>
                <a:latin typeface="Courier New"/>
              </a:rPr>
              <a:t>i=978 &lt;eos&gt;              w=0.0 → next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828800"/>
            <a:ext cx="4297680" cy="4023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60920" y="205740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295C"/>
                </a:solidFill>
                <a:latin typeface="Calibri"/>
              </a:rPr>
              <a:t>levanter 1.2 removed the 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560320"/>
            <a:ext cx="374903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DatasetComponent.loss_weight_fn no longer exists. Per-token weights now reach training only through the cache, via PrebuiltLmDatasetFormat.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So the mask is materialized offline: tokenize → greedy-pack to 8192 → write input_ids + loss_weights.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21295C"/>
                </a:solidFill>
                <a:latin typeface="Calibri"/>
              </a:rPr>
              <a:t>Strictly better. </a:t>
            </a:r>
            <a:r>
              <a:rPr sz="1200">
                <a:solidFill>
                  <a:srgbClr val="1A1F36"/>
                </a:solidFill>
                <a:latin typeface="Calibri"/>
              </a:rPr>
              <a:t>Token ids are resolved from the live tokenizer, and nothing cloudpickles by module reference — so the GPU worker never imports experiment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1295C"/>
                </a:solidFill>
                <a:latin typeface="Cambria"/>
              </a:rPr>
              <a:t>MVP — mechanism confirmed, margin overfitting-limited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Local LoRA on 900 proteins, 60 held out. R-precision (all / long).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65960"/>
          <a:ext cx="105613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251460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 = 0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raw K = 16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consensus block (44% prec)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base E8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0.229 / 0.153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E88B2F"/>
                          </a:solidFill>
                          <a:latin typeface="Calibri"/>
                        </a:rPr>
                        <a:t>0.017 / 0.016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0.149 / 0.124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refiner v1 (r16)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0.213 / 0.129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E88B2F"/>
                          </a:solidFill>
                          <a:latin typeface="Calibri"/>
                        </a:rPr>
                        <a:t>0.244 / 0.169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0.247 / 0.163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refiner v2 (r32)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0.183 / 0.120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0.218 / 0.156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0.214 / 0.146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84048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Conditioning is learned. </a:t>
            </a:r>
            <a:r>
              <a:rPr sz="1300">
                <a:solidFill>
                  <a:srgbClr val="1A1F36"/>
                </a:solidFill>
                <a:latin typeface="Calibri"/>
              </a:rPr>
              <a:t>+0.03 all / +0.04 long over the same model's K=0, stable across v1/v2 and reproduced in the sampling regime.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Base E8 is poisoned. </a:t>
            </a:r>
            <a:r>
              <a:rPr sz="1300">
                <a:solidFill>
                  <a:srgbClr val="1A1F36"/>
                </a:solidFill>
                <a:latin typeface="Calibri"/>
              </a:rPr>
              <a:t>0.229 → 0.017 on identical input — the cleanest demonstration that training is what makes candidates usable.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384048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Preprocessing is a dead lever. </a:t>
            </a:r>
            <a:r>
              <a:rPr sz="1300">
                <a:solidFill>
                  <a:srgbClr val="1A1F36"/>
                </a:solidFill>
                <a:latin typeface="Calibri"/>
              </a:rPr>
              <a:t>A 44%-precision consensus block ≈ raw blocks; the refiner already internalizes consensus.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Overfitting caps the margin. </a:t>
            </a:r>
            <a:r>
              <a:rPr sz="1300">
                <a:solidFill>
                  <a:srgbClr val="1A1F36"/>
                </a:solidFill>
                <a:latin typeface="Calibri"/>
              </a:rPr>
              <a:t>v2 fit harder and got worse held-out (0.213 → 0.183). Scale is the lever — which motivated everything that follows.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Scale — generation validated on CoreWeave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ESM-Atlas proteins, 16 × 1×H100 at batch priority, ~1h wall.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7293"/>
                </a:solidFill>
                <a:latin typeface="Cambria"/>
              </a:rPr>
              <a:t>225,072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07791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Calibri"/>
              </a:rPr>
              <a:t>rollouts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C"/>
                </a:solidFill>
                <a:latin typeface="Calibri"/>
              </a:rPr>
              <a:t>over 9,375 proteins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6596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E88B2F"/>
                </a:solidFill>
                <a:latin typeface="Cambria"/>
              </a:rPr>
              <a:t>201.0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07791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Calibri"/>
              </a:rPr>
              <a:t>mean n_pred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101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C"/>
                </a:solidFill>
                <a:latin typeface="Calibri"/>
              </a:rPr>
              <a:t>vs GT ~199 — top-k fix confirmed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63640" y="21945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7D5B"/>
                </a:solidFill>
                <a:latin typeface="Cambria"/>
              </a:rPr>
              <a:t>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907791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Calibri"/>
              </a:rPr>
              <a:t>frac finished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3101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C"/>
                </a:solidFill>
                <a:latin typeface="Calibri"/>
              </a:rPr>
              <a:t>no truncation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965960"/>
            <a:ext cx="2560320" cy="1965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59" y="219456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6,569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907791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Calibri"/>
              </a:rPr>
              <a:t>packed sequences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33101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48C"/>
                </a:solidFill>
                <a:latin typeface="Calibri"/>
              </a:rPr>
              <a:t>44.3M tokens, 82.3% density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--top-k -1 is the fix. </a:t>
            </a:r>
            <a:r>
              <a:rPr sz="1400">
                <a:solidFill>
                  <a:srgbClr val="1A1F36"/>
                </a:solidFill>
                <a:latin typeface="Calibri"/>
              </a:rPr>
              <a:t>exp98's top-k=50 rollouts averaged ~95 contacts against a GT of ~199; disabling top-k restores the length distribution (#142).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Preemption is free. </a:t>
            </a:r>
            <a:r>
              <a:rPr sz="1400">
                <a:solidFill>
                  <a:srgbClr val="1A1F36"/>
                </a:solidFill>
                <a:latin typeface="Calibri"/>
              </a:rPr>
              <a:t>One of 16 shards was preempted — the worker is resume-safe, which is exactly why 9,375 ≠ 10,000.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Corpus: </a:t>
            </a:r>
            <a:r>
              <a:rPr sz="1400">
                <a:solidFill>
                  <a:srgbClr val="1A1F36"/>
                </a:solidFill>
                <a:latin typeface="Calibri"/>
              </a:rPr>
              <a:t>18,750 documents (2 per protein, K ~ U{0..16}), 0 OOV, 0 over-budget.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1295C"/>
                </a:solidFill>
                <a:latin typeface="Cambria"/>
              </a:rPr>
              <a:t>Scale — training (Phase 2, complete)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Warm-started from E8, 1-epoch cosine, batch 128, seq 8192, 8×H100 batch band, ~25 min/arm.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65960"/>
          <a:ext cx="105613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794760"/>
                <a:gridCol w="246888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peak LR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train/loss (masked objective)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base-task eval loss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base-task bpb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3.985 → 2.3979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3.16941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88B2F"/>
                          </a:solidFill>
                          <a:latin typeface="Calibri"/>
                        </a:rPr>
                        <a:t>0.39489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3e-4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3.833 → 2.3915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3.40526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0.42428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352044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E8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3730752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503E"/>
                </a:solidFill>
                <a:latin typeface="Calibri"/>
              </a:rPr>
              <a:t>1e-4 wins. 3e-4 fits the objective 0.3% better but degrades base-task retention 7.4%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52044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3730752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F36"/>
                </a:solidFill>
                <a:latin typeface="Calibri"/>
              </a:rPr>
              <a:t>Re-running the 1e-4 arm reproduced an earlier run bit-identically — a free determinism check over tokenize → pack → cache → train.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Same fitting-vs-retention tension as the MVP. </a:t>
            </a:r>
            <a:r>
              <a:rPr sz="1400">
                <a:solidFill>
                  <a:srgbClr val="1A1F36"/>
                </a:solidFill>
                <a:latin typeface="Calibri"/>
              </a:rPr>
              <a:t>Both eval curves dip at step 13 then recover — LR-warmup damage, not divergence.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The HF export is free. </a:t>
            </a:r>
            <a:r>
              <a:rPr sz="1400">
                <a:solidFill>
                  <a:srgbClr val="1A1F36"/>
                </a:solidFill>
                <a:latin typeface="Calibri"/>
              </a:rPr>
              <a:t>Each run writes checkpoints/&lt;run&gt;/hf/step-N with the tokenizer co-located, so Phase 3 needs no separate export step.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A measurement trap worth carrying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The planned warm-start check — “step-0 val loss ≈ 2.7566” — does not work.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011680"/>
          <a:ext cx="87782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  <a:gridCol w="173736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bpb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implied bytes/token</a:t>
                      </a:r>
                    </a:p>
                  </a:txBody>
                  <a:tcPr marL="91440" marR="73152" marT="27432" marB="27432" anchor="ctr"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Eric's E8 (step 35679)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2.75660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88B2F"/>
                          </a:solidFill>
                          <a:latin typeface="Calibri"/>
                        </a:rPr>
                        <a:t>0.39151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10.16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this harness (step 51)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3.16941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88B2F"/>
                          </a:solidFill>
                          <a:latin typeface="Calibri"/>
                        </a:rPr>
                        <a:t>0.39489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36"/>
                          </a:solidFill>
                          <a:latin typeface="Calibri"/>
                        </a:rPr>
                        <a:t>11.58</a:t>
                      </a:r>
                    </a:p>
                  </a:txBody>
                  <a:tcPr marL="91440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3657600"/>
            <a:ext cx="10561320" cy="73152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urier New"/>
              </a:rPr>
              <a:t>loss ratio 1.1497  =  bpb ratio 1.0086  ×  bytes/token ratio 1.1399   — exactly.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21295C"/>
                </a:solidFill>
                <a:latin typeface="Calibri"/>
              </a:rPr>
              <a:t>No step-0 eval exists. </a:t>
            </a:r>
            <a:r>
              <a:rPr sz="1350">
                <a:solidFill>
                  <a:srgbClr val="1A1F36"/>
                </a:solidFill>
                <a:latin typeface="Calibri"/>
              </a:rPr>
              <a:t>levanter fires eval hooks at multiples of steps_per_eval, so the first recorded value already carries warmup damage.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21295C"/>
                </a:solidFill>
                <a:latin typeface="Calibri"/>
              </a:rPr>
              <a:t>Per-token loss is not comparable across harnesses. </a:t>
            </a:r>
            <a:r>
              <a:rPr sz="1350">
                <a:solidFill>
                  <a:srgbClr val="1A1F36"/>
                </a:solidFill>
                <a:latin typeface="Calibri"/>
              </a:rPr>
              <a:t>bpb divides by per-token-type byte lengths weighted by the loss mask, so packing changes the loss scale at identical model quality. bpb agrees to 0.9% — that is the evidence E8 loaded.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21295C"/>
                </a:solidFill>
                <a:latin typeface="Calibri"/>
              </a:rPr>
              <a:t>⚠ #137, #150 and #155 all quote cross-harness per-token loss targets.</a:t>
            </a:r>
            <a:r>
              <a:rPr sz="1350">
                <a:solidFill>
                  <a:srgbClr val="1A1F36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1295C"/>
                </a:solidFill>
                <a:latin typeface="Cambria"/>
              </a:rPr>
              <a:t>Phase 3 — evaluation, in flight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48C"/>
                </a:solidFill>
                <a:latin typeface="Calibri"/>
              </a:rPr>
              <a:t>The 10k corpus has no held-out protein split, so the headline test runs on the exp89 eval 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Dispatched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554 eval targets (sequences from exp74/exp78 manifests, GT from exp89's gt_universe)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24 prompts each · 8 × 1×H100 · batch band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GT filtered by exp89's own definition, so it is bit-identical to what the metric scores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659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E8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21945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7D5B"/>
                </a:solidFill>
                <a:latin typeface="Calibri"/>
              </a:rPr>
              <a:t>No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9748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503E"/>
                </a:solidFill>
                <a:latin typeface="Calibri"/>
              </a:rPr>
              <a:t>The training corpus uses ESM-Atlas MD5 entry ids — a disjoint universe from exp89's PDB-derived stems. Disjointness holds by construction, not by filtering.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1295C"/>
                </a:solidFill>
                <a:latin typeface="Cambria"/>
              </a:rPr>
              <a:t>Success criteria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892040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19472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36"/>
                </a:solidFill>
                <a:latin typeface="Calibri"/>
              </a:rPr>
              <a:t>refiner@K16 &gt; refiner@K0 — it uses candidates without being poisoned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394959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5422392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36"/>
                </a:solidFill>
                <a:latin typeface="Calibri"/>
              </a:rPr>
              <a:t>refiner@K &gt; max(base matrix, consensus) ≈ 0.22 — it is worth it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897879"/>
            <a:ext cx="329184" cy="329184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5925312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36"/>
                </a:solidFill>
                <a:latin typeface="Calibri"/>
              </a:rPr>
              <a:t>Kill: ≈K0 (ignores), &lt;K0 (poisoned), or stuck at 0.22 (learned only consensus)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The 1M push — a decision, not a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C9D4E8"/>
                </a:solidFill>
                <a:latin typeface="Calibri"/>
              </a:rPr>
              <a:t>Cost measured on the 10k batch, not estimated.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246120" cy="1691640"/>
          </a:xfrm>
          <a:prstGeom prst="roundRect">
            <a:avLst>
              <a:gd name="adj" fmla="val 6000"/>
            </a:avLst>
          </a:prstGeom>
          <a:solidFill>
            <a:srgbClr val="2E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88B2F"/>
                </a:solidFill>
                <a:latin typeface="Cambria"/>
              </a:rPr>
              <a:t>14,350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9D4E8"/>
                </a:solidFill>
                <a:latin typeface="Calibri"/>
              </a:rPr>
              <a:t>rollouts per GPU-hour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246120" cy="1691640"/>
          </a:xfrm>
          <a:prstGeom prst="roundRect">
            <a:avLst>
              <a:gd name="adj" fmla="val 6000"/>
            </a:avLst>
          </a:prstGeom>
          <a:solidFill>
            <a:srgbClr val="2E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34840" y="224028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~1,700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0175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9D4E8"/>
                </a:solidFill>
                <a:latin typeface="Calibri"/>
              </a:rPr>
              <a:t>H100-hours for 1M ×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46120" cy="1691640"/>
          </a:xfrm>
          <a:prstGeom prst="roundRect">
            <a:avLst>
              <a:gd name="adj" fmla="val 6000"/>
            </a:avLst>
          </a:prstGeom>
          <a:solidFill>
            <a:srgbClr val="2E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0" y="224028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9FC4E0"/>
                </a:solidFill>
                <a:latin typeface="Cambria"/>
              </a:rPr>
              <a:t>~26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0175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9D4E8"/>
                </a:solidFill>
                <a:latin typeface="Calibri"/>
              </a:rPr>
              <a:t>wall on 64 shards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~2× the earlier estimate. </a:t>
            </a:r>
            <a:r>
              <a:rPr sz="1400">
                <a:solidFill>
                  <a:srgbClr val="DEE7F5"/>
                </a:solidFill>
                <a:latin typeface="Calibri"/>
              </a:rPr>
              <a:t>The top-k fix roughly doubled rollout length — which is the point (n_pred 201 vs 95), but it doubles the bill.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Is 1M the right number? </a:t>
            </a:r>
            <a:r>
              <a:rPr sz="1400">
                <a:solidFill>
                  <a:srgbClr val="DEE7F5"/>
                </a:solidFill>
                <a:latin typeface="Calibri"/>
              </a:rPr>
              <a:t>250k proteins is ~420 H100-hours (~26h on 16 shards) and plausibly buys most of the fold diversity for a quarter of the spend.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21295C"/>
                </a:solidFill>
                <a:latin typeface="Calibri"/>
              </a:rPr>
              <a:t>One wrinkle first. </a:t>
            </a:r>
            <a:r>
              <a:rPr sz="1400">
                <a:solidFill>
                  <a:srgbClr val="DEE7F5"/>
                </a:solidFill>
                <a:latin typeface="Calibri"/>
              </a:rPr>
              <a:t>Prompt generation still writes one S3 object per target — fine for 554, ~1M objects at scale. Fixing it needs matched changes in the worker's reader.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